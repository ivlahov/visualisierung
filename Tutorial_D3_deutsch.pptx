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customXml/itemProps6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autoCompressPictures="0">
  <p:sldMasterIdLst>
    <p:sldMasterId id="2147483648" r:id="rId7"/>
  </p:sldMasterIdLst>
  <p:notesMasterIdLst>
    <p:notesMasterId r:id="rId69"/>
  </p:notesMasterIdLst>
  <p:handoutMasterIdLst>
    <p:handoutMasterId r:id="rId70"/>
  </p:handoutMasterIdLst>
  <p:sldIdLst>
    <p:sldId id="1517" r:id="rId8"/>
    <p:sldId id="257" r:id="rId9"/>
    <p:sldId id="258" r:id="rId10"/>
    <p:sldId id="259" r:id="rId11"/>
    <p:sldId id="260" r:id="rId12"/>
    <p:sldId id="261" r:id="rId13"/>
    <p:sldId id="1519" r:id="rId14"/>
    <p:sldId id="1520" r:id="rId15"/>
    <p:sldId id="264" r:id="rId16"/>
    <p:sldId id="1521" r:id="rId17"/>
    <p:sldId id="1522" r:id="rId18"/>
    <p:sldId id="266" r:id="rId19"/>
    <p:sldId id="1523" r:id="rId20"/>
    <p:sldId id="1524" r:id="rId21"/>
    <p:sldId id="271" r:id="rId22"/>
    <p:sldId id="1525" r:id="rId23"/>
    <p:sldId id="272" r:id="rId24"/>
    <p:sldId id="275" r:id="rId25"/>
    <p:sldId id="1526" r:id="rId26"/>
    <p:sldId id="1527" r:id="rId27"/>
    <p:sldId id="1528" r:id="rId28"/>
    <p:sldId id="1529" r:id="rId29"/>
    <p:sldId id="1530" r:id="rId30"/>
    <p:sldId id="1532" r:id="rId31"/>
    <p:sldId id="1531" r:id="rId32"/>
    <p:sldId id="1533" r:id="rId33"/>
    <p:sldId id="1534" r:id="rId34"/>
    <p:sldId id="1535" r:id="rId35"/>
    <p:sldId id="284" r:id="rId36"/>
    <p:sldId id="1536" r:id="rId37"/>
    <p:sldId id="1537" r:id="rId38"/>
    <p:sldId id="1538" r:id="rId39"/>
    <p:sldId id="1539" r:id="rId40"/>
    <p:sldId id="1540" r:id="rId41"/>
    <p:sldId id="1541" r:id="rId42"/>
    <p:sldId id="1542" r:id="rId43"/>
    <p:sldId id="1543" r:id="rId44"/>
    <p:sldId id="1544" r:id="rId45"/>
    <p:sldId id="1545" r:id="rId46"/>
    <p:sldId id="294" r:id="rId47"/>
    <p:sldId id="295" r:id="rId48"/>
    <p:sldId id="1546" r:id="rId49"/>
    <p:sldId id="1547" r:id="rId50"/>
    <p:sldId id="1548" r:id="rId51"/>
    <p:sldId id="1549" r:id="rId52"/>
    <p:sldId id="1550" r:id="rId53"/>
    <p:sldId id="1551" r:id="rId54"/>
    <p:sldId id="1552" r:id="rId55"/>
    <p:sldId id="1553" r:id="rId56"/>
    <p:sldId id="1554" r:id="rId57"/>
    <p:sldId id="1555" r:id="rId58"/>
    <p:sldId id="1556" r:id="rId59"/>
    <p:sldId id="311" r:id="rId60"/>
    <p:sldId id="1559" r:id="rId61"/>
    <p:sldId id="1560" r:id="rId62"/>
    <p:sldId id="1558" r:id="rId63"/>
    <p:sldId id="312" r:id="rId64"/>
    <p:sldId id="313" r:id="rId65"/>
    <p:sldId id="319" r:id="rId66"/>
    <p:sldId id="376" r:id="rId67"/>
    <p:sldId id="377" r:id="rId68"/>
  </p:sldIdLst>
  <p:sldSz cx="12192000" cy="6858000"/>
  <p:notesSz cx="6858000" cy="9144000"/>
  <p:embeddedFontLst>
    <p:embeddedFont>
      <p:font typeface="Albert Sans" panose="020B0604020202020204" charset="0"/>
      <p:regular r:id="rId71"/>
      <p:bold r:id="rId72"/>
      <p:italic r:id="rId73"/>
      <p:boldItalic r:id="rId74"/>
    </p:embeddedFont>
    <p:embeddedFont>
      <p:font typeface="Albert Sans SemiBold" panose="020B0604020202020204" charset="0"/>
      <p:regular r:id="rId75"/>
      <p:bold r:id="rId76"/>
      <p:italic r:id="rId77"/>
      <p:boldItalic r:id="rId78"/>
    </p:embeddedFont>
  </p:embeddedFont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840" userDrawn="1">
          <p15:clr>
            <a:srgbClr val="A4A3A4"/>
          </p15:clr>
        </p15:guide>
        <p15:guide id="3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19ECF"/>
    <a:srgbClr val="69B5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719" autoAdjust="0"/>
    <p:restoredTop sz="88849" autoAdjust="0"/>
  </p:normalViewPr>
  <p:slideViewPr>
    <p:cSldViewPr snapToGrid="0" showGuides="1">
      <p:cViewPr varScale="1">
        <p:scale>
          <a:sx n="100" d="100"/>
          <a:sy n="100" d="100"/>
        </p:scale>
        <p:origin x="894" y="102"/>
      </p:cViewPr>
      <p:guideLst>
        <p:guide pos="3840"/>
        <p:guide orient="horz" pos="2160"/>
      </p:guideLst>
    </p:cSldViewPr>
  </p:slideViewPr>
  <p:outlineViewPr>
    <p:cViewPr>
      <p:scale>
        <a:sx n="33" d="100"/>
        <a:sy n="33" d="100"/>
      </p:scale>
      <p:origin x="0" y="-2292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3" d="100"/>
          <a:sy n="83" d="100"/>
        </p:scale>
        <p:origin x="2664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19.xml"/><Relationship Id="rId21" Type="http://schemas.openxmlformats.org/officeDocument/2006/relationships/slide" Target="slides/slide14.xml"/><Relationship Id="rId42" Type="http://schemas.openxmlformats.org/officeDocument/2006/relationships/slide" Target="slides/slide35.xml"/><Relationship Id="rId47" Type="http://schemas.openxmlformats.org/officeDocument/2006/relationships/slide" Target="slides/slide40.xml"/><Relationship Id="rId63" Type="http://schemas.openxmlformats.org/officeDocument/2006/relationships/slide" Target="slides/slide56.xml"/><Relationship Id="rId68" Type="http://schemas.openxmlformats.org/officeDocument/2006/relationships/slide" Target="slides/slide61.xml"/><Relationship Id="rId16" Type="http://schemas.openxmlformats.org/officeDocument/2006/relationships/slide" Target="slides/slide9.xml"/><Relationship Id="rId11" Type="http://schemas.openxmlformats.org/officeDocument/2006/relationships/slide" Target="slides/slide4.xml"/><Relationship Id="rId32" Type="http://schemas.openxmlformats.org/officeDocument/2006/relationships/slide" Target="slides/slide25.xml"/><Relationship Id="rId37" Type="http://schemas.openxmlformats.org/officeDocument/2006/relationships/slide" Target="slides/slide30.xml"/><Relationship Id="rId53" Type="http://schemas.openxmlformats.org/officeDocument/2006/relationships/slide" Target="slides/slide46.xml"/><Relationship Id="rId58" Type="http://schemas.openxmlformats.org/officeDocument/2006/relationships/slide" Target="slides/slide51.xml"/><Relationship Id="rId74" Type="http://schemas.openxmlformats.org/officeDocument/2006/relationships/font" Target="fonts/font4.fntdata"/><Relationship Id="rId79" Type="http://schemas.openxmlformats.org/officeDocument/2006/relationships/presProps" Target="presProps.xml"/><Relationship Id="rId5" Type="http://schemas.openxmlformats.org/officeDocument/2006/relationships/customXml" Target="../customXml/item5.xml"/><Relationship Id="rId61" Type="http://schemas.openxmlformats.org/officeDocument/2006/relationships/slide" Target="slides/slide54.xml"/><Relationship Id="rId82" Type="http://schemas.openxmlformats.org/officeDocument/2006/relationships/tableStyles" Target="tableStyles.xml"/><Relationship Id="rId19" Type="http://schemas.openxmlformats.org/officeDocument/2006/relationships/slide" Target="slides/slide1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slide" Target="slides/slide20.xml"/><Relationship Id="rId30" Type="http://schemas.openxmlformats.org/officeDocument/2006/relationships/slide" Target="slides/slide23.xml"/><Relationship Id="rId35" Type="http://schemas.openxmlformats.org/officeDocument/2006/relationships/slide" Target="slides/slide28.xml"/><Relationship Id="rId43" Type="http://schemas.openxmlformats.org/officeDocument/2006/relationships/slide" Target="slides/slide36.xml"/><Relationship Id="rId48" Type="http://schemas.openxmlformats.org/officeDocument/2006/relationships/slide" Target="slides/slide41.xml"/><Relationship Id="rId56" Type="http://schemas.openxmlformats.org/officeDocument/2006/relationships/slide" Target="slides/slide49.xml"/><Relationship Id="rId64" Type="http://schemas.openxmlformats.org/officeDocument/2006/relationships/slide" Target="slides/slide57.xml"/><Relationship Id="rId69" Type="http://schemas.openxmlformats.org/officeDocument/2006/relationships/notesMaster" Target="notesMasters/notesMaster1.xml"/><Relationship Id="rId77" Type="http://schemas.openxmlformats.org/officeDocument/2006/relationships/font" Target="fonts/font7.fntdata"/><Relationship Id="rId8" Type="http://schemas.openxmlformats.org/officeDocument/2006/relationships/slide" Target="slides/slide1.xml"/><Relationship Id="rId51" Type="http://schemas.openxmlformats.org/officeDocument/2006/relationships/slide" Target="slides/slide44.xml"/><Relationship Id="rId72" Type="http://schemas.openxmlformats.org/officeDocument/2006/relationships/font" Target="fonts/font2.fntdata"/><Relationship Id="rId80" Type="http://schemas.openxmlformats.org/officeDocument/2006/relationships/viewProps" Target="viewProps.xml"/><Relationship Id="rId3" Type="http://schemas.openxmlformats.org/officeDocument/2006/relationships/customXml" Target="../customXml/item3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slide" Target="slides/slide18.xml"/><Relationship Id="rId33" Type="http://schemas.openxmlformats.org/officeDocument/2006/relationships/slide" Target="slides/slide26.xml"/><Relationship Id="rId38" Type="http://schemas.openxmlformats.org/officeDocument/2006/relationships/slide" Target="slides/slide31.xml"/><Relationship Id="rId46" Type="http://schemas.openxmlformats.org/officeDocument/2006/relationships/slide" Target="slides/slide39.xml"/><Relationship Id="rId59" Type="http://schemas.openxmlformats.org/officeDocument/2006/relationships/slide" Target="slides/slide52.xml"/><Relationship Id="rId67" Type="http://schemas.openxmlformats.org/officeDocument/2006/relationships/slide" Target="slides/slide60.xml"/><Relationship Id="rId20" Type="http://schemas.openxmlformats.org/officeDocument/2006/relationships/slide" Target="slides/slide13.xml"/><Relationship Id="rId41" Type="http://schemas.openxmlformats.org/officeDocument/2006/relationships/slide" Target="slides/slide34.xml"/><Relationship Id="rId54" Type="http://schemas.openxmlformats.org/officeDocument/2006/relationships/slide" Target="slides/slide47.xml"/><Relationship Id="rId62" Type="http://schemas.openxmlformats.org/officeDocument/2006/relationships/slide" Target="slides/slide55.xml"/><Relationship Id="rId70" Type="http://schemas.openxmlformats.org/officeDocument/2006/relationships/handoutMaster" Target="handoutMasters/handoutMaster1.xml"/><Relationship Id="rId75" Type="http://schemas.openxmlformats.org/officeDocument/2006/relationships/font" Target="fonts/font5.fntdata"/><Relationship Id="rId1" Type="http://schemas.openxmlformats.org/officeDocument/2006/relationships/customXml" Target="../customXml/item1.xml"/><Relationship Id="rId6" Type="http://schemas.openxmlformats.org/officeDocument/2006/relationships/customXml" Target="../customXml/item6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slide" Target="slides/slide21.xml"/><Relationship Id="rId36" Type="http://schemas.openxmlformats.org/officeDocument/2006/relationships/slide" Target="slides/slide29.xml"/><Relationship Id="rId49" Type="http://schemas.openxmlformats.org/officeDocument/2006/relationships/slide" Target="slides/slide42.xml"/><Relationship Id="rId57" Type="http://schemas.openxmlformats.org/officeDocument/2006/relationships/slide" Target="slides/slide50.xml"/><Relationship Id="rId10" Type="http://schemas.openxmlformats.org/officeDocument/2006/relationships/slide" Target="slides/slide3.xml"/><Relationship Id="rId31" Type="http://schemas.openxmlformats.org/officeDocument/2006/relationships/slide" Target="slides/slide24.xml"/><Relationship Id="rId44" Type="http://schemas.openxmlformats.org/officeDocument/2006/relationships/slide" Target="slides/slide37.xml"/><Relationship Id="rId52" Type="http://schemas.openxmlformats.org/officeDocument/2006/relationships/slide" Target="slides/slide45.xml"/><Relationship Id="rId60" Type="http://schemas.openxmlformats.org/officeDocument/2006/relationships/slide" Target="slides/slide53.xml"/><Relationship Id="rId65" Type="http://schemas.openxmlformats.org/officeDocument/2006/relationships/slide" Target="slides/slide58.xml"/><Relationship Id="rId73" Type="http://schemas.openxmlformats.org/officeDocument/2006/relationships/font" Target="fonts/font3.fntdata"/><Relationship Id="rId78" Type="http://schemas.openxmlformats.org/officeDocument/2006/relationships/font" Target="fonts/font8.fntdata"/><Relationship Id="rId81" Type="http://schemas.openxmlformats.org/officeDocument/2006/relationships/theme" Target="theme/theme1.xml"/><Relationship Id="rId4" Type="http://schemas.openxmlformats.org/officeDocument/2006/relationships/customXml" Target="../customXml/item4.xml"/><Relationship Id="rId9" Type="http://schemas.openxmlformats.org/officeDocument/2006/relationships/slide" Target="slides/slide2.xml"/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39" Type="http://schemas.openxmlformats.org/officeDocument/2006/relationships/slide" Target="slides/slide32.xml"/><Relationship Id="rId34" Type="http://schemas.openxmlformats.org/officeDocument/2006/relationships/slide" Target="slides/slide27.xml"/><Relationship Id="rId50" Type="http://schemas.openxmlformats.org/officeDocument/2006/relationships/slide" Target="slides/slide43.xml"/><Relationship Id="rId55" Type="http://schemas.openxmlformats.org/officeDocument/2006/relationships/slide" Target="slides/slide48.xml"/><Relationship Id="rId76" Type="http://schemas.openxmlformats.org/officeDocument/2006/relationships/font" Target="fonts/font6.fntdata"/><Relationship Id="rId7" Type="http://schemas.openxmlformats.org/officeDocument/2006/relationships/slideMaster" Target="slideMasters/slideMaster1.xml"/><Relationship Id="rId71" Type="http://schemas.openxmlformats.org/officeDocument/2006/relationships/font" Target="fonts/font1.fntdata"/><Relationship Id="rId2" Type="http://schemas.openxmlformats.org/officeDocument/2006/relationships/customXml" Target="../customXml/item2.xml"/><Relationship Id="rId29" Type="http://schemas.openxmlformats.org/officeDocument/2006/relationships/slide" Target="slides/slide22.xml"/><Relationship Id="rId24" Type="http://schemas.openxmlformats.org/officeDocument/2006/relationships/slide" Target="slides/slide17.xml"/><Relationship Id="rId40" Type="http://schemas.openxmlformats.org/officeDocument/2006/relationships/slide" Target="slides/slide33.xml"/><Relationship Id="rId45" Type="http://schemas.openxmlformats.org/officeDocument/2006/relationships/slide" Target="slides/slide38.xml"/><Relationship Id="rId66" Type="http://schemas.openxmlformats.org/officeDocument/2006/relationships/slide" Target="slides/slide59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DCCCA3B-9FCD-4CA6-98C1-23597F8BECE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LID4096" dirty="0">
              <a:latin typeface="Albert Sans" pitchFamily="2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D55D627-EF4B-4563-B3BC-274C1E28F4A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33B090-560E-4B77-8E5A-AA2E39AA7E3B}" type="datetimeFigureOut">
              <a:rPr lang="LID4096" smtClean="0">
                <a:latin typeface="Albert Sans" pitchFamily="2" charset="0"/>
              </a:rPr>
              <a:t>10/16/2025</a:t>
            </a:fld>
            <a:endParaRPr lang="LID4096" dirty="0">
              <a:latin typeface="Albert Sans" pitchFamily="2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37B27A-C925-4838-BA36-717FA9B29E4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LID4096" dirty="0">
              <a:latin typeface="Albert Sans" pitchFamily="2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FA7995-1493-4879-9790-3BABF694FBA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581259-AC06-40D3-9FA5-05F1F21CC66F}" type="slidenum">
              <a:rPr lang="LID4096" smtClean="0">
                <a:latin typeface="Albert Sans" pitchFamily="2" charset="0"/>
              </a:rPr>
              <a:t>‹Nr.›</a:t>
            </a:fld>
            <a:endParaRPr lang="LID4096" dirty="0">
              <a:latin typeface="Albert San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635216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lbert Sans" pitchFamily="2" charset="0"/>
              </a:defRPr>
            </a:lvl1pPr>
          </a:lstStyle>
          <a:p>
            <a:endParaRPr lang="de-DE" dirty="0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lbert Sans" pitchFamily="2" charset="0"/>
              </a:defRPr>
            </a:lvl1pPr>
          </a:lstStyle>
          <a:p>
            <a:fld id="{E9CE479C-8473-5649-B36A-750E7B20C633}" type="datetimeFigureOut">
              <a:rPr lang="de-DE" smtClean="0"/>
              <a:pPr/>
              <a:t>16.10.2025</a:t>
            </a:fld>
            <a:endParaRPr lang="de-DE" dirty="0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 dirty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lbert Sans" pitchFamily="2" charset="0"/>
              </a:defRPr>
            </a:lvl1pPr>
          </a:lstStyle>
          <a:p>
            <a:endParaRPr lang="de-DE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lbert Sans" pitchFamily="2" charset="0"/>
              </a:defRPr>
            </a:lvl1pPr>
          </a:lstStyle>
          <a:p>
            <a:fld id="{98CE2BE3-FDEB-B245-8AD9-FE155515E7DC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2359695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Albert Sans" pitchFamily="2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Albert Sans" pitchFamily="2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Albert Sans" pitchFamily="2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Albert Sans" pitchFamily="2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Albert Sans" pitchFamily="2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Axis, legend</a:t>
            </a:r>
            <a:r>
              <a:rPr lang="en-US"/>
              <a:t>, color</a:t>
            </a:r>
            <a:endParaRPr lang="de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CE2BE3-FDEB-B245-8AD9-FE155515E7DC}" type="slidenum">
              <a:rPr lang="de-DE" smtClean="0"/>
              <a:pPr/>
              <a:t>28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4517137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CE2BE3-FDEB-B245-8AD9-FE155515E7DC}" type="slidenum">
              <a:rPr lang="de-DE" smtClean="0"/>
              <a:pPr/>
              <a:t>57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1302193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524BC67-9B79-EF75-0AF0-8F81DF93E8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7572" y="1925948"/>
            <a:ext cx="9561843" cy="2133241"/>
          </a:xfrm>
        </p:spPr>
        <p:txBody>
          <a:bodyPr anchor="b" anchorCtr="0">
            <a:noAutofit/>
          </a:bodyPr>
          <a:lstStyle>
            <a:lvl1pPr algn="l">
              <a:defRPr sz="4400" b="1" i="0">
                <a:solidFill>
                  <a:schemeClr val="accent1"/>
                </a:solidFill>
                <a:latin typeface="Albert Sans" pitchFamily="2" charset="0"/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2A526B7D-4039-F443-1E7D-319E5DF869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7571" y="4419338"/>
            <a:ext cx="9561843" cy="934634"/>
          </a:xfrm>
        </p:spPr>
        <p:txBody>
          <a:bodyPr>
            <a:noAutofit/>
          </a:bodyPr>
          <a:lstStyle>
            <a:lvl1pPr marL="0" indent="0" algn="l">
              <a:buNone/>
              <a:defRPr sz="2400" b="0" i="0">
                <a:solidFill>
                  <a:schemeClr val="accent6"/>
                </a:solidFill>
                <a:latin typeface="Albert Sans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Master-Untertitelformat bearbeiten</a:t>
            </a: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517BBDAD-58CA-FBFC-962B-8788EF0E357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47465" y="550977"/>
            <a:ext cx="3033077" cy="1367691"/>
          </a:xfrm>
          <a:prstGeom prst="rect">
            <a:avLst/>
          </a:prstGeom>
        </p:spPr>
      </p:pic>
      <p:sp>
        <p:nvSpPr>
          <p:cNvPr id="15" name="Rechteck 14">
            <a:extLst>
              <a:ext uri="{FF2B5EF4-FFF2-40B4-BE49-F238E27FC236}">
                <a16:creationId xmlns:a16="http://schemas.microsoft.com/office/drawing/2014/main" id="{E02AF2BB-2CD2-4D94-98F3-D812D58D6819}"/>
              </a:ext>
            </a:extLst>
          </p:cNvPr>
          <p:cNvSpPr/>
          <p:nvPr userDrawn="1"/>
        </p:nvSpPr>
        <p:spPr>
          <a:xfrm>
            <a:off x="436880" y="5786120"/>
            <a:ext cx="1686560" cy="10718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>
              <a:latin typeface="Albert Sans" pitchFamily="2" charset="0"/>
            </a:endParaRPr>
          </a:p>
        </p:txBody>
      </p: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8A660AAD-253B-4D87-9A9A-18D772FDF4BA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7676228" y="6308734"/>
            <a:ext cx="1221711" cy="244830"/>
          </a:xfrm>
          <a:prstGeom prst="rect">
            <a:avLst/>
          </a:prstGeom>
        </p:spPr>
        <p:txBody>
          <a:bodyPr/>
          <a:lstStyle>
            <a:lvl1pPr>
              <a:defRPr>
                <a:latin typeface="Albert Sans" pitchFamily="2" charset="0"/>
              </a:defRPr>
            </a:lvl1pPr>
          </a:lstStyle>
          <a:p>
            <a:endParaRPr lang="de-DE" dirty="0"/>
          </a:p>
        </p:txBody>
      </p:sp>
      <p:sp>
        <p:nvSpPr>
          <p:cNvPr id="11" name="Fußzeilenplatzhalter 10">
            <a:extLst>
              <a:ext uri="{FF2B5EF4-FFF2-40B4-BE49-F238E27FC236}">
                <a16:creationId xmlns:a16="http://schemas.microsoft.com/office/drawing/2014/main" id="{00BD1182-8153-47B0-8C09-8B01CE0F67E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707571" y="6308734"/>
            <a:ext cx="5436284" cy="244830"/>
          </a:xfrm>
          <a:prstGeom prst="rect">
            <a:avLst/>
          </a:prstGeom>
        </p:spPr>
        <p:txBody>
          <a:bodyPr/>
          <a:lstStyle>
            <a:lvl1pPr>
              <a:defRPr>
                <a:latin typeface="Albert Sans" pitchFamily="2" charset="0"/>
              </a:defRPr>
            </a:lvl1pPr>
          </a:lstStyle>
          <a:p>
            <a:r>
              <a:rPr lang="de-DE"/>
              <a:t>Visual Analytics | Prof. Tatiana von Landesberger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3327406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6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orient="horz" pos="1094" userDrawn="1">
          <p15:clr>
            <a:srgbClr val="FBAE40"/>
          </p15:clr>
        </p15:guide>
        <p15:guide id="4" orient="horz" pos="913" userDrawn="1">
          <p15:clr>
            <a:srgbClr val="FBAE40"/>
          </p15:clr>
        </p15:guide>
        <p15:guide id="5" orient="horz" pos="6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0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fik 9">
            <a:extLst>
              <a:ext uri="{FF2B5EF4-FFF2-40B4-BE49-F238E27FC236}">
                <a16:creationId xmlns:a16="http://schemas.microsoft.com/office/drawing/2014/main" id="{FE09D31D-F38C-EEB6-B21C-18608CCD2AE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Fußzeilenplatzhalter 10">
            <a:extLst>
              <a:ext uri="{FF2B5EF4-FFF2-40B4-BE49-F238E27FC236}">
                <a16:creationId xmlns:a16="http://schemas.microsoft.com/office/drawing/2014/main" id="{F81FADA3-B9FE-4EDC-B2A6-FAD998CE6AD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707571" y="6308734"/>
            <a:ext cx="5436284" cy="24483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Albert Sans" pitchFamily="2" charset="0"/>
              </a:defRPr>
            </a:lvl1pPr>
          </a:lstStyle>
          <a:p>
            <a:r>
              <a:rPr lang="de-DE"/>
              <a:t>Visual Analytics | Prof. Tatiana von Landesberger</a:t>
            </a:r>
            <a:endParaRPr lang="de-DE" dirty="0"/>
          </a:p>
        </p:txBody>
      </p:sp>
      <p:sp>
        <p:nvSpPr>
          <p:cNvPr id="13" name="Titel 1">
            <a:extLst>
              <a:ext uri="{FF2B5EF4-FFF2-40B4-BE49-F238E27FC236}">
                <a16:creationId xmlns:a16="http://schemas.microsoft.com/office/drawing/2014/main" id="{849ABC20-F75F-4E1D-BD15-DBC9D6909F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7572" y="1925948"/>
            <a:ext cx="9561843" cy="2133241"/>
          </a:xfrm>
        </p:spPr>
        <p:txBody>
          <a:bodyPr anchor="b" anchorCtr="0">
            <a:noAutofit/>
          </a:bodyPr>
          <a:lstStyle>
            <a:lvl1pPr algn="l">
              <a:defRPr sz="4400" b="1" i="0">
                <a:solidFill>
                  <a:schemeClr val="bg1"/>
                </a:solidFill>
                <a:latin typeface="Albert Sans" pitchFamily="2" charset="0"/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14" name="Untertitel 2">
            <a:extLst>
              <a:ext uri="{FF2B5EF4-FFF2-40B4-BE49-F238E27FC236}">
                <a16:creationId xmlns:a16="http://schemas.microsoft.com/office/drawing/2014/main" id="{C0968FB3-E8DB-458A-A4F8-BFA34FFE81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7571" y="4419338"/>
            <a:ext cx="9561843" cy="934634"/>
          </a:xfrm>
        </p:spPr>
        <p:txBody>
          <a:bodyPr>
            <a:noAutofit/>
          </a:bodyPr>
          <a:lstStyle>
            <a:lvl1pPr marL="0" indent="0" algn="l">
              <a:buNone/>
              <a:defRPr sz="2400" b="0" i="0">
                <a:solidFill>
                  <a:schemeClr val="bg1"/>
                </a:solidFill>
                <a:latin typeface="Albert Sans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Master-Untertitelformat bearbeiten</a:t>
            </a:r>
          </a:p>
        </p:txBody>
      </p:sp>
      <p:pic>
        <p:nvPicPr>
          <p:cNvPr id="17" name="Grafik 16">
            <a:extLst>
              <a:ext uri="{FF2B5EF4-FFF2-40B4-BE49-F238E27FC236}">
                <a16:creationId xmlns:a16="http://schemas.microsoft.com/office/drawing/2014/main" id="{AFD1DD12-F043-4583-B836-133EAD4FE0B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55603" y="554646"/>
            <a:ext cx="3016801" cy="1360352"/>
          </a:xfrm>
          <a:prstGeom prst="rect">
            <a:avLst/>
          </a:prstGeom>
        </p:spPr>
      </p:pic>
      <p:sp>
        <p:nvSpPr>
          <p:cNvPr id="15" name="Datumsplatzhalter 7">
            <a:extLst>
              <a:ext uri="{FF2B5EF4-FFF2-40B4-BE49-F238E27FC236}">
                <a16:creationId xmlns:a16="http://schemas.microsoft.com/office/drawing/2014/main" id="{587C469A-D96E-4DC6-8D96-01621C60B852}"/>
              </a:ext>
            </a:extLst>
          </p:cNvPr>
          <p:cNvSpPr txBox="1">
            <a:spLocks/>
          </p:cNvSpPr>
          <p:nvPr userDrawn="1"/>
        </p:nvSpPr>
        <p:spPr>
          <a:xfrm>
            <a:off x="7676228" y="6308734"/>
            <a:ext cx="1221711" cy="24483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defPPr>
              <a:defRPr lang="de-DE"/>
            </a:defPPr>
            <a:lvl1pPr marL="0" algn="l" defTabSz="914400" rtl="0" eaLnBrk="1" latinLnBrk="0" hangingPunct="1">
              <a:defRPr sz="1050" b="0" i="0" kern="1200">
                <a:solidFill>
                  <a:schemeClr val="bg2"/>
                </a:solidFill>
                <a:latin typeface="Albert Sans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B7AFE83-4F19-462B-9CDE-B0F73FB92808}" type="datetime1">
              <a:rPr lang="de-DE" smtClean="0">
                <a:solidFill>
                  <a:schemeClr val="bg1"/>
                </a:solidFill>
              </a:rPr>
              <a:pPr/>
              <a:t>16.10.2025</a:t>
            </a:fld>
            <a:endParaRPr lang="de-DE" dirty="0">
              <a:solidFill>
                <a:schemeClr val="bg1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05EFA8F-03B5-4D0B-92DE-3B6E785472F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747687" y="6221184"/>
            <a:ext cx="893451" cy="446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7058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03">
    <p:bg>
      <p:bgPr>
        <a:solidFill>
          <a:srgbClr val="619EC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uppieren 6">
            <a:extLst>
              <a:ext uri="{FF2B5EF4-FFF2-40B4-BE49-F238E27FC236}">
                <a16:creationId xmlns:a16="http://schemas.microsoft.com/office/drawing/2014/main" id="{1162475E-C213-438E-BB37-4F3ED8A69BD5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5" name="Grafik 4">
              <a:extLst>
                <a:ext uri="{FF2B5EF4-FFF2-40B4-BE49-F238E27FC236}">
                  <a16:creationId xmlns:a16="http://schemas.microsoft.com/office/drawing/2014/main" id="{DC936E9E-59F5-471F-A631-941270C81F09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4616" t="-45931" r="12815" b="12339"/>
            <a:stretch/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sp>
          <p:nvSpPr>
            <p:cNvPr id="6" name="Rechteck 5">
              <a:extLst>
                <a:ext uri="{FF2B5EF4-FFF2-40B4-BE49-F238E27FC236}">
                  <a16:creationId xmlns:a16="http://schemas.microsoft.com/office/drawing/2014/main" id="{915E9D18-F2CB-4662-8EBA-659941955F9A}"/>
                </a:ext>
              </a:extLst>
            </p:cNvPr>
            <p:cNvSpPr/>
            <p:nvPr userDrawn="1"/>
          </p:nvSpPr>
          <p:spPr>
            <a:xfrm>
              <a:off x="0" y="2168872"/>
              <a:ext cx="12192000" cy="2695227"/>
            </a:xfrm>
            <a:prstGeom prst="rect">
              <a:avLst/>
            </a:prstGeom>
            <a:gradFill flip="none" rotWithShape="1">
              <a:gsLst>
                <a:gs pos="0">
                  <a:srgbClr val="619ECF">
                    <a:alpha val="0"/>
                  </a:srgbClr>
                </a:gs>
                <a:gs pos="86000">
                  <a:srgbClr val="619ECF"/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bg1"/>
                </a:solidFill>
                <a:latin typeface="Albert Sans" pitchFamily="2" charset="0"/>
              </a:endParaRPr>
            </a:p>
          </p:txBody>
        </p:sp>
        <p:sp>
          <p:nvSpPr>
            <p:cNvPr id="14" name="Rechteck 13">
              <a:extLst>
                <a:ext uri="{FF2B5EF4-FFF2-40B4-BE49-F238E27FC236}">
                  <a16:creationId xmlns:a16="http://schemas.microsoft.com/office/drawing/2014/main" id="{80ABACE3-7650-415C-BEB6-3AC3C3EFBBC7}"/>
                </a:ext>
              </a:extLst>
            </p:cNvPr>
            <p:cNvSpPr/>
            <p:nvPr userDrawn="1"/>
          </p:nvSpPr>
          <p:spPr>
            <a:xfrm>
              <a:off x="0" y="4162772"/>
              <a:ext cx="6838950" cy="2695227"/>
            </a:xfrm>
            <a:prstGeom prst="rect">
              <a:avLst/>
            </a:prstGeom>
            <a:gradFill flip="none" rotWithShape="1">
              <a:gsLst>
                <a:gs pos="75000">
                  <a:srgbClr val="002060">
                    <a:alpha val="0"/>
                  </a:srgbClr>
                </a:gs>
                <a:gs pos="100000">
                  <a:schemeClr val="accent1">
                    <a:lumMod val="100000"/>
                    <a:alpha val="40000"/>
                  </a:schemeClr>
                </a:gs>
              </a:gsLst>
              <a:lin ang="81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bg1"/>
                </a:solidFill>
                <a:latin typeface="Albert Sans" pitchFamily="2" charset="0"/>
              </a:endParaRPr>
            </a:p>
          </p:txBody>
        </p:sp>
      </p:grpSp>
      <p:sp>
        <p:nvSpPr>
          <p:cNvPr id="2" name="Titel 1">
            <a:extLst>
              <a:ext uri="{FF2B5EF4-FFF2-40B4-BE49-F238E27FC236}">
                <a16:creationId xmlns:a16="http://schemas.microsoft.com/office/drawing/2014/main" id="{A524BC67-9B79-EF75-0AF0-8F81DF93E8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7572" y="1925716"/>
            <a:ext cx="9561843" cy="2133473"/>
          </a:xfrm>
        </p:spPr>
        <p:txBody>
          <a:bodyPr anchor="b" anchorCtr="0">
            <a:noAutofit/>
          </a:bodyPr>
          <a:lstStyle>
            <a:lvl1pPr algn="l">
              <a:defRPr sz="4400" b="1" i="0">
                <a:solidFill>
                  <a:schemeClr val="bg1"/>
                </a:solidFill>
                <a:latin typeface="Albert Sans" pitchFamily="2" charset="0"/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2A526B7D-4039-F443-1E7D-319E5DF869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7571" y="4419338"/>
            <a:ext cx="9561843" cy="934634"/>
          </a:xfrm>
        </p:spPr>
        <p:txBody>
          <a:bodyPr>
            <a:noAutofit/>
          </a:bodyPr>
          <a:lstStyle>
            <a:lvl1pPr marL="0" indent="0" algn="l">
              <a:buNone/>
              <a:defRPr sz="2400" b="0" i="0">
                <a:solidFill>
                  <a:schemeClr val="bg1"/>
                </a:solidFill>
                <a:latin typeface="Albert Sans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Master-Untertitelformat bearbeiten</a:t>
            </a:r>
          </a:p>
        </p:txBody>
      </p: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8A660AAD-253B-4D87-9A9A-18D772FDF4BA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7676228" y="6308734"/>
            <a:ext cx="1221711" cy="24483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effectLst>
                  <a:outerShdw blurRad="127000" sx="105000" sy="105000" algn="ctr" rotWithShape="0">
                    <a:prstClr val="black">
                      <a:alpha val="40000"/>
                    </a:prstClr>
                  </a:outerShdw>
                </a:effectLst>
                <a:latin typeface="Albert Sans" pitchFamily="2" charset="0"/>
              </a:defRPr>
            </a:lvl1pPr>
          </a:lstStyle>
          <a:p>
            <a:endParaRPr lang="de-DE" dirty="0"/>
          </a:p>
        </p:txBody>
      </p:sp>
      <p:sp>
        <p:nvSpPr>
          <p:cNvPr id="11" name="Fußzeilenplatzhalter 10">
            <a:extLst>
              <a:ext uri="{FF2B5EF4-FFF2-40B4-BE49-F238E27FC236}">
                <a16:creationId xmlns:a16="http://schemas.microsoft.com/office/drawing/2014/main" id="{00BD1182-8153-47B0-8C09-8B01CE0F67E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707571" y="6308734"/>
            <a:ext cx="5436284" cy="24483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effectLst>
                  <a:outerShdw blurRad="127000" sx="105000" sy="105000" algn="ctr" rotWithShape="0">
                    <a:prstClr val="black">
                      <a:alpha val="40000"/>
                    </a:prstClr>
                  </a:outerShdw>
                </a:effectLst>
                <a:latin typeface="Albert Sans" pitchFamily="2" charset="0"/>
              </a:defRPr>
            </a:lvl1pPr>
          </a:lstStyle>
          <a:p>
            <a:r>
              <a:rPr lang="de-DE"/>
              <a:t>Visual Analytics | Prof. Tatiana von Landesberger</a:t>
            </a:r>
            <a:endParaRPr lang="de-DE" dirty="0"/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97CBD1EB-984B-43BE-9711-A80AE54FB0C1}"/>
              </a:ext>
            </a:extLst>
          </p:cNvPr>
          <p:cNvSpPr txBox="1"/>
          <p:nvPr userDrawn="1"/>
        </p:nvSpPr>
        <p:spPr>
          <a:xfrm rot="16200000">
            <a:off x="11150600" y="2184400"/>
            <a:ext cx="18669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00" dirty="0">
                <a:solidFill>
                  <a:schemeClr val="accent1"/>
                </a:solidFill>
                <a:latin typeface="Albert Sans" pitchFamily="2" charset="0"/>
              </a:rPr>
              <a:t>Foto: Gregor Hübl</a:t>
            </a:r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397F438F-8AFB-4F77-B370-9432B72DF98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55603" y="554646"/>
            <a:ext cx="3016801" cy="136035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E8E668CD-3E0D-4689-B765-1FB1F2C55D2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747687" y="6221184"/>
            <a:ext cx="893451" cy="446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44480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6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094">
          <p15:clr>
            <a:srgbClr val="FBAE40"/>
          </p15:clr>
        </p15:guide>
        <p15:guide id="4" orient="horz" pos="913">
          <p15:clr>
            <a:srgbClr val="FBAE40"/>
          </p15:clr>
        </p15:guide>
        <p15:guide id="5" orient="horz" pos="6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nittstitelfolie 0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fik 9">
            <a:extLst>
              <a:ext uri="{FF2B5EF4-FFF2-40B4-BE49-F238E27FC236}">
                <a16:creationId xmlns:a16="http://schemas.microsoft.com/office/drawing/2014/main" id="{FE09D31D-F38C-EEB6-B21C-18608CCD2AE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97587547-EC04-5499-1CC7-AF77F74DC3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5" y="2846603"/>
            <a:ext cx="8202613" cy="2852737"/>
          </a:xfrm>
        </p:spPr>
        <p:txBody>
          <a:bodyPr anchor="t" anchorCtr="0">
            <a:noAutofit/>
          </a:bodyPr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DD3C3C8B-B081-5C18-932E-69376A7990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5151" y="331894"/>
            <a:ext cx="2608263" cy="1584219"/>
          </a:xfrm>
        </p:spPr>
        <p:txBody>
          <a:bodyPr>
            <a:noAutofit/>
          </a:bodyPr>
          <a:lstStyle>
            <a:lvl1pPr marL="0" indent="0">
              <a:buNone/>
              <a:defRPr sz="13200" b="1" i="0">
                <a:solidFill>
                  <a:schemeClr val="bg1"/>
                </a:solidFill>
                <a:latin typeface="Albert Sans SemiBold" pitchFamily="2" charset="7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 dirty="0"/>
              <a:t>01</a:t>
            </a:r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2B626D3E-1B09-408A-A2C0-B68CF0D22C41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7366000" y="6322132"/>
            <a:ext cx="1221711" cy="24483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de-DE" dirty="0"/>
          </a:p>
        </p:txBody>
      </p:sp>
      <p:sp>
        <p:nvSpPr>
          <p:cNvPr id="11" name="Fußzeilenplatzhalter 10">
            <a:extLst>
              <a:ext uri="{FF2B5EF4-FFF2-40B4-BE49-F238E27FC236}">
                <a16:creationId xmlns:a16="http://schemas.microsoft.com/office/drawing/2014/main" id="{F81FADA3-B9FE-4EDC-B2A6-FAD998CE6AD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2499360" y="6323366"/>
            <a:ext cx="4866640" cy="24483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Visual Analytics | Prof. Tatiana von Landesberger</a:t>
            </a:r>
            <a:endParaRPr lang="de-DE" dirty="0"/>
          </a:p>
        </p:txBody>
      </p:sp>
      <p:sp>
        <p:nvSpPr>
          <p:cNvPr id="12" name="Foliennummernplatzhalter 11">
            <a:extLst>
              <a:ext uri="{FF2B5EF4-FFF2-40B4-BE49-F238E27FC236}">
                <a16:creationId xmlns:a16="http://schemas.microsoft.com/office/drawing/2014/main" id="{1C3DB5F2-3F4E-4A12-9FEB-A876A951A95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8587711" y="6322132"/>
            <a:ext cx="1481138" cy="24483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33FA4B0-7731-EC49-88EA-B5E921ABE78A}" type="slidenum">
              <a:rPr lang="de-DE" smtClean="0"/>
              <a:pPr/>
              <a:t>‹Nr.›</a:t>
            </a:fld>
            <a:endParaRPr lang="de-DE" dirty="0"/>
          </a:p>
        </p:txBody>
      </p:sp>
      <p:pic>
        <p:nvPicPr>
          <p:cNvPr id="14" name="Grafik 13">
            <a:extLst>
              <a:ext uri="{FF2B5EF4-FFF2-40B4-BE49-F238E27FC236}">
                <a16:creationId xmlns:a16="http://schemas.microsoft.com/office/drawing/2014/main" id="{89C29918-CB2F-4B95-8F78-CDB747560B2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25825" y="6137764"/>
            <a:ext cx="1366153" cy="61603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88A9922-21E3-42A3-8A43-811989D587A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747687" y="6221184"/>
            <a:ext cx="893451" cy="446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32694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nittstitelfolie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7587547-EC04-5499-1CC7-AF77F74DC3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5326" y="2846603"/>
            <a:ext cx="8202612" cy="2852737"/>
          </a:xfrm>
        </p:spPr>
        <p:txBody>
          <a:bodyPr anchor="t" anchorCtr="0">
            <a:noAutofit/>
          </a:bodyPr>
          <a:lstStyle>
            <a:lvl1pPr>
              <a:defRPr sz="4400">
                <a:solidFill>
                  <a:schemeClr val="tx2"/>
                </a:solidFill>
              </a:defRPr>
            </a:lvl1pPr>
          </a:lstStyle>
          <a:p>
            <a:r>
              <a:rPr lang="de-DE" dirty="0"/>
              <a:t>Mastertitel </a:t>
            </a:r>
            <a:r>
              <a:rPr lang="de-DE" dirty="0" err="1"/>
              <a:t>format</a:t>
            </a:r>
            <a:r>
              <a:rPr lang="de-DE" dirty="0"/>
              <a:t> bearbeiten</a:t>
            </a:r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DD3C3C8B-B081-5C18-932E-69376A7990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5151" y="331894"/>
            <a:ext cx="2608263" cy="1584219"/>
          </a:xfrm>
        </p:spPr>
        <p:txBody>
          <a:bodyPr>
            <a:noAutofit/>
          </a:bodyPr>
          <a:lstStyle>
            <a:lvl1pPr marL="0" indent="0">
              <a:buNone/>
              <a:defRPr sz="13200" b="1" i="0">
                <a:solidFill>
                  <a:schemeClr val="accent4"/>
                </a:solidFill>
                <a:latin typeface="Albert Sans SemiBold" pitchFamily="2" charset="7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 dirty="0"/>
              <a:t>01</a:t>
            </a:r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2B626D3E-1B09-408A-A2C0-B68CF0D22C41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7366000" y="6322132"/>
            <a:ext cx="1221711" cy="24483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de-DE" dirty="0"/>
          </a:p>
        </p:txBody>
      </p:sp>
      <p:sp>
        <p:nvSpPr>
          <p:cNvPr id="11" name="Fußzeilenplatzhalter 10">
            <a:extLst>
              <a:ext uri="{FF2B5EF4-FFF2-40B4-BE49-F238E27FC236}">
                <a16:creationId xmlns:a16="http://schemas.microsoft.com/office/drawing/2014/main" id="{F81FADA3-B9FE-4EDC-B2A6-FAD998CE6AD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2499360" y="6323366"/>
            <a:ext cx="4866640" cy="24483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de-DE"/>
              <a:t>Visual Analytics | Prof. Tatiana von Landesberger</a:t>
            </a:r>
            <a:endParaRPr lang="de-DE" dirty="0"/>
          </a:p>
        </p:txBody>
      </p:sp>
      <p:sp>
        <p:nvSpPr>
          <p:cNvPr id="12" name="Foliennummernplatzhalter 11">
            <a:extLst>
              <a:ext uri="{FF2B5EF4-FFF2-40B4-BE49-F238E27FC236}">
                <a16:creationId xmlns:a16="http://schemas.microsoft.com/office/drawing/2014/main" id="{1C3DB5F2-3F4E-4A12-9FEB-A876A951A95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8587711" y="6322132"/>
            <a:ext cx="1481138" cy="24483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833FA4B0-7731-EC49-88EA-B5E921ABE78A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732A2A40-5F05-4D0F-A092-D8D65B262210}"/>
              </a:ext>
            </a:extLst>
          </p:cNvPr>
          <p:cNvSpPr/>
          <p:nvPr userDrawn="1"/>
        </p:nvSpPr>
        <p:spPr>
          <a:xfrm>
            <a:off x="9571216" y="-1026339"/>
            <a:ext cx="4300683" cy="4300683"/>
          </a:xfrm>
          <a:prstGeom prst="ellipse">
            <a:avLst/>
          </a:prstGeom>
          <a:noFill/>
          <a:ln w="4445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71670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nittstitelfolie 01.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fik 9">
            <a:extLst>
              <a:ext uri="{FF2B5EF4-FFF2-40B4-BE49-F238E27FC236}">
                <a16:creationId xmlns:a16="http://schemas.microsoft.com/office/drawing/2014/main" id="{FE09D31D-F38C-EEB6-B21C-18608CCD2AE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97587547-EC04-5499-1CC7-AF77F74DC3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5325" y="2846603"/>
            <a:ext cx="5210175" cy="2852737"/>
          </a:xfrm>
        </p:spPr>
        <p:txBody>
          <a:bodyPr anchor="t" anchorCtr="0">
            <a:noAutofit/>
          </a:bodyPr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Mastertitel </a:t>
            </a:r>
            <a:r>
              <a:rPr lang="de-DE" dirty="0" err="1"/>
              <a:t>format</a:t>
            </a:r>
            <a:r>
              <a:rPr lang="de-DE" dirty="0"/>
              <a:t> bearbeiten</a:t>
            </a:r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DD3C3C8B-B081-5C18-932E-69376A7990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5151" y="331894"/>
            <a:ext cx="2608263" cy="1584219"/>
          </a:xfrm>
        </p:spPr>
        <p:txBody>
          <a:bodyPr>
            <a:noAutofit/>
          </a:bodyPr>
          <a:lstStyle>
            <a:lvl1pPr marL="0" indent="0">
              <a:buNone/>
              <a:defRPr sz="13200" b="1" i="0">
                <a:solidFill>
                  <a:schemeClr val="bg1"/>
                </a:solidFill>
                <a:latin typeface="Albert Sans SemiBold" pitchFamily="2" charset="7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 dirty="0"/>
              <a:t>01</a:t>
            </a:r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2B626D3E-1B09-408A-A2C0-B68CF0D22C41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7366000" y="6322132"/>
            <a:ext cx="1221711" cy="24483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de-DE" dirty="0"/>
          </a:p>
        </p:txBody>
      </p:sp>
      <p:sp>
        <p:nvSpPr>
          <p:cNvPr id="11" name="Fußzeilenplatzhalter 10">
            <a:extLst>
              <a:ext uri="{FF2B5EF4-FFF2-40B4-BE49-F238E27FC236}">
                <a16:creationId xmlns:a16="http://schemas.microsoft.com/office/drawing/2014/main" id="{F81FADA3-B9FE-4EDC-B2A6-FAD998CE6AD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2499360" y="6323366"/>
            <a:ext cx="4866640" cy="24483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Visual Analytics | Prof. Tatiana von Landesberger</a:t>
            </a:r>
            <a:endParaRPr lang="de-DE" dirty="0"/>
          </a:p>
        </p:txBody>
      </p:sp>
      <p:sp>
        <p:nvSpPr>
          <p:cNvPr id="12" name="Foliennummernplatzhalter 11">
            <a:extLst>
              <a:ext uri="{FF2B5EF4-FFF2-40B4-BE49-F238E27FC236}">
                <a16:creationId xmlns:a16="http://schemas.microsoft.com/office/drawing/2014/main" id="{1C3DB5F2-3F4E-4A12-9FEB-A876A951A95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8587711" y="6322132"/>
            <a:ext cx="1481138" cy="24483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33FA4B0-7731-EC49-88EA-B5E921ABE78A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4" name="Bildplatzhalter 3">
            <a:extLst>
              <a:ext uri="{FF2B5EF4-FFF2-40B4-BE49-F238E27FC236}">
                <a16:creationId xmlns:a16="http://schemas.microsoft.com/office/drawing/2014/main" id="{98EFC909-035C-4262-9908-EF1702D9EF00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593212" y="968591"/>
            <a:ext cx="4730751" cy="4730749"/>
          </a:xfrm>
          <a:prstGeom prst="ellipse">
            <a:avLst/>
          </a:prstGeom>
          <a:solidFill>
            <a:schemeClr val="bg1"/>
          </a:solidFill>
        </p:spPr>
        <p:txBody>
          <a:bodyPr anchor="ctr"/>
          <a:lstStyle>
            <a:lvl1pPr marL="0" marR="0" indent="0" algn="ctr" defTabSz="914400" rtl="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1"/>
              </a:buClr>
              <a:buSzPct val="140000"/>
              <a:buFont typeface="Arial" panose="020B0604020202020204" pitchFamily="34" charset="0"/>
              <a:buNone/>
              <a:tabLst/>
              <a:defRPr>
                <a:solidFill>
                  <a:schemeClr val="accent3"/>
                </a:solidFill>
              </a:defRPr>
            </a:lvl1pPr>
          </a:lstStyle>
          <a:p>
            <a:pPr marL="0" marR="0" lvl="0" indent="0" algn="ctr" defTabSz="914400" rtl="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1"/>
              </a:buClr>
              <a:buSzPct val="140000"/>
              <a:buFont typeface="Arial" panose="020B0604020202020204" pitchFamily="34" charset="0"/>
              <a:buNone/>
              <a:tabLst/>
              <a:defRPr/>
            </a:pPr>
            <a:r>
              <a:rPr lang="de-DE" dirty="0"/>
              <a:t>Hier können Sie ein Bild einfügen</a:t>
            </a:r>
          </a:p>
        </p:txBody>
      </p:sp>
      <p:sp>
        <p:nvSpPr>
          <p:cNvPr id="15" name="Textplatzhalter 13">
            <a:extLst>
              <a:ext uri="{FF2B5EF4-FFF2-40B4-BE49-F238E27FC236}">
                <a16:creationId xmlns:a16="http://schemas.microsoft.com/office/drawing/2014/main" id="{8DCBB7A7-D78F-49F8-BEF4-049208F8442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725449" y="6101786"/>
            <a:ext cx="4343400" cy="215909"/>
          </a:xfrm>
        </p:spPr>
        <p:txBody>
          <a:bodyPr anchor="ctr">
            <a:noAutofit/>
          </a:bodyPr>
          <a:lstStyle>
            <a:lvl1pPr marL="0" indent="0" algn="r">
              <a:buNone/>
              <a:defRPr sz="800" baseline="0">
                <a:solidFill>
                  <a:schemeClr val="bg1"/>
                </a:solidFill>
              </a:defRPr>
            </a:lvl1pPr>
            <a:lvl5pPr>
              <a:defRPr/>
            </a:lvl5pPr>
          </a:lstStyle>
          <a:p>
            <a:pPr lvl="0"/>
            <a:r>
              <a:rPr lang="de-DE" dirty="0"/>
              <a:t>Foto: Hier können Sie einen Bildnachweis einfügen</a:t>
            </a:r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CD4CF2CF-DA22-47FD-B9AC-5AD97AF32F2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25825" y="6137764"/>
            <a:ext cx="1366153" cy="616033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3131250A-002D-4F2A-9E76-1209B2C01112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747687" y="6221184"/>
            <a:ext cx="893451" cy="446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89989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nittstitelfolie 02.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7587547-EC04-5499-1CC7-AF77F74DC3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5325" y="2846603"/>
            <a:ext cx="5210175" cy="2852737"/>
          </a:xfrm>
        </p:spPr>
        <p:txBody>
          <a:bodyPr anchor="t" anchorCtr="0">
            <a:noAutofit/>
          </a:bodyPr>
          <a:lstStyle>
            <a:lvl1pPr>
              <a:defRPr sz="4400">
                <a:solidFill>
                  <a:schemeClr val="tx2"/>
                </a:solidFill>
              </a:defRPr>
            </a:lvl1pPr>
          </a:lstStyle>
          <a:p>
            <a:r>
              <a:rPr lang="de-DE" dirty="0"/>
              <a:t>Mastertitel </a:t>
            </a:r>
            <a:r>
              <a:rPr lang="de-DE" dirty="0" err="1"/>
              <a:t>format</a:t>
            </a:r>
            <a:r>
              <a:rPr lang="de-DE" dirty="0"/>
              <a:t> bearbeiten</a:t>
            </a:r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DD3C3C8B-B081-5C18-932E-69376A7990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5151" y="331894"/>
            <a:ext cx="2608263" cy="1584219"/>
          </a:xfrm>
        </p:spPr>
        <p:txBody>
          <a:bodyPr>
            <a:noAutofit/>
          </a:bodyPr>
          <a:lstStyle>
            <a:lvl1pPr marL="0" indent="0">
              <a:buNone/>
              <a:defRPr sz="13200" b="1" i="0">
                <a:solidFill>
                  <a:schemeClr val="accent4"/>
                </a:solidFill>
                <a:latin typeface="Albert Sans SemiBold" pitchFamily="2" charset="7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 dirty="0"/>
              <a:t>01</a:t>
            </a:r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2B626D3E-1B09-408A-A2C0-B68CF0D22C41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7366000" y="6322132"/>
            <a:ext cx="1221711" cy="24483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de-DE" dirty="0"/>
          </a:p>
        </p:txBody>
      </p:sp>
      <p:sp>
        <p:nvSpPr>
          <p:cNvPr id="11" name="Fußzeilenplatzhalter 10">
            <a:extLst>
              <a:ext uri="{FF2B5EF4-FFF2-40B4-BE49-F238E27FC236}">
                <a16:creationId xmlns:a16="http://schemas.microsoft.com/office/drawing/2014/main" id="{F81FADA3-B9FE-4EDC-B2A6-FAD998CE6AD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2499360" y="6323366"/>
            <a:ext cx="4866640" cy="24483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de-DE"/>
              <a:t>Visual Analytics | Prof. Tatiana von Landesberger</a:t>
            </a:r>
            <a:endParaRPr lang="de-DE" dirty="0"/>
          </a:p>
        </p:txBody>
      </p:sp>
      <p:sp>
        <p:nvSpPr>
          <p:cNvPr id="12" name="Foliennummernplatzhalter 11">
            <a:extLst>
              <a:ext uri="{FF2B5EF4-FFF2-40B4-BE49-F238E27FC236}">
                <a16:creationId xmlns:a16="http://schemas.microsoft.com/office/drawing/2014/main" id="{1C3DB5F2-3F4E-4A12-9FEB-A876A951A95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8587711" y="6322132"/>
            <a:ext cx="1481138" cy="24483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833FA4B0-7731-EC49-88EA-B5E921ABE78A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5" name="Textplatzhalter 13">
            <a:extLst>
              <a:ext uri="{FF2B5EF4-FFF2-40B4-BE49-F238E27FC236}">
                <a16:creationId xmlns:a16="http://schemas.microsoft.com/office/drawing/2014/main" id="{8DCBB7A7-D78F-49F8-BEF4-049208F8442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725449" y="6106840"/>
            <a:ext cx="4343400" cy="215909"/>
          </a:xfrm>
        </p:spPr>
        <p:txBody>
          <a:bodyPr anchor="ctr">
            <a:noAutofit/>
          </a:bodyPr>
          <a:lstStyle>
            <a:lvl1pPr marL="0" marR="0" indent="0" algn="r" defTabSz="914400" rtl="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1"/>
              </a:buClr>
              <a:buSzPct val="140000"/>
              <a:buFont typeface="Arial" panose="020B0604020202020204" pitchFamily="34" charset="0"/>
              <a:buNone/>
              <a:tabLst/>
              <a:defRPr sz="800">
                <a:solidFill>
                  <a:schemeClr val="bg2"/>
                </a:solidFill>
              </a:defRPr>
            </a:lvl1pPr>
            <a:lvl5pPr>
              <a:defRPr/>
            </a:lvl5pPr>
          </a:lstStyle>
          <a:p>
            <a:pPr lvl="0"/>
            <a:r>
              <a:rPr lang="de-DE" dirty="0"/>
              <a:t>Foto: Hier können Sie einen Bildnachweis einfügen</a:t>
            </a:r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06D148F8-63C5-46C5-A34B-F98FD4597797}"/>
              </a:ext>
            </a:extLst>
          </p:cNvPr>
          <p:cNvSpPr/>
          <p:nvPr userDrawn="1"/>
        </p:nvSpPr>
        <p:spPr>
          <a:xfrm>
            <a:off x="9571216" y="-1026339"/>
            <a:ext cx="4300683" cy="4300683"/>
          </a:xfrm>
          <a:prstGeom prst="ellipse">
            <a:avLst/>
          </a:prstGeom>
          <a:noFill/>
          <a:ln w="4445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" name="Bildplatzhalter 3">
            <a:extLst>
              <a:ext uri="{FF2B5EF4-FFF2-40B4-BE49-F238E27FC236}">
                <a16:creationId xmlns:a16="http://schemas.microsoft.com/office/drawing/2014/main" id="{98EFC909-035C-4262-9908-EF1702D9EF00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593212" y="968591"/>
            <a:ext cx="4730751" cy="4730749"/>
          </a:xfrm>
          <a:prstGeom prst="ellipse">
            <a:avLst/>
          </a:prstGeom>
          <a:solidFill>
            <a:schemeClr val="bg1"/>
          </a:solidFill>
        </p:spPr>
        <p:txBody>
          <a:bodyPr anchor="ctr"/>
          <a:lstStyle>
            <a:lvl1pPr marL="0" marR="0" indent="0" algn="ctr" defTabSz="914400" rtl="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1"/>
              </a:buClr>
              <a:buSzPct val="140000"/>
              <a:buFont typeface="Arial" panose="020B0604020202020204" pitchFamily="34" charset="0"/>
              <a:buNone/>
              <a:tabLst/>
              <a:defRPr>
                <a:solidFill>
                  <a:schemeClr val="accent4"/>
                </a:solidFill>
              </a:defRPr>
            </a:lvl1pPr>
          </a:lstStyle>
          <a:p>
            <a:pPr marL="0" marR="0" lvl="0" indent="0" algn="ctr" defTabSz="914400" rtl="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1"/>
              </a:buClr>
              <a:buSzPct val="140000"/>
              <a:buFont typeface="Arial" panose="020B0604020202020204" pitchFamily="34" charset="0"/>
              <a:buNone/>
              <a:tabLst/>
              <a:defRPr/>
            </a:pPr>
            <a:r>
              <a:rPr lang="de-DE" dirty="0"/>
              <a:t>Hier können Sie ein Bild einfügen</a:t>
            </a:r>
          </a:p>
        </p:txBody>
      </p:sp>
    </p:spTree>
    <p:extLst>
      <p:ext uri="{BB962C8B-B14F-4D97-AF65-F5344CB8AC3E}">
        <p14:creationId xmlns:p14="http://schemas.microsoft.com/office/powerpoint/2010/main" val="1954258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nit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97045" y="3429000"/>
            <a:ext cx="10515600" cy="1221800"/>
          </a:xfrm>
          <a:prstGeom prst="rect">
            <a:avLst/>
          </a:prstGeom>
        </p:spPr>
        <p:txBody>
          <a:bodyPr/>
          <a:lstStyle>
            <a:lvl1pPr>
              <a:defRPr sz="4400">
                <a:solidFill>
                  <a:srgbClr val="005176"/>
                </a:solidFill>
                <a:latin typeface="Albert Sans" panose="020B060402020202020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Chapter</a:t>
            </a:r>
            <a:endParaRPr lang="en-US" dirty="0"/>
          </a:p>
        </p:txBody>
      </p:sp>
      <p:sp>
        <p:nvSpPr>
          <p:cNvPr id="3" name="Datumsplatzhalter 3">
            <a:extLst>
              <a:ext uri="{FF2B5EF4-FFF2-40B4-BE49-F238E27FC236}">
                <a16:creationId xmlns:a16="http://schemas.microsoft.com/office/drawing/2014/main" id="{E39F144C-97F2-41D0-B287-65633C887C1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366000" y="6322132"/>
            <a:ext cx="1221711" cy="24483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l">
              <a:defRPr sz="1050" b="0" i="0">
                <a:solidFill>
                  <a:schemeClr val="bg2"/>
                </a:solidFill>
                <a:latin typeface="Albert Sans" pitchFamily="2" charset="0"/>
              </a:defRPr>
            </a:lvl1pPr>
          </a:lstStyle>
          <a:p>
            <a:endParaRPr lang="de-DE" dirty="0"/>
          </a:p>
        </p:txBody>
      </p:sp>
      <p:sp>
        <p:nvSpPr>
          <p:cNvPr id="4" name="Foliennummernplatzhalter 5">
            <a:extLst>
              <a:ext uri="{FF2B5EF4-FFF2-40B4-BE49-F238E27FC236}">
                <a16:creationId xmlns:a16="http://schemas.microsoft.com/office/drawing/2014/main" id="{2F0273CC-E8C5-4284-920C-AA99866511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87711" y="6322132"/>
            <a:ext cx="1481138" cy="24483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r">
              <a:defRPr sz="1100" b="1" i="0">
                <a:solidFill>
                  <a:schemeClr val="bg2"/>
                </a:solidFill>
                <a:latin typeface="Albert Sans" pitchFamily="2" charset="0"/>
              </a:defRPr>
            </a:lvl1pPr>
          </a:lstStyle>
          <a:p>
            <a:fld id="{833FA4B0-7731-EC49-88EA-B5E921ABE78A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5" name="Fußzeilenplatzhalter 11">
            <a:extLst>
              <a:ext uri="{FF2B5EF4-FFF2-40B4-BE49-F238E27FC236}">
                <a16:creationId xmlns:a16="http://schemas.microsoft.com/office/drawing/2014/main" id="{C233BF37-03A2-4E2F-9D19-7239C02B4E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499360" y="6323366"/>
            <a:ext cx="4866640" cy="24483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l">
              <a:defRPr sz="1050" b="0" i="0">
                <a:solidFill>
                  <a:schemeClr val="bg2"/>
                </a:solidFill>
                <a:latin typeface="Albert Sans" pitchFamily="2" charset="0"/>
              </a:defRPr>
            </a:lvl1pPr>
          </a:lstStyle>
          <a:p>
            <a:r>
              <a:rPr lang="de-DE"/>
              <a:t>Visual Analytics | Prof. Tatiana von Landesberger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3771863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8200" y="59502"/>
            <a:ext cx="10515600" cy="562032"/>
          </a:xfrm>
          <a:prstGeom prst="rect">
            <a:avLst/>
          </a:prstGeom>
        </p:spPr>
        <p:txBody>
          <a:bodyPr/>
          <a:lstStyle>
            <a:lvl1pPr>
              <a:defRPr sz="4000" cap="none" baseline="0">
                <a:solidFill>
                  <a:srgbClr val="005176"/>
                </a:solidFill>
                <a:latin typeface="Albert Sans" panose="020B060402020202020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Titelmasterformat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4325"/>
            <a:ext cx="10515600" cy="5492638"/>
          </a:xfrm>
          <a:prstGeom prst="rect">
            <a:avLst/>
          </a:prstGeom>
        </p:spPr>
        <p:txBody>
          <a:bodyPr/>
          <a:lstStyle>
            <a:lvl1pPr marL="360363" indent="-360363">
              <a:buClr>
                <a:srgbClr val="005176"/>
              </a:buClr>
              <a:buFont typeface="Arial" panose="020B0604020202020204" pitchFamily="34" charset="0"/>
              <a:buChar char="•"/>
              <a:defRPr>
                <a:latin typeface="Albert Sans" panose="020B0604020202020204" charset="0"/>
                <a:cs typeface="Arial" panose="020B0604020202020204" pitchFamily="34" charset="0"/>
              </a:defRPr>
            </a:lvl1pPr>
            <a:lvl2pPr marL="804863" indent="-347663">
              <a:buClr>
                <a:srgbClr val="005176"/>
              </a:buClr>
              <a:buFont typeface="Arial" panose="020B0604020202020204" pitchFamily="34" charset="0"/>
              <a:buChar char="•"/>
              <a:defRPr>
                <a:latin typeface="Albert Sans" panose="020B0604020202020204" charset="0"/>
                <a:cs typeface="Arial" panose="020B0604020202020204" pitchFamily="34" charset="0"/>
              </a:defRPr>
            </a:lvl2pPr>
            <a:lvl3pPr marL="1143000" indent="-228600">
              <a:buClr>
                <a:srgbClr val="005176"/>
              </a:buClr>
              <a:buFont typeface="Arial" panose="020B0604020202020204" pitchFamily="34" charset="0"/>
              <a:buChar char="•"/>
              <a:tabLst>
                <a:tab pos="1255713" algn="l"/>
              </a:tabLst>
              <a:defRPr>
                <a:latin typeface="Albert Sans" panose="020B0604020202020204" charset="0"/>
                <a:cs typeface="Arial" panose="020B0604020202020204" pitchFamily="34" charset="0"/>
              </a:defRPr>
            </a:lvl3pPr>
            <a:lvl4pPr marL="1616075" indent="-244475">
              <a:buClr>
                <a:srgbClr val="005176"/>
              </a:buClr>
              <a:buFont typeface="Arial" panose="020B0604020202020204" pitchFamily="34" charset="0"/>
              <a:buChar char="•"/>
              <a:defRPr>
                <a:latin typeface="Albert Sans" panose="020B0604020202020204" charset="0"/>
                <a:cs typeface="Arial" panose="020B0604020202020204" pitchFamily="34" charset="0"/>
              </a:defRPr>
            </a:lvl4pPr>
            <a:lvl5pPr marL="2060575" indent="-231775">
              <a:buClr>
                <a:srgbClr val="005176"/>
              </a:buClr>
              <a:buFont typeface="Arial" panose="020B0604020202020204" pitchFamily="34" charset="0"/>
              <a:buChar char="•"/>
              <a:defRPr>
                <a:latin typeface="Albert Sans" panose="020B060402020202020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 dirty="0"/>
              <a:t>Formatvorlagen des Textmasters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AFAF3F5E-2658-4002-8C1F-F3F291BC0CCA}"/>
              </a:ext>
            </a:extLst>
          </p:cNvPr>
          <p:cNvSpPr/>
          <p:nvPr userDrawn="1"/>
        </p:nvSpPr>
        <p:spPr>
          <a:xfrm>
            <a:off x="838200" y="621533"/>
            <a:ext cx="10515600" cy="18000"/>
          </a:xfrm>
          <a:prstGeom prst="rect">
            <a:avLst/>
          </a:prstGeom>
          <a:solidFill>
            <a:srgbClr val="00517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800"/>
          </a:p>
        </p:txBody>
      </p:sp>
      <p:sp>
        <p:nvSpPr>
          <p:cNvPr id="5" name="Datumsplatzhalter 3">
            <a:extLst>
              <a:ext uri="{FF2B5EF4-FFF2-40B4-BE49-F238E27FC236}">
                <a16:creationId xmlns:a16="http://schemas.microsoft.com/office/drawing/2014/main" id="{622EC9AA-C8DE-4B3D-B6A8-B24765E8BD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366000" y="6322132"/>
            <a:ext cx="1221711" cy="24483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l">
              <a:defRPr sz="1050" b="0" i="0">
                <a:solidFill>
                  <a:schemeClr val="bg2"/>
                </a:solidFill>
                <a:latin typeface="Albert Sans" pitchFamily="2" charset="0"/>
              </a:defRPr>
            </a:lvl1pPr>
          </a:lstStyle>
          <a:p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5B574B9-A414-4C80-B0CF-970C8554E8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87711" y="6322132"/>
            <a:ext cx="1481138" cy="24483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r">
              <a:defRPr sz="1100" b="1" i="0">
                <a:solidFill>
                  <a:schemeClr val="bg2"/>
                </a:solidFill>
                <a:latin typeface="Albert Sans" pitchFamily="2" charset="0"/>
              </a:defRPr>
            </a:lvl1pPr>
          </a:lstStyle>
          <a:p>
            <a:fld id="{833FA4B0-7731-EC49-88EA-B5E921ABE78A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7" name="Fußzeilenplatzhalter 11">
            <a:extLst>
              <a:ext uri="{FF2B5EF4-FFF2-40B4-BE49-F238E27FC236}">
                <a16:creationId xmlns:a16="http://schemas.microsoft.com/office/drawing/2014/main" id="{DB256801-E4DD-4CDD-AAC6-B2D52317D22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499360" y="6323366"/>
            <a:ext cx="4866640" cy="24483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l">
              <a:defRPr sz="1050" b="0" i="0">
                <a:solidFill>
                  <a:schemeClr val="bg2"/>
                </a:solidFill>
                <a:latin typeface="Albert Sans" pitchFamily="2" charset="0"/>
              </a:defRPr>
            </a:lvl1pPr>
          </a:lstStyle>
          <a:p>
            <a:r>
              <a:rPr lang="de-DE"/>
              <a:t>Visual Analytics | Prof. Tatiana von Landesberger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3946271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8200" y="59502"/>
            <a:ext cx="10515600" cy="562032"/>
          </a:xfrm>
          <a:prstGeom prst="rect">
            <a:avLst/>
          </a:prstGeom>
        </p:spPr>
        <p:txBody>
          <a:bodyPr/>
          <a:lstStyle>
            <a:lvl1pPr>
              <a:defRPr sz="4000" cap="none" baseline="0">
                <a:solidFill>
                  <a:srgbClr val="005176"/>
                </a:solidFill>
                <a:latin typeface="Albert Sans" panose="020B060402020202020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Titelmasterformat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4325"/>
            <a:ext cx="5257800" cy="5492638"/>
          </a:xfrm>
          <a:prstGeom prst="rect">
            <a:avLst/>
          </a:prstGeom>
        </p:spPr>
        <p:txBody>
          <a:bodyPr/>
          <a:lstStyle>
            <a:lvl1pPr marL="360363" indent="-360363">
              <a:buClr>
                <a:srgbClr val="005176"/>
              </a:buClr>
              <a:buFont typeface="Arial" panose="020B0604020202020204" pitchFamily="34" charset="0"/>
              <a:buChar char="•"/>
              <a:defRPr>
                <a:latin typeface="Albert Sans" panose="020B0604020202020204" charset="0"/>
                <a:cs typeface="Arial" panose="020B0604020202020204" pitchFamily="34" charset="0"/>
              </a:defRPr>
            </a:lvl1pPr>
            <a:lvl2pPr marL="804863" indent="-347663">
              <a:buClr>
                <a:srgbClr val="005176"/>
              </a:buClr>
              <a:buFont typeface="Arial" panose="020B0604020202020204" pitchFamily="34" charset="0"/>
              <a:buChar char="•"/>
              <a:defRPr>
                <a:latin typeface="Albert Sans" panose="020B0604020202020204" charset="0"/>
                <a:cs typeface="Arial" panose="020B0604020202020204" pitchFamily="34" charset="0"/>
              </a:defRPr>
            </a:lvl2pPr>
            <a:lvl3pPr marL="1143000" indent="-228600">
              <a:buClr>
                <a:srgbClr val="005176"/>
              </a:buClr>
              <a:buFont typeface="Arial" panose="020B0604020202020204" pitchFamily="34" charset="0"/>
              <a:buChar char="•"/>
              <a:tabLst>
                <a:tab pos="1255713" algn="l"/>
              </a:tabLst>
              <a:defRPr>
                <a:latin typeface="Albert Sans" panose="020B0604020202020204" charset="0"/>
                <a:cs typeface="Arial" panose="020B0604020202020204" pitchFamily="34" charset="0"/>
              </a:defRPr>
            </a:lvl3pPr>
            <a:lvl4pPr marL="1616075" indent="-244475">
              <a:buClr>
                <a:srgbClr val="005176"/>
              </a:buClr>
              <a:buFont typeface="Arial" panose="020B0604020202020204" pitchFamily="34" charset="0"/>
              <a:buChar char="•"/>
              <a:defRPr>
                <a:latin typeface="Albert Sans" panose="020B0604020202020204" charset="0"/>
                <a:cs typeface="Arial" panose="020B0604020202020204" pitchFamily="34" charset="0"/>
              </a:defRPr>
            </a:lvl4pPr>
            <a:lvl5pPr marL="2060575" indent="-231775">
              <a:buClr>
                <a:srgbClr val="005176"/>
              </a:buClr>
              <a:buFont typeface="Arial" panose="020B0604020202020204" pitchFamily="34" charset="0"/>
              <a:buChar char="•"/>
              <a:defRPr>
                <a:latin typeface="Albert Sans" panose="020B060402020202020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 dirty="0"/>
              <a:t>Formatvorlagen des Textmasters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AFAF3F5E-2658-4002-8C1F-F3F291BC0CCA}"/>
              </a:ext>
            </a:extLst>
          </p:cNvPr>
          <p:cNvSpPr/>
          <p:nvPr userDrawn="1"/>
        </p:nvSpPr>
        <p:spPr>
          <a:xfrm>
            <a:off x="838200" y="621533"/>
            <a:ext cx="10515600" cy="18000"/>
          </a:xfrm>
          <a:prstGeom prst="rect">
            <a:avLst/>
          </a:prstGeom>
          <a:solidFill>
            <a:srgbClr val="00517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80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A34A25E-F902-4B36-9580-57985CFA560B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6096000" y="684325"/>
            <a:ext cx="5257800" cy="5492638"/>
          </a:xfrm>
          <a:prstGeom prst="rect">
            <a:avLst/>
          </a:prstGeom>
        </p:spPr>
        <p:txBody>
          <a:bodyPr/>
          <a:lstStyle>
            <a:lvl1pPr marL="360363" indent="-360363">
              <a:buClr>
                <a:srgbClr val="005176"/>
              </a:buClr>
              <a:buFont typeface="Arial" panose="020B0604020202020204" pitchFamily="34" charset="0"/>
              <a:buChar char="•"/>
              <a:defRPr>
                <a:latin typeface="Albert Sans" panose="020B0604020202020204" charset="0"/>
                <a:cs typeface="Arial" panose="020B0604020202020204" pitchFamily="34" charset="0"/>
              </a:defRPr>
            </a:lvl1pPr>
            <a:lvl2pPr marL="804863" indent="-347663">
              <a:buClr>
                <a:srgbClr val="005176"/>
              </a:buClr>
              <a:buFont typeface="Arial" panose="020B0604020202020204" pitchFamily="34" charset="0"/>
              <a:buChar char="•"/>
              <a:defRPr>
                <a:latin typeface="Albert Sans" panose="020B0604020202020204" charset="0"/>
                <a:cs typeface="Arial" panose="020B0604020202020204" pitchFamily="34" charset="0"/>
              </a:defRPr>
            </a:lvl2pPr>
            <a:lvl3pPr marL="1143000" indent="-228600">
              <a:buClr>
                <a:srgbClr val="005176"/>
              </a:buClr>
              <a:buFont typeface="Arial" panose="020B0604020202020204" pitchFamily="34" charset="0"/>
              <a:buChar char="•"/>
              <a:tabLst>
                <a:tab pos="1255713" algn="l"/>
              </a:tabLst>
              <a:defRPr>
                <a:latin typeface="Albert Sans" panose="020B0604020202020204" charset="0"/>
                <a:cs typeface="Arial" panose="020B0604020202020204" pitchFamily="34" charset="0"/>
              </a:defRPr>
            </a:lvl3pPr>
            <a:lvl4pPr marL="1616075" indent="-244475">
              <a:buClr>
                <a:srgbClr val="005176"/>
              </a:buClr>
              <a:buFont typeface="Arial" panose="020B0604020202020204" pitchFamily="34" charset="0"/>
              <a:buChar char="•"/>
              <a:defRPr>
                <a:latin typeface="Albert Sans" panose="020B0604020202020204" charset="0"/>
                <a:cs typeface="Arial" panose="020B0604020202020204" pitchFamily="34" charset="0"/>
              </a:defRPr>
            </a:lvl4pPr>
            <a:lvl5pPr marL="2060575" indent="-231775">
              <a:buClr>
                <a:srgbClr val="005176"/>
              </a:buClr>
              <a:buFont typeface="Arial" panose="020B0604020202020204" pitchFamily="34" charset="0"/>
              <a:buChar char="•"/>
              <a:defRPr>
                <a:latin typeface="Albert Sans" panose="020B060402020202020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 dirty="0"/>
              <a:t>Formatvorlagen des Textmasters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  <p:sp>
        <p:nvSpPr>
          <p:cNvPr id="6" name="Datumsplatzhalter 3">
            <a:extLst>
              <a:ext uri="{FF2B5EF4-FFF2-40B4-BE49-F238E27FC236}">
                <a16:creationId xmlns:a16="http://schemas.microsoft.com/office/drawing/2014/main" id="{8651F83E-A68C-467C-B52B-23C45734AB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366000" y="6322132"/>
            <a:ext cx="1221711" cy="24483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l">
              <a:defRPr sz="1050" b="0" i="0">
                <a:solidFill>
                  <a:schemeClr val="bg2"/>
                </a:solidFill>
                <a:latin typeface="Albert Sans" pitchFamily="2" charset="0"/>
              </a:defRPr>
            </a:lvl1pPr>
          </a:lstStyle>
          <a:p>
            <a:endParaRPr lang="de-DE" dirty="0"/>
          </a:p>
        </p:txBody>
      </p:sp>
      <p:sp>
        <p:nvSpPr>
          <p:cNvPr id="7" name="Foliennummernplatzhalter 5">
            <a:extLst>
              <a:ext uri="{FF2B5EF4-FFF2-40B4-BE49-F238E27FC236}">
                <a16:creationId xmlns:a16="http://schemas.microsoft.com/office/drawing/2014/main" id="{68F5FCDC-7360-4D7D-AAC6-9F1B2E4430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87711" y="6322132"/>
            <a:ext cx="1481138" cy="24483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r">
              <a:defRPr sz="1100" b="1" i="0">
                <a:solidFill>
                  <a:schemeClr val="bg2"/>
                </a:solidFill>
                <a:latin typeface="Albert Sans" pitchFamily="2" charset="0"/>
              </a:defRPr>
            </a:lvl1pPr>
          </a:lstStyle>
          <a:p>
            <a:fld id="{833FA4B0-7731-EC49-88EA-B5E921ABE78A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9" name="Fußzeilenplatzhalter 11">
            <a:extLst>
              <a:ext uri="{FF2B5EF4-FFF2-40B4-BE49-F238E27FC236}">
                <a16:creationId xmlns:a16="http://schemas.microsoft.com/office/drawing/2014/main" id="{F5FDC243-DA09-4A3C-AAF3-AC94115FD0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499360" y="6323366"/>
            <a:ext cx="4866640" cy="24483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l">
              <a:defRPr sz="1050" b="0" i="0">
                <a:solidFill>
                  <a:schemeClr val="bg2"/>
                </a:solidFill>
                <a:latin typeface="Albert Sans" pitchFamily="2" charset="0"/>
              </a:defRPr>
            </a:lvl1pPr>
          </a:lstStyle>
          <a:p>
            <a:r>
              <a:rPr lang="de-DE"/>
              <a:t>Visual Analytics | Prof. Tatiana von Landesberger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6474435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sear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8200" y="59502"/>
            <a:ext cx="10515600" cy="562032"/>
          </a:xfrm>
          <a:prstGeom prst="rect">
            <a:avLst/>
          </a:prstGeom>
        </p:spPr>
        <p:txBody>
          <a:bodyPr/>
          <a:lstStyle>
            <a:lvl1pPr>
              <a:defRPr sz="4000" cap="none" baseline="0">
                <a:solidFill>
                  <a:srgbClr val="005176"/>
                </a:solidFill>
                <a:latin typeface="Albert Sans" panose="020B060402020202020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Titelmasterformat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838200" y="684325"/>
            <a:ext cx="10515600" cy="1336200"/>
          </a:xfrm>
          <a:prstGeom prst="rect">
            <a:avLst/>
          </a:prstGeom>
        </p:spPr>
        <p:txBody>
          <a:bodyPr/>
          <a:lstStyle>
            <a:lvl1pPr marL="360363" indent="-360363">
              <a:buClr>
                <a:srgbClr val="005176"/>
              </a:buClr>
              <a:buFont typeface="Arial" panose="020B0604020202020204" pitchFamily="34" charset="0"/>
              <a:buChar char="•"/>
              <a:defRPr>
                <a:latin typeface="Albert Sans" panose="020B0604020202020204" charset="0"/>
                <a:cs typeface="Arial" panose="020B0604020202020204" pitchFamily="34" charset="0"/>
              </a:defRPr>
            </a:lvl1pPr>
            <a:lvl2pPr marL="804863" indent="-347663">
              <a:buClr>
                <a:srgbClr val="457A93"/>
              </a:buClr>
              <a:buFont typeface="Wingdings" panose="05000000000000000000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Clr>
                <a:srgbClr val="457A93"/>
              </a:buClr>
              <a:buFont typeface="Wingdings" panose="05000000000000000000" pitchFamily="2" charset="2"/>
              <a:buChar char="§"/>
              <a:tabLst>
                <a:tab pos="1255713" algn="l"/>
              </a:tabLst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16075" indent="-244475">
              <a:buClr>
                <a:srgbClr val="457A93"/>
              </a:buClr>
              <a:buFont typeface="Wingdings" panose="05000000000000000000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Clr>
                <a:srgbClr val="457A93"/>
              </a:buClr>
              <a:buFont typeface="Wingdings" panose="05000000000000000000" pitchFamily="2" charset="2"/>
              <a:buNone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 dirty="0"/>
              <a:t>Problem</a:t>
            </a: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AFAF3F5E-2658-4002-8C1F-F3F291BC0CCA}"/>
              </a:ext>
            </a:extLst>
          </p:cNvPr>
          <p:cNvSpPr/>
          <p:nvPr userDrawn="1"/>
        </p:nvSpPr>
        <p:spPr>
          <a:xfrm>
            <a:off x="838200" y="621533"/>
            <a:ext cx="10515600" cy="18000"/>
          </a:xfrm>
          <a:prstGeom prst="rect">
            <a:avLst/>
          </a:prstGeom>
          <a:solidFill>
            <a:srgbClr val="00517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80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F9360384-F54D-40E0-9829-B18F8F44E249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838200" y="2119197"/>
            <a:ext cx="10515600" cy="1336200"/>
          </a:xfrm>
          <a:prstGeom prst="rect">
            <a:avLst/>
          </a:prstGeom>
        </p:spPr>
        <p:txBody>
          <a:bodyPr/>
          <a:lstStyle>
            <a:lvl1pPr marL="360363" indent="-360363">
              <a:buClr>
                <a:srgbClr val="005176"/>
              </a:buClr>
              <a:buFont typeface="Arial" panose="020B0604020202020204" pitchFamily="34" charset="0"/>
              <a:buChar char="•"/>
              <a:defRPr>
                <a:latin typeface="Albert Sans" panose="020B0604020202020204" charset="0"/>
                <a:cs typeface="Arial" panose="020B0604020202020204" pitchFamily="34" charset="0"/>
              </a:defRPr>
            </a:lvl1pPr>
            <a:lvl2pPr marL="804863" indent="-347663">
              <a:buClr>
                <a:srgbClr val="457A93"/>
              </a:buClr>
              <a:buFont typeface="Wingdings" panose="05000000000000000000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Clr>
                <a:srgbClr val="457A93"/>
              </a:buClr>
              <a:buFont typeface="Wingdings" panose="05000000000000000000" pitchFamily="2" charset="2"/>
              <a:buChar char="§"/>
              <a:tabLst>
                <a:tab pos="1255713" algn="l"/>
              </a:tabLst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16075" indent="-244475">
              <a:buClr>
                <a:srgbClr val="457A93"/>
              </a:buClr>
              <a:buFont typeface="Wingdings" panose="05000000000000000000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60575" indent="-231775">
              <a:buClr>
                <a:srgbClr val="457A93"/>
              </a:buClr>
              <a:buFont typeface="Wingdings" panose="05000000000000000000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 dirty="0"/>
              <a:t>Hauptaussagen</a:t>
            </a:r>
            <a:endParaRPr lang="en-US" dirty="0"/>
          </a:p>
        </p:txBody>
      </p:sp>
      <p:sp>
        <p:nvSpPr>
          <p:cNvPr id="5" name="Bildplatzhalter 4">
            <a:extLst>
              <a:ext uri="{FF2B5EF4-FFF2-40B4-BE49-F238E27FC236}">
                <a16:creationId xmlns:a16="http://schemas.microsoft.com/office/drawing/2014/main" id="{3DBA01D3-6BF3-4E76-B63B-C325EDE2AA0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38200" y="3606800"/>
            <a:ext cx="10515600" cy="2095500"/>
          </a:xfrm>
          <a:prstGeom prst="rect">
            <a:avLst/>
          </a:prstGeom>
        </p:spPr>
        <p:txBody>
          <a:bodyPr/>
          <a:lstStyle>
            <a:lvl1pPr>
              <a:defRPr>
                <a:latin typeface="Albert Sans" panose="020B0604020202020204" charset="0"/>
              </a:defRPr>
            </a:lvl1pPr>
          </a:lstStyle>
          <a:p>
            <a:endParaRPr lang="en-US" dirty="0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A8177924-E517-4B0E-9F08-2532A3F3A3E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974672" y="5856599"/>
            <a:ext cx="6379128" cy="19973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i="0"/>
            </a:lvl1pPr>
          </a:lstStyle>
          <a:p>
            <a:pPr lvl="0"/>
            <a:r>
              <a:rPr lang="de-DE" sz="1200" dirty="0"/>
              <a:t>Quelle</a:t>
            </a:r>
            <a:endParaRPr lang="en-US" dirty="0"/>
          </a:p>
        </p:txBody>
      </p:sp>
      <p:sp>
        <p:nvSpPr>
          <p:cNvPr id="8" name="Datumsplatzhalter 3">
            <a:extLst>
              <a:ext uri="{FF2B5EF4-FFF2-40B4-BE49-F238E27FC236}">
                <a16:creationId xmlns:a16="http://schemas.microsoft.com/office/drawing/2014/main" id="{210EC189-8E14-49BB-A092-0BA2D85817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366000" y="6322132"/>
            <a:ext cx="1221711" cy="24483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l">
              <a:defRPr sz="1050" b="0" i="0">
                <a:solidFill>
                  <a:schemeClr val="bg2"/>
                </a:solidFill>
                <a:latin typeface="Albert Sans" pitchFamily="2" charset="0"/>
              </a:defRPr>
            </a:lvl1pPr>
          </a:lstStyle>
          <a:p>
            <a:endParaRPr lang="de-DE" dirty="0"/>
          </a:p>
        </p:txBody>
      </p:sp>
      <p:sp>
        <p:nvSpPr>
          <p:cNvPr id="10" name="Foliennummernplatzhalter 5">
            <a:extLst>
              <a:ext uri="{FF2B5EF4-FFF2-40B4-BE49-F238E27FC236}">
                <a16:creationId xmlns:a16="http://schemas.microsoft.com/office/drawing/2014/main" id="{41D7DE58-A993-4005-8CF7-592F5267D6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87711" y="6322132"/>
            <a:ext cx="1481138" cy="24483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r">
              <a:defRPr sz="1100" b="1" i="0">
                <a:solidFill>
                  <a:schemeClr val="bg2"/>
                </a:solidFill>
                <a:latin typeface="Albert Sans" pitchFamily="2" charset="0"/>
              </a:defRPr>
            </a:lvl1pPr>
          </a:lstStyle>
          <a:p>
            <a:fld id="{833FA4B0-7731-EC49-88EA-B5E921ABE78A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2" name="Fußzeilenplatzhalter 11">
            <a:extLst>
              <a:ext uri="{FF2B5EF4-FFF2-40B4-BE49-F238E27FC236}">
                <a16:creationId xmlns:a16="http://schemas.microsoft.com/office/drawing/2014/main" id="{87F651F9-6E27-45C2-A715-01CA9F0A0D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499360" y="6323366"/>
            <a:ext cx="4866640" cy="24483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l">
              <a:defRPr sz="1050" b="0" i="0">
                <a:solidFill>
                  <a:schemeClr val="bg2"/>
                </a:solidFill>
                <a:latin typeface="Albert Sans" pitchFamily="2" charset="0"/>
              </a:defRPr>
            </a:lvl1pPr>
          </a:lstStyle>
          <a:p>
            <a:r>
              <a:rPr lang="de-DE"/>
              <a:t>Visual Analytics | Prof. Tatiana von Landesberger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6116795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Nur Titel" userDrawn="1">
  <p:cSld name="Nur Titel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" name="Google Shape;33;p4"/>
          <p:cNvSpPr txBox="1">
            <a:spLocks noGrp="1"/>
          </p:cNvSpPr>
          <p:nvPr>
            <p:ph type="title"/>
          </p:nvPr>
        </p:nvSpPr>
        <p:spPr bwMode="auto">
          <a:xfrm>
            <a:off x="239349" y="8286"/>
            <a:ext cx="11521017" cy="6310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4" name="Google Shape;34;p4"/>
          <p:cNvSpPr txBox="1">
            <a:spLocks noGrp="1"/>
          </p:cNvSpPr>
          <p:nvPr>
            <p:ph type="ftr" idx="11"/>
          </p:nvPr>
        </p:nvSpPr>
        <p:spPr bwMode="auto">
          <a:xfrm>
            <a:off x="334434" y="6581776"/>
            <a:ext cx="11233151" cy="303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r>
              <a:rPr lang="de-DE"/>
              <a:t>Visual Analytics | Prof. Tatiana von Landesberger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3955752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Zwei Inhalte" type="twoObj" userDrawn="1">
  <p:cSld name="1_Zwei Inhalt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" name="Google Shape;38;p6"/>
          <p:cNvSpPr txBox="1">
            <a:spLocks noGrp="1"/>
          </p:cNvSpPr>
          <p:nvPr>
            <p:ph type="title"/>
          </p:nvPr>
        </p:nvSpPr>
        <p:spPr bwMode="auto">
          <a:xfrm>
            <a:off x="239349" y="8286"/>
            <a:ext cx="11521017" cy="6310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 dirty="0"/>
          </a:p>
        </p:txBody>
      </p:sp>
      <p:sp>
        <p:nvSpPr>
          <p:cNvPr id="39" name="Google Shape;39;p6"/>
          <p:cNvSpPr txBox="1">
            <a:spLocks noGrp="1"/>
          </p:cNvSpPr>
          <p:nvPr>
            <p:ph type="body" idx="1"/>
          </p:nvPr>
        </p:nvSpPr>
        <p:spPr bwMode="auto">
          <a:xfrm>
            <a:off x="334433" y="764705"/>
            <a:ext cx="5657851" cy="56170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▪"/>
              <a:defRPr sz="2800"/>
            </a:lvl1pPr>
            <a:lvl2pPr marL="914400" lvl="1" indent="-3810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▪"/>
              <a:defRPr sz="2400"/>
            </a:lvl2pPr>
            <a:lvl3pPr marL="1371600" lvl="2" indent="-355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▪"/>
              <a:defRPr sz="2000"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 sz="1800"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 sz="1800"/>
            </a:lvl5pPr>
            <a:lvl6pPr marL="2743200" lvl="5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 sz="1800"/>
            </a:lvl6pPr>
            <a:lvl7pPr marL="3200400" lvl="6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 sz="1800"/>
            </a:lvl7pPr>
            <a:lvl8pPr marL="3657600" lvl="7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 sz="1800"/>
            </a:lvl8pPr>
            <a:lvl9pPr marL="4114800" lvl="8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 sz="1800"/>
            </a:lvl9pPr>
          </a:lstStyle>
          <a:p>
            <a:pPr>
              <a:defRPr/>
            </a:pPr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2"/>
          </p:nvPr>
        </p:nvSpPr>
        <p:spPr bwMode="auto">
          <a:xfrm>
            <a:off x="6195485" y="764705"/>
            <a:ext cx="5659967" cy="56170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▪"/>
              <a:defRPr sz="2800"/>
            </a:lvl1pPr>
            <a:lvl2pPr marL="914400" lvl="1" indent="-3810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▪"/>
              <a:defRPr sz="2400"/>
            </a:lvl2pPr>
            <a:lvl3pPr marL="1371600" lvl="2" indent="-355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▪"/>
              <a:defRPr sz="2000"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 sz="1800"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 sz="1800"/>
            </a:lvl5pPr>
            <a:lvl6pPr marL="2743200" lvl="5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 sz="1800"/>
            </a:lvl6pPr>
            <a:lvl7pPr marL="3200400" lvl="6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 sz="1800"/>
            </a:lvl7pPr>
            <a:lvl8pPr marL="3657600" lvl="7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 sz="1800"/>
            </a:lvl8pPr>
            <a:lvl9pPr marL="4114800" lvl="8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 sz="1800"/>
            </a:lvl9pPr>
          </a:lstStyle>
          <a:p>
            <a:pPr>
              <a:defRPr/>
            </a:pPr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ftr" idx="11"/>
          </p:nvPr>
        </p:nvSpPr>
        <p:spPr bwMode="auto">
          <a:xfrm>
            <a:off x="334434" y="6581776"/>
            <a:ext cx="11233151" cy="303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r>
              <a:rPr lang="de-DE"/>
              <a:t>Visual Analytics | Prof. Tatiana von Landesberger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9398634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5_Titel und Inhal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Titel 1"/>
          <p:cNvSpPr>
            <a:spLocks noGrp="1"/>
          </p:cNvSpPr>
          <p:nvPr>
            <p:ph type="title"/>
          </p:nvPr>
        </p:nvSpPr>
        <p:spPr bwMode="auto">
          <a:xfrm>
            <a:off x="242001" y="488949"/>
            <a:ext cx="9095177" cy="838200"/>
          </a:xfrm>
        </p:spPr>
        <p:txBody>
          <a:bodyPr/>
          <a:lstStyle/>
          <a:p>
            <a:pPr>
              <a:defRPr/>
            </a:pPr>
            <a:r>
              <a:rPr lang="de-DE"/>
              <a:t>Titelmasterformat durch Klicken bearbeiten</a:t>
            </a:r>
            <a:endParaRPr/>
          </a:p>
        </p:txBody>
      </p:sp>
      <p:sp>
        <p:nvSpPr>
          <p:cNvPr id="5" name="Inhaltsplatzhalter 2"/>
          <p:cNvSpPr>
            <a:spLocks noGrp="1"/>
          </p:cNvSpPr>
          <p:nvPr>
            <p:ph idx="11"/>
          </p:nvPr>
        </p:nvSpPr>
        <p:spPr bwMode="auto">
          <a:xfrm>
            <a:off x="240655" y="1580632"/>
            <a:ext cx="11711997" cy="4479943"/>
          </a:xfrm>
        </p:spPr>
        <p:txBody>
          <a:bodyPr/>
          <a:lstStyle/>
          <a:p>
            <a:pPr lvl="0">
              <a:defRPr/>
            </a:pPr>
            <a:r>
              <a:rPr lang="de-DE"/>
              <a:t>Formatvorlagen des Textmasters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2" name="Fußzeilenplatzhalter 1"/>
          <p:cNvSpPr>
            <a:spLocks noGrp="1"/>
          </p:cNvSpPr>
          <p:nvPr>
            <p:ph type="ftr" sz="quarter" idx="12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Visual Analytics | Prof. Tatiana von Landesberger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65122502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Only" userDrawn="1">
  <p:cSld name="1_Nur Titel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Titel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Titelmasterformat durch Klicken bearbeiten</a:t>
            </a:r>
            <a:endParaRPr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34434" y="6581776"/>
            <a:ext cx="11233151" cy="303213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defRPr sz="1000"/>
            </a:lvl1pPr>
          </a:lstStyle>
          <a:p>
            <a:pPr>
              <a:defRPr/>
            </a:pPr>
            <a:r>
              <a:rPr lang="de-DE"/>
              <a:t>Visual Analytics | Prof. Tatiana von Landesberger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09100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B5470D71-D16E-50A0-925D-BA8302529E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305" y="491060"/>
            <a:ext cx="10954833" cy="121563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AF9142C-32A3-29E3-FA58-AB5F5D1D73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7600" y="1922400"/>
            <a:ext cx="10953538" cy="4170624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B9B9DB8-3727-FEA1-3D37-DE24327B53C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366000" y="6322132"/>
            <a:ext cx="1221711" cy="24483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l">
              <a:defRPr sz="1050" b="0" i="0">
                <a:solidFill>
                  <a:schemeClr val="bg2"/>
                </a:solidFill>
                <a:latin typeface="Albert Sans" pitchFamily="2" charset="0"/>
              </a:defRPr>
            </a:lvl1pPr>
          </a:lstStyle>
          <a:p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E071991-F9E6-D3A5-AE88-C9E13C745F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87711" y="6322132"/>
            <a:ext cx="1481138" cy="24483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r">
              <a:defRPr sz="1100" b="1" i="0">
                <a:solidFill>
                  <a:schemeClr val="bg2"/>
                </a:solidFill>
                <a:latin typeface="Albert Sans" pitchFamily="2" charset="0"/>
              </a:defRPr>
            </a:lvl1pPr>
          </a:lstStyle>
          <a:p>
            <a:fld id="{833FA4B0-7731-EC49-88EA-B5E921ABE78A}" type="slidenum">
              <a:rPr lang="de-DE" smtClean="0"/>
              <a:pPr/>
              <a:t>‹Nr.›</a:t>
            </a:fld>
            <a:endParaRPr lang="de-DE" dirty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7BF3BDEE-35A9-44DE-B226-BF27396B4EF4}"/>
              </a:ext>
            </a:extLst>
          </p:cNvPr>
          <p:cNvPicPr>
            <a:picLocks noChangeAspect="1"/>
          </p:cNvPicPr>
          <p:nvPr userDrawn="1"/>
        </p:nvPicPr>
        <p:blipFill>
          <a:blip r:embed="rId17"/>
          <a:stretch>
            <a:fillRect/>
          </a:stretch>
        </p:blipFill>
        <p:spPr>
          <a:xfrm>
            <a:off x="622141" y="6136103"/>
            <a:ext cx="1373522" cy="61935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A5A65E3-1475-44CC-B757-27B8D74F218D}"/>
              </a:ext>
            </a:extLst>
          </p:cNvPr>
          <p:cNvPicPr>
            <a:picLocks noChangeAspect="1"/>
          </p:cNvPicPr>
          <p:nvPr userDrawn="1"/>
        </p:nvPicPr>
        <p:blipFill>
          <a:blip r:embed="rId18"/>
          <a:stretch>
            <a:fillRect/>
          </a:stretch>
        </p:blipFill>
        <p:spPr>
          <a:xfrm>
            <a:off x="10747687" y="6221184"/>
            <a:ext cx="893451" cy="446725"/>
          </a:xfrm>
          <a:prstGeom prst="rect">
            <a:avLst/>
          </a:prstGeom>
        </p:spPr>
      </p:pic>
      <p:sp>
        <p:nvSpPr>
          <p:cNvPr id="9" name="Fußzeilenplatzhalter 11">
            <a:extLst>
              <a:ext uri="{FF2B5EF4-FFF2-40B4-BE49-F238E27FC236}">
                <a16:creationId xmlns:a16="http://schemas.microsoft.com/office/drawing/2014/main" id="{5B9B4575-9F88-44B9-BB69-2CD33A6CCD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499360" y="6323366"/>
            <a:ext cx="4866640" cy="24483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l">
              <a:defRPr sz="1050" b="0" i="0">
                <a:solidFill>
                  <a:schemeClr val="bg2"/>
                </a:solidFill>
                <a:latin typeface="Albert Sans" pitchFamily="2" charset="0"/>
              </a:defRPr>
            </a:lvl1pPr>
          </a:lstStyle>
          <a:p>
            <a:r>
              <a:rPr lang="de-DE"/>
              <a:t>Visual Analytics | Prof. Tatiana von Landesberger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8571668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3" r:id="rId2"/>
    <p:sldLayoutId id="2147483661" r:id="rId3"/>
    <p:sldLayoutId id="2147483651" r:id="rId4"/>
    <p:sldLayoutId id="2147483664" r:id="rId5"/>
    <p:sldLayoutId id="2147483662" r:id="rId6"/>
    <p:sldLayoutId id="2147483665" r:id="rId7"/>
    <p:sldLayoutId id="2147483668" r:id="rId8"/>
    <p:sldLayoutId id="2147483669" r:id="rId9"/>
    <p:sldLayoutId id="2147483670" r:id="rId10"/>
    <p:sldLayoutId id="2147483671" r:id="rId11"/>
    <p:sldLayoutId id="2147483673" r:id="rId12"/>
    <p:sldLayoutId id="2147483675" r:id="rId13"/>
    <p:sldLayoutId id="2147483677" r:id="rId14"/>
    <p:sldLayoutId id="2147483679" r:id="rId1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i="0" kern="1200" cap="all" baseline="0">
          <a:solidFill>
            <a:schemeClr val="accent1"/>
          </a:solidFill>
          <a:latin typeface="Albert Sans" pitchFamily="2" charset="0"/>
          <a:ea typeface="+mj-ea"/>
          <a:cs typeface="+mj-cs"/>
        </a:defRPr>
      </a:lvl1pPr>
    </p:titleStyle>
    <p:bodyStyle>
      <a:lvl1pPr marL="228600" indent="-228600" algn="l" defTabSz="914400" rtl="0" eaLnBrk="1" fontAlgn="ctr" latinLnBrk="0" hangingPunct="1">
        <a:lnSpc>
          <a:spcPct val="100000"/>
        </a:lnSpc>
        <a:spcBef>
          <a:spcPts val="0"/>
        </a:spcBef>
        <a:spcAft>
          <a:spcPts val="1200"/>
        </a:spcAft>
        <a:buClr>
          <a:schemeClr val="accent1"/>
        </a:buClr>
        <a:buSzPct val="140000"/>
        <a:buFont typeface="Arial" panose="020B0604020202020204" pitchFamily="34" charset="0"/>
        <a:buChar char="•"/>
        <a:defRPr sz="1750" b="0" i="0" kern="1200" baseline="0">
          <a:solidFill>
            <a:schemeClr val="tx1"/>
          </a:solidFill>
          <a:latin typeface="Albert Sans" pitchFamily="2" charset="0"/>
          <a:ea typeface="+mn-ea"/>
          <a:cs typeface="Albert Sans" pitchFamily="2" charset="0"/>
        </a:defRPr>
      </a:lvl1pPr>
      <a:lvl2pPr marL="446400" indent="-228600" algn="l" defTabSz="734400" rtl="0" eaLnBrk="1" fontAlgn="ctr" latinLnBrk="0" hangingPunct="1">
        <a:lnSpc>
          <a:spcPct val="100000"/>
        </a:lnSpc>
        <a:spcBef>
          <a:spcPts val="0"/>
        </a:spcBef>
        <a:spcAft>
          <a:spcPts val="1200"/>
        </a:spcAft>
        <a:buClr>
          <a:schemeClr val="accent1"/>
        </a:buClr>
        <a:buSzPct val="140000"/>
        <a:buFont typeface="Arial" panose="020B0604020202020204" pitchFamily="34" charset="0"/>
        <a:buChar char="•"/>
        <a:defRPr sz="1750" b="0" i="0" kern="1200" baseline="0">
          <a:solidFill>
            <a:schemeClr val="tx1"/>
          </a:solidFill>
          <a:latin typeface="Albert Sans" pitchFamily="2" charset="0"/>
          <a:ea typeface="+mn-ea"/>
          <a:cs typeface="Albert Sans" pitchFamily="2" charset="0"/>
        </a:defRPr>
      </a:lvl2pPr>
      <a:lvl3pPr marL="675000" indent="-228600" algn="l" defTabSz="914400" rtl="0" eaLnBrk="1" fontAlgn="ctr" latinLnBrk="0" hangingPunct="1">
        <a:lnSpc>
          <a:spcPct val="100000"/>
        </a:lnSpc>
        <a:spcBef>
          <a:spcPts val="0"/>
        </a:spcBef>
        <a:spcAft>
          <a:spcPts val="1200"/>
        </a:spcAft>
        <a:buClr>
          <a:schemeClr val="accent1"/>
        </a:buClr>
        <a:buSzPct val="140000"/>
        <a:buFont typeface="Arial" panose="020B0604020202020204" pitchFamily="34" charset="0"/>
        <a:buChar char="•"/>
        <a:defRPr sz="1750" b="0" i="0" kern="1200" baseline="0">
          <a:solidFill>
            <a:schemeClr val="tx1"/>
          </a:solidFill>
          <a:latin typeface="Albert Sans" pitchFamily="2" charset="0"/>
          <a:ea typeface="+mn-ea"/>
          <a:cs typeface="Albert Sans" pitchFamily="2" charset="0"/>
        </a:defRPr>
      </a:lvl3pPr>
      <a:lvl4pPr marL="880200" indent="-228600" algn="l" defTabSz="914400" rtl="0" eaLnBrk="1" fontAlgn="ctr" latinLnBrk="0" hangingPunct="1">
        <a:lnSpc>
          <a:spcPct val="100000"/>
        </a:lnSpc>
        <a:spcBef>
          <a:spcPts val="0"/>
        </a:spcBef>
        <a:spcAft>
          <a:spcPts val="1200"/>
        </a:spcAft>
        <a:buClr>
          <a:schemeClr val="accent1"/>
        </a:buClr>
        <a:buSzPct val="140000"/>
        <a:buFont typeface="Arial" panose="020B0604020202020204" pitchFamily="34" charset="0"/>
        <a:buChar char="•"/>
        <a:defRPr sz="1750" b="0" i="0" kern="1200" baseline="0">
          <a:solidFill>
            <a:schemeClr val="tx1"/>
          </a:solidFill>
          <a:latin typeface="Albert Sans" pitchFamily="2" charset="0"/>
          <a:ea typeface="+mn-ea"/>
          <a:cs typeface="Albert Sans" pitchFamily="2" charset="0"/>
        </a:defRPr>
      </a:lvl4pPr>
      <a:lvl5pPr marL="1121400" indent="-228600" algn="l" defTabSz="914400" rtl="0" eaLnBrk="1" fontAlgn="ctr" latinLnBrk="0" hangingPunct="1">
        <a:lnSpc>
          <a:spcPct val="100000"/>
        </a:lnSpc>
        <a:spcBef>
          <a:spcPts val="0"/>
        </a:spcBef>
        <a:spcAft>
          <a:spcPts val="1200"/>
        </a:spcAft>
        <a:buClr>
          <a:schemeClr val="accent1"/>
        </a:buClr>
        <a:buSzPct val="140000"/>
        <a:buFont typeface="Arial" panose="020B0604020202020204" pitchFamily="34" charset="0"/>
        <a:buChar char="•"/>
        <a:defRPr sz="1750" b="0" i="0" kern="1200" baseline="0">
          <a:solidFill>
            <a:schemeClr val="tx1"/>
          </a:solidFill>
          <a:latin typeface="Albert Sans" pitchFamily="2" charset="0"/>
          <a:ea typeface="+mn-ea"/>
          <a:cs typeface="Albert Sans" pitchFamily="2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23" userDrawn="1">
          <p15:clr>
            <a:srgbClr val="F26B43"/>
          </p15:clr>
        </p15:guide>
        <p15:guide id="2" pos="438" userDrawn="1">
          <p15:clr>
            <a:srgbClr val="F26B43"/>
          </p15:clr>
        </p15:guide>
        <p15:guide id="3" pos="7333" userDrawn="1">
          <p15:clr>
            <a:srgbClr val="F26B43"/>
          </p15:clr>
        </p15:guide>
        <p15:guide id="4" orient="horz" pos="3838" userDrawn="1">
          <p15:clr>
            <a:srgbClr val="F26B43"/>
          </p15:clr>
        </p15:guide>
        <p15:guide id="5" orient="horz" pos="1207" userDrawn="1">
          <p15:clr>
            <a:srgbClr val="F26B43"/>
          </p15:clr>
        </p15:guide>
        <p15:guide id="6" orient="horz" pos="408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observablehq.com/@d3/gallery" TargetMode="External"/><Relationship Id="rId2" Type="http://schemas.openxmlformats.org/officeDocument/2006/relationships/hyperlink" Target="https://d3js.org/" TargetMode="External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observablehq.com/@d3/gallery" TargetMode="External"/><Relationship Id="rId2" Type="http://schemas.openxmlformats.org/officeDocument/2006/relationships/hyperlink" Target="https://d3js.org/" TargetMode="Externa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hyperlink" Target="https://jsfiddle.net/Lwezxgrd/" TargetMode="Externa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hyperlink" Target="https://jsfiddle.net/Lwezxgrd/" TargetMode="Externa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hyperlink" Target="https://jsfiddle.net/Lwezxgrd/" TargetMode="Externa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hyperlink" Target="https://jsfiddle.net/408unc9t/" TargetMode="External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hyperlink" Target="https://jsfiddle.net/408unc9t/" TargetMode="Externa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hyperlink" Target="https://jsfiddle.net/408unc9t/" TargetMode="External"/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hyperlink" Target="https://jsfiddle.net/408unc9t/" TargetMode="Externa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hyperlink" Target="https://jsfiddle.net/408unc9t/" TargetMode="Externa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23.png"/><Relationship Id="rId4" Type="http://schemas.openxmlformats.org/officeDocument/2006/relationships/image" Target="../media/image2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hyperlink" Target="https://jsfiddle.net/408unc9t/" TargetMode="Externa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3.png"/><Relationship Id="rId5" Type="http://schemas.openxmlformats.org/officeDocument/2006/relationships/image" Target="../media/image24.png"/><Relationship Id="rId4" Type="http://schemas.openxmlformats.org/officeDocument/2006/relationships/image" Target="../media/image2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hyperlink" Target="https://jsfiddle.net/408unc9t/" TargetMode="External"/><Relationship Id="rId1" Type="http://schemas.openxmlformats.org/officeDocument/2006/relationships/slideLayout" Target="../slideLayouts/slideLayout9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hyperlink" Target="https://jsfiddle.net/408unc9t/" TargetMode="Externa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hyperlink" Target="https://jsfiddle.net/408unc9t/" TargetMode="Externa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hyperlink" Target="https://jsfiddle.net/408unc9t/" TargetMode="External"/><Relationship Id="rId1" Type="http://schemas.openxmlformats.org/officeDocument/2006/relationships/slideLayout" Target="../slideLayouts/slideLayout9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hyperlink" Target="https://jsfiddle.net/408unc9t/" TargetMode="External"/><Relationship Id="rId1" Type="http://schemas.openxmlformats.org/officeDocument/2006/relationships/slideLayout" Target="../slideLayouts/slideLayout9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hyperlink" Target="https://jsfiddle.net/408unc9t/" TargetMode="External"/><Relationship Id="rId1" Type="http://schemas.openxmlformats.org/officeDocument/2006/relationships/slideLayout" Target="../slideLayouts/slideLayout9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hyperlink" Target="https://jsfiddle.net/408unc9t/" TargetMode="Externa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3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jsfiddle.net/408unc9t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3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hyperlink" Target="https://jsfiddle.net/d9gLekrp/" TargetMode="Externa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35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2" Type="http://schemas.openxmlformats.org/officeDocument/2006/relationships/hyperlink" Target="https://jsfiddle.net/d9gLekrp/" TargetMode="Externa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hyperlink" Target="https://jsfiddle.net/d9gLekrp/" TargetMode="External"/><Relationship Id="rId1" Type="http://schemas.openxmlformats.org/officeDocument/2006/relationships/slideLayout" Target="../slideLayouts/slideLayout9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hyperlink" Target="https://jsfiddle.net/d9gLekrp/" TargetMode="Externa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hyperlink" Target="https://jsfiddle.net/6uanzvm4/" TargetMode="External"/><Relationship Id="rId1" Type="http://schemas.openxmlformats.org/officeDocument/2006/relationships/slideLayout" Target="../slideLayouts/slideLayout9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hyperlink" Target="https://jsfiddle.net/fcagosnu/" TargetMode="Externa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hyperlink" Target="https://jsfiddle.net/fcagosnu/" TargetMode="Externa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43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hyperlink" Target="https://jsfiddle.net/u3g9tarx/" TargetMode="External"/><Relationship Id="rId2" Type="http://schemas.openxmlformats.org/officeDocument/2006/relationships/hyperlink" Target="https://jsfiddle.net/fcagosnu/" TargetMode="Externa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hyperlink" Target="https://jsfiddle.net/u3g9tarx/" TargetMode="External"/><Relationship Id="rId2" Type="http://schemas.openxmlformats.org/officeDocument/2006/relationships/hyperlink" Target="https://jsfiddle.net/fcagosnu/" TargetMode="Externa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hyperlink" Target="https://jsfiddle.net/u3g9tarx/" TargetMode="External"/><Relationship Id="rId2" Type="http://schemas.openxmlformats.org/officeDocument/2006/relationships/hyperlink" Target="https://jsfiddle.net/fcagosnu/" TargetMode="Externa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hyperlink" Target="https://jsfiddle.net/nd1wx0of/" TargetMode="Externa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9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9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9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9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9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9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9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47.png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9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9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9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9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9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hyperlink" Target="https://jsfiddle.net/nd1wx0of/" TargetMode="Externa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57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hyperlink" Target="https://jsfiddle.net/L0u3anxd/" TargetMode="External"/><Relationship Id="rId2" Type="http://schemas.openxmlformats.org/officeDocument/2006/relationships/hyperlink" Target="https://jsfiddle.net/nd1wx0of/" TargetMode="Externa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hyperlink" Target="https://jsfiddle.net/8q6z1oy4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hyperlink" Target="https://jsfiddle.net/MaxSondag/g0froL7a/" TargetMode="External"/><Relationship Id="rId2" Type="http://schemas.openxmlformats.org/officeDocument/2006/relationships/hyperlink" Target="https://jsfiddle.net/8q6z1oy4/" TargetMode="External"/><Relationship Id="rId1" Type="http://schemas.openxmlformats.org/officeDocument/2006/relationships/slideLayout" Target="../slideLayouts/slideLayout9.xml"/><Relationship Id="rId6" Type="http://schemas.openxmlformats.org/officeDocument/2006/relationships/hyperlink" Target="https://jsfiddle.net/MaxSondag/a6z4guLd/" TargetMode="External"/><Relationship Id="rId5" Type="http://schemas.openxmlformats.org/officeDocument/2006/relationships/hyperlink" Target="https://jsfiddle.net/MaxSondag/hb9tx6ps/" TargetMode="External"/><Relationship Id="rId4" Type="http://schemas.openxmlformats.org/officeDocument/2006/relationships/hyperlink" Target="https://jsfiddle.net/MaxSondag/93Ltfe6k/" TargetMode="Externa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hyperlink" Target="https://jsfiddle.net/MaxSondag/7s5Lvfkw/" TargetMode="External"/><Relationship Id="rId2" Type="http://schemas.openxmlformats.org/officeDocument/2006/relationships/hyperlink" Target="https://jsfiddle.net/MaxSondag/jq8ts9hL/" TargetMode="External"/><Relationship Id="rId1" Type="http://schemas.openxmlformats.org/officeDocument/2006/relationships/slideLayout" Target="../slideLayouts/slideLayout9.xml"/><Relationship Id="rId5" Type="http://schemas.openxmlformats.org/officeDocument/2006/relationships/hyperlink" Target="https://jsfiddle.net/MaxSondag/xqr4o91c/" TargetMode="External"/><Relationship Id="rId4" Type="http://schemas.openxmlformats.org/officeDocument/2006/relationships/hyperlink" Target="https://jsfiddle.net/MaxSondag/drwh5mqc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4818635-0DC5-4542-AA21-B9A85F6CA78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D3 Tutorial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A86BD032-C879-4BB4-AAF4-1E4BF154C00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dirty="0"/>
              <a:t>Lehrstuhl „Visualisierung und Visual Analytics“</a:t>
            </a:r>
          </a:p>
        </p:txBody>
      </p:sp>
    </p:spTree>
    <p:extLst>
      <p:ext uri="{BB962C8B-B14F-4D97-AF65-F5344CB8AC3E}">
        <p14:creationId xmlns:p14="http://schemas.microsoft.com/office/powerpoint/2010/main" val="2833206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GB" dirty="0"/>
              <a:t>Mini-Tutorial: D3 – Was </a:t>
            </a:r>
            <a:r>
              <a:rPr lang="en-GB" dirty="0" err="1"/>
              <a:t>ist</a:t>
            </a:r>
            <a:r>
              <a:rPr lang="en-GB" dirty="0"/>
              <a:t> D3?</a:t>
            </a:r>
            <a:endParaRPr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 bwMode="auto"/>
        <p:txBody>
          <a:bodyPr>
            <a:normAutofit/>
          </a:bodyPr>
          <a:lstStyle/>
          <a:p>
            <a:pPr>
              <a:defRPr/>
            </a:pPr>
            <a:r>
              <a:rPr lang="en-GB" sz="2000" dirty="0">
                <a:latin typeface="+mj-lt"/>
              </a:rPr>
              <a:t>D3.js: </a:t>
            </a:r>
            <a:r>
              <a:rPr lang="en-GB" sz="2000" b="1" dirty="0">
                <a:latin typeface="+mj-lt"/>
              </a:rPr>
              <a:t>D</a:t>
            </a:r>
            <a:r>
              <a:rPr lang="en-GB" sz="2000" dirty="0">
                <a:latin typeface="+mj-lt"/>
              </a:rPr>
              <a:t>ata-</a:t>
            </a:r>
            <a:r>
              <a:rPr lang="en-GB" sz="2000" b="1" dirty="0">
                <a:latin typeface="+mj-lt"/>
              </a:rPr>
              <a:t>D</a:t>
            </a:r>
            <a:r>
              <a:rPr lang="en-GB" sz="2000" dirty="0">
                <a:latin typeface="+mj-lt"/>
              </a:rPr>
              <a:t>riven </a:t>
            </a:r>
            <a:r>
              <a:rPr lang="en-GB" sz="2000" b="1" dirty="0">
                <a:latin typeface="+mj-lt"/>
              </a:rPr>
              <a:t>D</a:t>
            </a:r>
            <a:r>
              <a:rPr lang="en-GB" sz="2000" dirty="0">
                <a:latin typeface="+mj-lt"/>
              </a:rPr>
              <a:t>ocuments  (</a:t>
            </a:r>
            <a:r>
              <a:rPr lang="en-GB" sz="2000" u="sng" dirty="0">
                <a:latin typeface="+mj-lt"/>
                <a:hlinkClick r:id="rId2" tooltip="https://d3js.org/"/>
              </a:rPr>
              <a:t>https://d3js.org/</a:t>
            </a:r>
            <a:r>
              <a:rPr lang="en-GB" sz="2000" dirty="0">
                <a:latin typeface="+mj-lt"/>
              </a:rPr>
              <a:t>) (</a:t>
            </a:r>
            <a:r>
              <a:rPr lang="en-GB" sz="2000" dirty="0" err="1">
                <a:latin typeface="+mj-lt"/>
              </a:rPr>
              <a:t>Daten-getriebene</a:t>
            </a:r>
            <a:r>
              <a:rPr lang="en-GB" sz="2000" dirty="0">
                <a:latin typeface="+mj-lt"/>
              </a:rPr>
              <a:t> </a:t>
            </a:r>
            <a:r>
              <a:rPr lang="en-GB" sz="2000" dirty="0" err="1">
                <a:latin typeface="+mj-lt"/>
              </a:rPr>
              <a:t>Dokumente</a:t>
            </a:r>
            <a:r>
              <a:rPr lang="en-GB" sz="2000" dirty="0">
                <a:latin typeface="+mj-lt"/>
              </a:rPr>
              <a:t>)</a:t>
            </a:r>
            <a:endParaRPr sz="2000" dirty="0">
              <a:latin typeface="+mj-lt"/>
            </a:endParaRPr>
          </a:p>
          <a:p>
            <a:pPr>
              <a:defRPr/>
            </a:pPr>
            <a:r>
              <a:rPr lang="en-GB" sz="2000" b="0" i="0" u="none" strike="noStrike" cap="none" spc="0" dirty="0">
                <a:solidFill>
                  <a:schemeClr val="tx1"/>
                </a:solidFill>
                <a:latin typeface="+mj-lt"/>
                <a:cs typeface="Fira Sans"/>
              </a:rPr>
              <a:t>JavaScript </a:t>
            </a:r>
            <a:r>
              <a:rPr lang="en-GB" sz="2000" dirty="0">
                <a:latin typeface="+mj-lt"/>
                <a:cs typeface="Fira Sans"/>
              </a:rPr>
              <a:t>L</a:t>
            </a:r>
            <a:r>
              <a:rPr lang="en-GB" sz="2000" b="0" i="0" u="none" strike="noStrike" cap="none" spc="0" dirty="0">
                <a:solidFill>
                  <a:schemeClr val="tx1"/>
                </a:solidFill>
                <a:latin typeface="+mj-lt"/>
                <a:cs typeface="Fira Sans"/>
              </a:rPr>
              <a:t>ibrary um </a:t>
            </a:r>
            <a:r>
              <a:rPr lang="en-GB" sz="2000" b="0" i="0" u="none" strike="noStrike" cap="none" spc="0" dirty="0" err="1">
                <a:solidFill>
                  <a:schemeClr val="tx1"/>
                </a:solidFill>
                <a:latin typeface="+mj-lt"/>
                <a:cs typeface="Fira Sans"/>
              </a:rPr>
              <a:t>Visualisierungen</a:t>
            </a:r>
            <a:r>
              <a:rPr lang="en-GB" sz="2000" b="0" i="0" u="none" strike="noStrike" cap="none" spc="0" dirty="0">
                <a:solidFill>
                  <a:schemeClr val="tx1"/>
                </a:solidFill>
                <a:latin typeface="+mj-lt"/>
                <a:cs typeface="Fira Sans"/>
              </a:rPr>
              <a:t> </a:t>
            </a:r>
            <a:r>
              <a:rPr lang="en-GB" sz="2000" b="0" i="0" u="none" strike="noStrike" cap="none" spc="0" dirty="0" err="1">
                <a:solidFill>
                  <a:schemeClr val="tx1"/>
                </a:solidFill>
                <a:latin typeface="+mj-lt"/>
                <a:cs typeface="Fira Sans"/>
              </a:rPr>
              <a:t>zu</a:t>
            </a:r>
            <a:r>
              <a:rPr lang="en-GB" sz="2000" b="0" i="0" u="none" strike="noStrike" cap="none" spc="0" dirty="0">
                <a:solidFill>
                  <a:schemeClr val="tx1"/>
                </a:solidFill>
                <a:latin typeface="+mj-lt"/>
                <a:cs typeface="Fira Sans"/>
              </a:rPr>
              <a:t> </a:t>
            </a:r>
            <a:r>
              <a:rPr lang="en-GB" sz="2000" b="0" i="0" u="none" strike="noStrike" cap="none" spc="0" dirty="0" err="1">
                <a:solidFill>
                  <a:schemeClr val="tx1"/>
                </a:solidFill>
                <a:latin typeface="+mj-lt"/>
                <a:cs typeface="Fira Sans"/>
              </a:rPr>
              <a:t>Daten</a:t>
            </a:r>
            <a:r>
              <a:rPr lang="en-GB" sz="2000" b="0" i="0" u="none" strike="noStrike" cap="none" spc="0" dirty="0">
                <a:solidFill>
                  <a:schemeClr val="tx1"/>
                </a:solidFill>
                <a:latin typeface="+mj-lt"/>
                <a:cs typeface="Fira Sans"/>
              </a:rPr>
              <a:t> </a:t>
            </a:r>
            <a:r>
              <a:rPr lang="en-GB" sz="2000" b="0" i="0" u="none" strike="noStrike" cap="none" spc="0" dirty="0" err="1">
                <a:solidFill>
                  <a:schemeClr val="tx1"/>
                </a:solidFill>
                <a:latin typeface="+mj-lt"/>
                <a:cs typeface="Fira Sans"/>
              </a:rPr>
              <a:t>zu</a:t>
            </a:r>
            <a:r>
              <a:rPr lang="en-GB" sz="2000" b="0" i="0" u="none" strike="noStrike" cap="none" spc="0" dirty="0">
                <a:solidFill>
                  <a:schemeClr val="tx1"/>
                </a:solidFill>
                <a:latin typeface="+mj-lt"/>
                <a:cs typeface="Fira Sans"/>
              </a:rPr>
              <a:t> </a:t>
            </a:r>
            <a:r>
              <a:rPr lang="en-GB" sz="2000" b="0" i="0" u="none" strike="noStrike" cap="none" spc="0" dirty="0" err="1">
                <a:solidFill>
                  <a:schemeClr val="tx1"/>
                </a:solidFill>
                <a:latin typeface="+mj-lt"/>
                <a:cs typeface="Fira Sans"/>
              </a:rPr>
              <a:t>generieren</a:t>
            </a:r>
            <a:endParaRPr lang="en-GB" sz="2000" b="0" i="0" u="none" strike="noStrike" cap="none" spc="0" dirty="0">
              <a:solidFill>
                <a:schemeClr val="tx1"/>
              </a:solidFill>
              <a:latin typeface="+mj-lt"/>
              <a:cs typeface="Fira Sans"/>
            </a:endParaRPr>
          </a:p>
          <a:p>
            <a:pPr>
              <a:defRPr/>
            </a:pPr>
            <a:r>
              <a:rPr lang="en-GB" sz="2000" b="0" i="0" u="none" strike="noStrike" cap="none" spc="0" dirty="0" err="1">
                <a:solidFill>
                  <a:schemeClr val="tx1"/>
                </a:solidFill>
                <a:latin typeface="+mj-lt"/>
                <a:cs typeface="Fira Sans"/>
              </a:rPr>
              <a:t>Fokus</a:t>
            </a:r>
            <a:r>
              <a:rPr lang="en-GB" sz="2000" b="0" i="0" u="none" strike="noStrike" cap="none" spc="0" dirty="0">
                <a:solidFill>
                  <a:schemeClr val="tx1"/>
                </a:solidFill>
                <a:latin typeface="+mj-lt"/>
                <a:cs typeface="Fira Sans"/>
              </a:rPr>
              <a:t> auf </a:t>
            </a:r>
            <a:r>
              <a:rPr lang="en-GB" sz="2000" b="0" i="0" u="none" strike="noStrike" cap="none" spc="0" dirty="0" err="1">
                <a:solidFill>
                  <a:schemeClr val="tx1"/>
                </a:solidFill>
                <a:latin typeface="+mj-lt"/>
                <a:cs typeface="Fira Sans"/>
              </a:rPr>
              <a:t>Interaktivität</a:t>
            </a:r>
            <a:r>
              <a:rPr lang="en-GB" sz="2000" b="0" i="0" u="none" strike="noStrike" cap="none" spc="0" dirty="0">
                <a:solidFill>
                  <a:schemeClr val="tx1"/>
                </a:solidFill>
                <a:latin typeface="+mj-lt"/>
                <a:cs typeface="Fira Sans"/>
              </a:rPr>
              <a:t>, </a:t>
            </a:r>
            <a:r>
              <a:rPr lang="en-GB" sz="2000" b="0" i="0" u="none" strike="noStrike" cap="none" spc="0" dirty="0" err="1">
                <a:solidFill>
                  <a:schemeClr val="tx1"/>
                </a:solidFill>
                <a:latin typeface="+mj-lt"/>
                <a:cs typeface="Fira Sans"/>
              </a:rPr>
              <a:t>Transitionen</a:t>
            </a:r>
            <a:r>
              <a:rPr lang="en-GB" sz="2000" b="0" i="0" u="none" strike="noStrike" cap="none" spc="0" dirty="0">
                <a:solidFill>
                  <a:schemeClr val="tx1"/>
                </a:solidFill>
                <a:latin typeface="+mj-lt"/>
                <a:cs typeface="Fira Sans"/>
              </a:rPr>
              <a:t> und </a:t>
            </a:r>
            <a:r>
              <a:rPr lang="en-GB" sz="2000" b="0" i="0" u="none" strike="noStrike" cap="none" spc="0" dirty="0" err="1">
                <a:solidFill>
                  <a:schemeClr val="tx1"/>
                </a:solidFill>
                <a:latin typeface="+mj-lt"/>
                <a:cs typeface="Fira Sans"/>
              </a:rPr>
              <a:t>Animationen</a:t>
            </a:r>
            <a:endParaRPr lang="en-GB" sz="2000" i="0" u="none" strike="noStrike" cap="none" spc="0" dirty="0">
              <a:solidFill>
                <a:schemeClr val="tx1"/>
              </a:solidFill>
              <a:latin typeface="+mj-lt"/>
              <a:cs typeface="Fira Sans"/>
            </a:endParaRPr>
          </a:p>
          <a:p>
            <a:pPr>
              <a:defRPr/>
            </a:pPr>
            <a:r>
              <a:rPr lang="en-GB" sz="2000" b="0" dirty="0">
                <a:latin typeface="+mj-lt"/>
              </a:rPr>
              <a:t>Inspiration: </a:t>
            </a:r>
            <a:r>
              <a:rPr lang="en-GB" sz="2000" u="sng" dirty="0">
                <a:latin typeface="+mj-lt"/>
                <a:hlinkClick r:id="rId3" tooltip="https://observablehq.com/@d3/gallery"/>
              </a:rPr>
              <a:t>https://observablehq.com/@d3/gallery</a:t>
            </a:r>
            <a:endParaRPr lang="en-GB" sz="2000" dirty="0">
              <a:latin typeface="+mj-lt"/>
            </a:endParaRPr>
          </a:p>
        </p:txBody>
      </p:sp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37D44ADF-D68C-476C-8782-AA0436E94A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33FA4B0-7731-EC49-88EA-B5E921ABE78A}" type="slidenum">
              <a:rPr lang="de-DE" smtClean="0"/>
              <a:pPr/>
              <a:t>2</a:t>
            </a:fld>
            <a:endParaRPr lang="de-DE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  <a:p>
            <a:pPr lvl="1">
              <a:defRPr/>
            </a:pPr>
            <a:endParaRPr lang="en-GB"/>
          </a:p>
          <a:p>
            <a:pPr lvl="1">
              <a:defRPr/>
            </a:pPr>
            <a:endParaRPr lang="en-GB"/>
          </a:p>
          <a:p>
            <a:pPr>
              <a:defRPr/>
            </a:pPr>
            <a:endParaRPr lang="en-GB"/>
          </a:p>
          <a:p>
            <a:pPr>
              <a:defRPr/>
            </a:pPr>
            <a:endParaRPr lang="en-GB"/>
          </a:p>
          <a:p>
            <a:pPr>
              <a:defRPr/>
            </a:pPr>
            <a:endParaRPr lang="en-GB"/>
          </a:p>
          <a:p>
            <a:pPr>
              <a:defRPr/>
            </a:pPr>
            <a:endParaRPr lang="en-GB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431633" y="1340768"/>
            <a:ext cx="5617042" cy="3777679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6240958" y="1340768"/>
            <a:ext cx="5671754" cy="3994029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 bwMode="auto">
          <a:xfrm>
            <a:off x="2893219" y="6044048"/>
            <a:ext cx="64055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GB" dirty="0"/>
              <a:t>https://observablehq.com/@d3/non-contiguous-cartogram</a:t>
            </a:r>
            <a:endParaRPr dirty="0"/>
          </a:p>
        </p:txBody>
      </p:sp>
      <p:sp>
        <p:nvSpPr>
          <p:cNvPr id="10" name="Title 3">
            <a:extLst>
              <a:ext uri="{FF2B5EF4-FFF2-40B4-BE49-F238E27FC236}">
                <a16:creationId xmlns:a16="http://schemas.microsoft.com/office/drawing/2014/main" id="{9FF20456-00DE-4562-86D3-12CFB9EACADD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838200" y="59502"/>
            <a:ext cx="10515600" cy="562032"/>
          </a:xfrm>
        </p:spPr>
        <p:txBody>
          <a:bodyPr/>
          <a:lstStyle/>
          <a:p>
            <a:pPr>
              <a:defRPr/>
            </a:pPr>
            <a:r>
              <a:rPr lang="en-GB" dirty="0"/>
              <a:t>Mini-Tutorial: D3 – Was </a:t>
            </a:r>
            <a:r>
              <a:rPr lang="en-GB" dirty="0" err="1"/>
              <a:t>ist</a:t>
            </a:r>
            <a:r>
              <a:rPr lang="en-GB" dirty="0"/>
              <a:t> D3?</a:t>
            </a:r>
            <a:endParaRPr dirty="0"/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9B9269C6-E636-489A-8D09-626791063E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33FA4B0-7731-EC49-88EA-B5E921ABE78A}" type="slidenum">
              <a:rPr lang="de-DE" smtClean="0"/>
              <a:pPr/>
              <a:t>3</a:t>
            </a:fld>
            <a:endParaRPr lang="de-DE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  <a:p>
            <a:pPr lvl="1">
              <a:defRPr/>
            </a:pPr>
            <a:endParaRPr lang="en-GB"/>
          </a:p>
          <a:p>
            <a:pPr lvl="1">
              <a:defRPr/>
            </a:pPr>
            <a:endParaRPr lang="en-GB"/>
          </a:p>
          <a:p>
            <a:pPr>
              <a:defRPr/>
            </a:pPr>
            <a:endParaRPr lang="en-GB"/>
          </a:p>
          <a:p>
            <a:pPr>
              <a:defRPr/>
            </a:pPr>
            <a:endParaRPr lang="en-GB"/>
          </a:p>
          <a:p>
            <a:pPr>
              <a:defRPr/>
            </a:pPr>
            <a:endParaRPr lang="en-GB"/>
          </a:p>
          <a:p>
            <a:pPr>
              <a:defRPr/>
            </a:pPr>
            <a:endParaRPr lang="en-GB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446665" y="1034567"/>
            <a:ext cx="4418115" cy="4788866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6384032" y="1149815"/>
            <a:ext cx="4493352" cy="464427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 bwMode="auto">
          <a:xfrm>
            <a:off x="3424435" y="6074913"/>
            <a:ext cx="53431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GB" dirty="0"/>
              <a:t>https://observablehq.com/@d3/zoomable-sunburst</a:t>
            </a:r>
            <a:endParaRPr dirty="0"/>
          </a:p>
        </p:txBody>
      </p:sp>
      <p:sp>
        <p:nvSpPr>
          <p:cNvPr id="11" name="Title 3">
            <a:extLst>
              <a:ext uri="{FF2B5EF4-FFF2-40B4-BE49-F238E27FC236}">
                <a16:creationId xmlns:a16="http://schemas.microsoft.com/office/drawing/2014/main" id="{4C517727-3ED1-4139-9DA8-8A38FC66FE2F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838200" y="59502"/>
            <a:ext cx="10515600" cy="562032"/>
          </a:xfrm>
        </p:spPr>
        <p:txBody>
          <a:bodyPr/>
          <a:lstStyle/>
          <a:p>
            <a:pPr>
              <a:defRPr/>
            </a:pPr>
            <a:r>
              <a:rPr lang="en-GB" dirty="0"/>
              <a:t>Mini-Tutorial: D3 – Was </a:t>
            </a:r>
            <a:r>
              <a:rPr lang="en-GB" dirty="0" err="1"/>
              <a:t>ist</a:t>
            </a:r>
            <a:r>
              <a:rPr lang="en-GB" dirty="0"/>
              <a:t> D3?</a:t>
            </a:r>
            <a:endParaRPr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EFDB446-9F10-470A-9768-B8230B23E8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33FA4B0-7731-EC49-88EA-B5E921ABE78A}" type="slidenum">
              <a:rPr lang="de-DE" smtClean="0"/>
              <a:pPr/>
              <a:t>4</a:t>
            </a:fld>
            <a:endParaRPr lang="de-DE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  <a:p>
            <a:pPr lvl="1">
              <a:defRPr/>
            </a:pPr>
            <a:endParaRPr lang="en-GB"/>
          </a:p>
          <a:p>
            <a:pPr lvl="1">
              <a:defRPr/>
            </a:pPr>
            <a:endParaRPr lang="en-GB"/>
          </a:p>
          <a:p>
            <a:pPr>
              <a:defRPr/>
            </a:pPr>
            <a:endParaRPr lang="en-GB"/>
          </a:p>
          <a:p>
            <a:pPr>
              <a:defRPr/>
            </a:pPr>
            <a:endParaRPr lang="en-GB"/>
          </a:p>
          <a:p>
            <a:pPr>
              <a:defRPr/>
            </a:pPr>
            <a:endParaRPr lang="en-GB"/>
          </a:p>
          <a:p>
            <a:pPr>
              <a:defRPr/>
            </a:pPr>
            <a:endParaRPr lang="en-GB"/>
          </a:p>
        </p:txBody>
      </p:sp>
      <p:sp>
        <p:nvSpPr>
          <p:cNvPr id="10" name="TextBox 9"/>
          <p:cNvSpPr txBox="1"/>
          <p:nvPr/>
        </p:nvSpPr>
        <p:spPr bwMode="auto">
          <a:xfrm>
            <a:off x="4014340" y="6127699"/>
            <a:ext cx="41633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GB" dirty="0"/>
              <a:t>https://observablehq.com/@d3/q-q-plot</a:t>
            </a:r>
            <a:endParaRPr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3815966" y="730301"/>
            <a:ext cx="4560068" cy="5443374"/>
          </a:xfrm>
          <a:prstGeom prst="rect">
            <a:avLst/>
          </a:prstGeom>
        </p:spPr>
      </p:pic>
      <p:sp>
        <p:nvSpPr>
          <p:cNvPr id="8" name="Title 3">
            <a:extLst>
              <a:ext uri="{FF2B5EF4-FFF2-40B4-BE49-F238E27FC236}">
                <a16:creationId xmlns:a16="http://schemas.microsoft.com/office/drawing/2014/main" id="{A5FDB6C1-4950-4069-BB62-9688E3C2DD60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838200" y="59502"/>
            <a:ext cx="10515600" cy="562032"/>
          </a:xfrm>
        </p:spPr>
        <p:txBody>
          <a:bodyPr/>
          <a:lstStyle/>
          <a:p>
            <a:pPr>
              <a:defRPr/>
            </a:pPr>
            <a:r>
              <a:rPr lang="en-GB" dirty="0"/>
              <a:t>Mini-Tutorial: D3 – Was </a:t>
            </a:r>
            <a:r>
              <a:rPr lang="en-GB" dirty="0" err="1"/>
              <a:t>ist</a:t>
            </a:r>
            <a:r>
              <a:rPr lang="en-GB" dirty="0"/>
              <a:t> D3?</a:t>
            </a:r>
            <a:endParaRPr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5599F34-6189-4536-AEA9-E3AF089163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33FA4B0-7731-EC49-88EA-B5E921ABE78A}" type="slidenum">
              <a:rPr lang="de-DE" smtClean="0"/>
              <a:pPr/>
              <a:t>5</a:t>
            </a:fld>
            <a:endParaRPr lang="de-DE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  <a:p>
            <a:pPr lvl="1">
              <a:defRPr/>
            </a:pPr>
            <a:endParaRPr lang="en-GB"/>
          </a:p>
          <a:p>
            <a:pPr lvl="1">
              <a:defRPr/>
            </a:pPr>
            <a:endParaRPr lang="en-GB"/>
          </a:p>
          <a:p>
            <a:pPr>
              <a:defRPr/>
            </a:pPr>
            <a:endParaRPr lang="en-GB"/>
          </a:p>
          <a:p>
            <a:pPr>
              <a:defRPr/>
            </a:pPr>
            <a:endParaRPr lang="en-GB"/>
          </a:p>
          <a:p>
            <a:pPr>
              <a:defRPr/>
            </a:pPr>
            <a:endParaRPr lang="en-GB"/>
          </a:p>
          <a:p>
            <a:pPr>
              <a:defRPr/>
            </a:pPr>
            <a:endParaRPr lang="en-GB"/>
          </a:p>
        </p:txBody>
      </p:sp>
      <p:sp>
        <p:nvSpPr>
          <p:cNvPr id="10" name="TextBox 9"/>
          <p:cNvSpPr txBox="1"/>
          <p:nvPr/>
        </p:nvSpPr>
        <p:spPr bwMode="auto">
          <a:xfrm>
            <a:off x="3604290" y="6153940"/>
            <a:ext cx="48814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GB" dirty="0"/>
              <a:t>https://observablehq.com/@d3/color-schemes</a:t>
            </a:r>
            <a:endParaRPr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3463221" y="732559"/>
            <a:ext cx="5541458" cy="5360266"/>
          </a:xfrm>
          <a:prstGeom prst="rect">
            <a:avLst/>
          </a:prstGeom>
        </p:spPr>
      </p:pic>
      <p:sp>
        <p:nvSpPr>
          <p:cNvPr id="9" name="Title 3">
            <a:extLst>
              <a:ext uri="{FF2B5EF4-FFF2-40B4-BE49-F238E27FC236}">
                <a16:creationId xmlns:a16="http://schemas.microsoft.com/office/drawing/2014/main" id="{B9CE4AC4-9D67-486E-87F9-EE9426864E60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838200" y="59502"/>
            <a:ext cx="10515600" cy="562032"/>
          </a:xfrm>
        </p:spPr>
        <p:txBody>
          <a:bodyPr/>
          <a:lstStyle/>
          <a:p>
            <a:pPr>
              <a:defRPr/>
            </a:pPr>
            <a:r>
              <a:rPr lang="en-GB" dirty="0"/>
              <a:t>Mini-Tutorial: D3 – Was </a:t>
            </a:r>
            <a:r>
              <a:rPr lang="en-GB" dirty="0" err="1"/>
              <a:t>ist</a:t>
            </a:r>
            <a:r>
              <a:rPr lang="en-GB" dirty="0"/>
              <a:t> D3?</a:t>
            </a:r>
            <a:endParaRPr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5ABEFA8-FA50-4936-897C-78F2467188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33FA4B0-7731-EC49-88EA-B5E921ABE78A}" type="slidenum">
              <a:rPr lang="de-DE" smtClean="0"/>
              <a:pPr/>
              <a:t>6</a:t>
            </a:fld>
            <a:endParaRPr lang="de-DE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GB" dirty="0"/>
              <a:t>Mini-Tutorial: D3 – Was </a:t>
            </a:r>
            <a:r>
              <a:rPr lang="en-GB" dirty="0" err="1"/>
              <a:t>ist</a:t>
            </a:r>
            <a:r>
              <a:rPr lang="en-GB" dirty="0"/>
              <a:t> D3?</a:t>
            </a:r>
            <a:endParaRPr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 bwMode="auto"/>
        <p:txBody>
          <a:bodyPr>
            <a:normAutofit/>
          </a:bodyPr>
          <a:lstStyle/>
          <a:p>
            <a:pPr>
              <a:defRPr/>
            </a:pPr>
            <a:r>
              <a:rPr lang="en-GB" sz="2000" dirty="0">
                <a:latin typeface="+mj-lt"/>
              </a:rPr>
              <a:t>D3.js: </a:t>
            </a:r>
            <a:r>
              <a:rPr lang="en-GB" sz="2000" b="1" dirty="0">
                <a:latin typeface="+mj-lt"/>
              </a:rPr>
              <a:t>D</a:t>
            </a:r>
            <a:r>
              <a:rPr lang="en-GB" sz="2000" dirty="0">
                <a:latin typeface="+mj-lt"/>
              </a:rPr>
              <a:t>ata-</a:t>
            </a:r>
            <a:r>
              <a:rPr lang="en-GB" sz="2000" b="1" dirty="0">
                <a:latin typeface="+mj-lt"/>
              </a:rPr>
              <a:t>D</a:t>
            </a:r>
            <a:r>
              <a:rPr lang="en-GB" sz="2000" dirty="0">
                <a:latin typeface="+mj-lt"/>
              </a:rPr>
              <a:t>riven </a:t>
            </a:r>
            <a:r>
              <a:rPr lang="en-GB" sz="2000" b="1" dirty="0">
                <a:latin typeface="+mj-lt"/>
              </a:rPr>
              <a:t>D</a:t>
            </a:r>
            <a:r>
              <a:rPr lang="en-GB" sz="2000" dirty="0">
                <a:latin typeface="+mj-lt"/>
              </a:rPr>
              <a:t>ocuments  (</a:t>
            </a:r>
            <a:r>
              <a:rPr lang="en-GB" sz="2000" u="sng" dirty="0">
                <a:latin typeface="+mj-lt"/>
                <a:hlinkClick r:id="rId2" tooltip="https://d3js.org/"/>
              </a:rPr>
              <a:t>https://d3js.org/</a:t>
            </a:r>
            <a:r>
              <a:rPr lang="en-GB" sz="2000" dirty="0">
                <a:latin typeface="+mj-lt"/>
              </a:rPr>
              <a:t>) (</a:t>
            </a:r>
            <a:r>
              <a:rPr lang="en-GB" sz="2000" dirty="0" err="1">
                <a:latin typeface="+mj-lt"/>
              </a:rPr>
              <a:t>Daten-getriebene</a:t>
            </a:r>
            <a:r>
              <a:rPr lang="en-GB" sz="2000" dirty="0">
                <a:latin typeface="+mj-lt"/>
              </a:rPr>
              <a:t> </a:t>
            </a:r>
            <a:r>
              <a:rPr lang="en-GB" sz="2000" dirty="0" err="1">
                <a:latin typeface="+mj-lt"/>
              </a:rPr>
              <a:t>Dokumente</a:t>
            </a:r>
            <a:r>
              <a:rPr lang="en-GB" sz="2000" dirty="0">
                <a:latin typeface="+mj-lt"/>
              </a:rPr>
              <a:t>)</a:t>
            </a:r>
            <a:endParaRPr sz="2000" dirty="0">
              <a:latin typeface="+mj-lt"/>
            </a:endParaRPr>
          </a:p>
          <a:p>
            <a:pPr>
              <a:defRPr/>
            </a:pPr>
            <a:r>
              <a:rPr lang="en-GB" sz="2000" b="0" i="0" u="none" strike="noStrike" cap="none" spc="0" dirty="0">
                <a:solidFill>
                  <a:schemeClr val="tx1"/>
                </a:solidFill>
                <a:latin typeface="+mj-lt"/>
                <a:cs typeface="Fira Sans"/>
              </a:rPr>
              <a:t>JavaScript </a:t>
            </a:r>
            <a:r>
              <a:rPr lang="en-GB" sz="2000" dirty="0">
                <a:latin typeface="+mj-lt"/>
                <a:cs typeface="Fira Sans"/>
              </a:rPr>
              <a:t>L</a:t>
            </a:r>
            <a:r>
              <a:rPr lang="en-GB" sz="2000" b="0" i="0" u="none" strike="noStrike" cap="none" spc="0" dirty="0">
                <a:solidFill>
                  <a:schemeClr val="tx1"/>
                </a:solidFill>
                <a:latin typeface="+mj-lt"/>
                <a:cs typeface="Fira Sans"/>
              </a:rPr>
              <a:t>ibrary um </a:t>
            </a:r>
            <a:r>
              <a:rPr lang="en-GB" sz="2000" b="0" i="0" u="none" strike="noStrike" cap="none" spc="0" dirty="0" err="1">
                <a:solidFill>
                  <a:schemeClr val="tx1"/>
                </a:solidFill>
                <a:latin typeface="+mj-lt"/>
                <a:cs typeface="Fira Sans"/>
              </a:rPr>
              <a:t>Visualisierungen</a:t>
            </a:r>
            <a:r>
              <a:rPr lang="en-GB" sz="2000" b="0" i="0" u="none" strike="noStrike" cap="none" spc="0" dirty="0">
                <a:solidFill>
                  <a:schemeClr val="tx1"/>
                </a:solidFill>
                <a:latin typeface="+mj-lt"/>
                <a:cs typeface="Fira Sans"/>
              </a:rPr>
              <a:t> </a:t>
            </a:r>
            <a:r>
              <a:rPr lang="en-GB" sz="2000" b="0" i="0" u="none" strike="noStrike" cap="none" spc="0" dirty="0" err="1">
                <a:solidFill>
                  <a:schemeClr val="tx1"/>
                </a:solidFill>
                <a:latin typeface="+mj-lt"/>
                <a:cs typeface="Fira Sans"/>
              </a:rPr>
              <a:t>zu</a:t>
            </a:r>
            <a:r>
              <a:rPr lang="en-GB" sz="2000" b="0" i="0" u="none" strike="noStrike" cap="none" spc="0" dirty="0">
                <a:solidFill>
                  <a:schemeClr val="tx1"/>
                </a:solidFill>
                <a:latin typeface="+mj-lt"/>
                <a:cs typeface="Fira Sans"/>
              </a:rPr>
              <a:t> </a:t>
            </a:r>
            <a:r>
              <a:rPr lang="en-GB" sz="2000" b="0" i="0" u="none" strike="noStrike" cap="none" spc="0" dirty="0" err="1">
                <a:solidFill>
                  <a:schemeClr val="tx1"/>
                </a:solidFill>
                <a:latin typeface="+mj-lt"/>
                <a:cs typeface="Fira Sans"/>
              </a:rPr>
              <a:t>Daten</a:t>
            </a:r>
            <a:r>
              <a:rPr lang="en-GB" sz="2000" b="0" i="0" u="none" strike="noStrike" cap="none" spc="0" dirty="0">
                <a:solidFill>
                  <a:schemeClr val="tx1"/>
                </a:solidFill>
                <a:latin typeface="+mj-lt"/>
                <a:cs typeface="Fira Sans"/>
              </a:rPr>
              <a:t> </a:t>
            </a:r>
            <a:r>
              <a:rPr lang="en-GB" sz="2000" b="0" i="0" u="none" strike="noStrike" cap="none" spc="0" dirty="0" err="1">
                <a:solidFill>
                  <a:schemeClr val="tx1"/>
                </a:solidFill>
                <a:latin typeface="+mj-lt"/>
                <a:cs typeface="Fira Sans"/>
              </a:rPr>
              <a:t>zu</a:t>
            </a:r>
            <a:r>
              <a:rPr lang="en-GB" sz="2000" b="0" i="0" u="none" strike="noStrike" cap="none" spc="0" dirty="0">
                <a:solidFill>
                  <a:schemeClr val="tx1"/>
                </a:solidFill>
                <a:latin typeface="+mj-lt"/>
                <a:cs typeface="Fira Sans"/>
              </a:rPr>
              <a:t> </a:t>
            </a:r>
            <a:r>
              <a:rPr lang="en-GB" sz="2000" b="0" i="0" u="none" strike="noStrike" cap="none" spc="0" dirty="0" err="1">
                <a:solidFill>
                  <a:schemeClr val="tx1"/>
                </a:solidFill>
                <a:latin typeface="+mj-lt"/>
                <a:cs typeface="Fira Sans"/>
              </a:rPr>
              <a:t>generieren</a:t>
            </a:r>
            <a:endParaRPr lang="en-GB" sz="2000" b="0" i="0" u="none" strike="noStrike" cap="none" spc="0" dirty="0">
              <a:solidFill>
                <a:schemeClr val="tx1"/>
              </a:solidFill>
              <a:latin typeface="+mj-lt"/>
              <a:cs typeface="Fira Sans"/>
            </a:endParaRPr>
          </a:p>
          <a:p>
            <a:pPr>
              <a:defRPr/>
            </a:pPr>
            <a:r>
              <a:rPr lang="en-GB" sz="2000" b="0" i="0" u="none" strike="noStrike" cap="none" spc="0" dirty="0" err="1">
                <a:solidFill>
                  <a:schemeClr val="tx1"/>
                </a:solidFill>
                <a:latin typeface="+mj-lt"/>
                <a:cs typeface="Fira Sans"/>
              </a:rPr>
              <a:t>Fokus</a:t>
            </a:r>
            <a:r>
              <a:rPr lang="en-GB" sz="2000" b="0" i="0" u="none" strike="noStrike" cap="none" spc="0" dirty="0">
                <a:solidFill>
                  <a:schemeClr val="tx1"/>
                </a:solidFill>
                <a:latin typeface="+mj-lt"/>
                <a:cs typeface="Fira Sans"/>
              </a:rPr>
              <a:t> auf </a:t>
            </a:r>
            <a:r>
              <a:rPr lang="en-GB" sz="2000" b="0" i="0" u="none" strike="noStrike" cap="none" spc="0" dirty="0" err="1">
                <a:solidFill>
                  <a:schemeClr val="tx1"/>
                </a:solidFill>
                <a:latin typeface="+mj-lt"/>
                <a:cs typeface="Fira Sans"/>
              </a:rPr>
              <a:t>Interaktivität</a:t>
            </a:r>
            <a:r>
              <a:rPr lang="en-GB" sz="2000" b="0" i="0" u="none" strike="noStrike" cap="none" spc="0" dirty="0">
                <a:solidFill>
                  <a:schemeClr val="tx1"/>
                </a:solidFill>
                <a:latin typeface="+mj-lt"/>
                <a:cs typeface="Fira Sans"/>
              </a:rPr>
              <a:t>, </a:t>
            </a:r>
            <a:r>
              <a:rPr lang="en-GB" sz="2000" b="0" i="0" u="none" strike="noStrike" cap="none" spc="0" dirty="0" err="1">
                <a:solidFill>
                  <a:schemeClr val="tx1"/>
                </a:solidFill>
                <a:latin typeface="+mj-lt"/>
                <a:cs typeface="Fira Sans"/>
              </a:rPr>
              <a:t>Transitionen</a:t>
            </a:r>
            <a:r>
              <a:rPr lang="en-GB" sz="2000" b="0" i="0" u="none" strike="noStrike" cap="none" spc="0" dirty="0">
                <a:solidFill>
                  <a:schemeClr val="tx1"/>
                </a:solidFill>
                <a:latin typeface="+mj-lt"/>
                <a:cs typeface="Fira Sans"/>
              </a:rPr>
              <a:t> und </a:t>
            </a:r>
            <a:r>
              <a:rPr lang="en-GB" sz="2000" b="0" i="0" u="none" strike="noStrike" cap="none" spc="0" dirty="0" err="1">
                <a:solidFill>
                  <a:schemeClr val="tx1"/>
                </a:solidFill>
                <a:latin typeface="+mj-lt"/>
                <a:cs typeface="Fira Sans"/>
              </a:rPr>
              <a:t>Animationen</a:t>
            </a:r>
            <a:endParaRPr lang="en-GB" sz="2000" i="0" u="none" strike="noStrike" cap="none" spc="0" dirty="0">
              <a:solidFill>
                <a:schemeClr val="tx1"/>
              </a:solidFill>
              <a:latin typeface="+mj-lt"/>
              <a:cs typeface="Fira Sans"/>
            </a:endParaRPr>
          </a:p>
          <a:p>
            <a:pPr>
              <a:defRPr/>
            </a:pPr>
            <a:r>
              <a:rPr lang="en-GB" sz="2000" b="0" dirty="0">
                <a:latin typeface="+mj-lt"/>
              </a:rPr>
              <a:t>Inspiration: </a:t>
            </a:r>
            <a:r>
              <a:rPr lang="en-GB" sz="2000" u="sng" dirty="0">
                <a:latin typeface="+mj-lt"/>
                <a:hlinkClick r:id="rId3" tooltip="https://observablehq.com/@d3/gallery"/>
              </a:rPr>
              <a:t>https://observablehq.com/@d3/gallery</a:t>
            </a:r>
            <a:endParaRPr lang="en-GB" sz="2000" dirty="0">
              <a:latin typeface="+mj-lt"/>
            </a:endParaRPr>
          </a:p>
        </p:txBody>
      </p:sp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37D44ADF-D68C-476C-8782-AA0436E94A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33FA4B0-7731-EC49-88EA-B5E921ABE78A}" type="slidenum">
              <a:rPr lang="de-DE" smtClean="0"/>
              <a:pPr/>
              <a:t>7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1053245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5677687-4023-4725-B7C7-74D996376F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e-DE" sz="2000" dirty="0"/>
              <a:t>Funktioniert übers Internet im Browser</a:t>
            </a:r>
          </a:p>
          <a:p>
            <a:pPr lvl="1"/>
            <a:r>
              <a:rPr lang="de-DE" sz="2000" dirty="0"/>
              <a:t>Leicht teilbar</a:t>
            </a:r>
          </a:p>
          <a:p>
            <a:r>
              <a:rPr lang="de-DE" sz="2000" dirty="0"/>
              <a:t>Viele Visualisierungen sind einfach implementiert</a:t>
            </a:r>
          </a:p>
          <a:p>
            <a:pPr lvl="1"/>
            <a:r>
              <a:rPr lang="de-DE" sz="2000" dirty="0"/>
              <a:t>Spart viel Zeit!</a:t>
            </a:r>
          </a:p>
          <a:p>
            <a:r>
              <a:rPr lang="de-DE" sz="2000" dirty="0"/>
              <a:t>Volle Kontrolle über alle benötigten Änderungen</a:t>
            </a:r>
          </a:p>
          <a:p>
            <a:pPr lvl="1"/>
            <a:r>
              <a:rPr lang="de-DE" sz="2000" dirty="0"/>
              <a:t>Ermöglicht Anpassung an spezifische Aufgaben</a:t>
            </a:r>
          </a:p>
          <a:p>
            <a:r>
              <a:rPr lang="de-DE" sz="2000" dirty="0"/>
              <a:t>Kann größere Datensätze verarbeiten</a:t>
            </a:r>
          </a:p>
          <a:p>
            <a:pPr lvl="1"/>
            <a:r>
              <a:rPr lang="de-DE" sz="2000" dirty="0"/>
              <a:t>Sehr große Datensätze benötigen weiterhin geeignete Daten-Vorverarbeitung</a:t>
            </a:r>
          </a:p>
          <a:p>
            <a:r>
              <a:rPr lang="de-DE" sz="2000" dirty="0"/>
              <a:t>Open Source, Code wird aktiv gepflegt, erweitert und ist kostenlos!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BB52577-784C-4BD7-8307-6EFD5F72CC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33FA4B0-7731-EC49-88EA-B5E921ABE78A}" type="slidenum">
              <a:rPr lang="de-DE" smtClean="0"/>
              <a:pPr/>
              <a:t>8</a:t>
            </a:fld>
            <a:endParaRPr lang="de-DE" dirty="0"/>
          </a:p>
        </p:txBody>
      </p:sp>
      <p:sp>
        <p:nvSpPr>
          <p:cNvPr id="5" name="Title 3">
            <a:extLst>
              <a:ext uri="{FF2B5EF4-FFF2-40B4-BE49-F238E27FC236}">
                <a16:creationId xmlns:a16="http://schemas.microsoft.com/office/drawing/2014/main" id="{288EA73C-3E9D-4134-97D8-E521E5053C1B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838200" y="59502"/>
            <a:ext cx="10515600" cy="562032"/>
          </a:xfrm>
        </p:spPr>
        <p:txBody>
          <a:bodyPr/>
          <a:lstStyle/>
          <a:p>
            <a:pPr>
              <a:defRPr/>
            </a:pPr>
            <a:r>
              <a:rPr lang="en-GB" sz="3200" dirty="0"/>
              <a:t>Mini-Tutorial: D3 – </a:t>
            </a:r>
            <a:r>
              <a:rPr lang="en-GB" sz="3200" dirty="0" err="1"/>
              <a:t>Warum</a:t>
            </a:r>
            <a:r>
              <a:rPr lang="en-GB" sz="3200" dirty="0"/>
              <a:t> </a:t>
            </a:r>
            <a:r>
              <a:rPr lang="en-GB" sz="3200" dirty="0" err="1"/>
              <a:t>mit</a:t>
            </a:r>
            <a:r>
              <a:rPr lang="en-GB" sz="3200" dirty="0"/>
              <a:t> D3 </a:t>
            </a:r>
            <a:r>
              <a:rPr lang="en-GB" sz="3200" dirty="0" err="1"/>
              <a:t>auseinandersetzen</a:t>
            </a:r>
            <a:r>
              <a:rPr lang="en-GB" sz="3200" dirty="0"/>
              <a:t>?</a:t>
            </a:r>
            <a:endParaRPr sz="3200" dirty="0"/>
          </a:p>
        </p:txBody>
      </p:sp>
    </p:spTree>
    <p:extLst>
      <p:ext uri="{BB962C8B-B14F-4D97-AF65-F5344CB8AC3E}">
        <p14:creationId xmlns:p14="http://schemas.microsoft.com/office/powerpoint/2010/main" val="6913179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 show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GB" dirty="0"/>
              <a:t>Mini-Tutorial: D3 – </a:t>
            </a:r>
            <a:r>
              <a:rPr lang="en-GB" dirty="0" err="1"/>
              <a:t>Visuelle</a:t>
            </a:r>
            <a:r>
              <a:rPr lang="en-GB" dirty="0"/>
              <a:t> Analyse</a:t>
            </a:r>
            <a:endParaRPr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  <a:p>
            <a:pPr lvl="1">
              <a:defRPr/>
            </a:pPr>
            <a:endParaRPr lang="en-GB"/>
          </a:p>
          <a:p>
            <a:pPr lvl="1">
              <a:defRPr/>
            </a:pPr>
            <a:endParaRPr lang="en-GB"/>
          </a:p>
          <a:p>
            <a:pPr>
              <a:defRPr/>
            </a:pPr>
            <a:endParaRPr lang="en-GB"/>
          </a:p>
          <a:p>
            <a:pPr>
              <a:defRPr/>
            </a:pPr>
            <a:endParaRPr lang="en-GB"/>
          </a:p>
          <a:p>
            <a:pPr>
              <a:defRPr/>
            </a:pPr>
            <a:endParaRPr lang="en-GB"/>
          </a:p>
          <a:p>
            <a:pPr>
              <a:defRPr/>
            </a:pPr>
            <a:endParaRPr lang="en-GB"/>
          </a:p>
        </p:txBody>
      </p:sp>
      <p:sp>
        <p:nvSpPr>
          <p:cNvPr id="6" name="Content Placeholder 4"/>
          <p:cNvSpPr txBox="1"/>
          <p:nvPr/>
        </p:nvSpPr>
        <p:spPr bwMode="auto">
          <a:xfrm>
            <a:off x="838201" y="681038"/>
            <a:ext cx="10515600" cy="5868988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179388" indent="-179388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9250" indent="-168275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2400">
                <a:solidFill>
                  <a:schemeClr val="tx1"/>
                </a:solidFill>
                <a:latin typeface="+mn-lt"/>
              </a:defRPr>
            </a:lvl2pPr>
            <a:lvl3pPr marL="538163" indent="-187325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2400">
                <a:solidFill>
                  <a:schemeClr val="tx1"/>
                </a:solidFill>
                <a:latin typeface="+mn-lt"/>
              </a:defRPr>
            </a:lvl3pPr>
            <a:lvl4pPr marL="717550" indent="-173038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2000">
                <a:solidFill>
                  <a:schemeClr val="tx1"/>
                </a:solidFill>
                <a:latin typeface="+mn-lt"/>
              </a:defRPr>
            </a:lvl4pPr>
            <a:lvl5pPr marL="908050" indent="-188913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1365250" indent="-188913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</a:defRPr>
            </a:lvl6pPr>
            <a:lvl7pPr marL="1822450" indent="-188913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</a:defRPr>
            </a:lvl7pPr>
            <a:lvl8pPr marL="2279650" indent="-188913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</a:defRPr>
            </a:lvl8pPr>
            <a:lvl9pPr marL="2736850" indent="-188913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GB" sz="2000" dirty="0">
                <a:latin typeface="+mj-lt"/>
              </a:rPr>
              <a:t>“Visual Analytics combines </a:t>
            </a:r>
            <a:r>
              <a:rPr lang="en-GB" sz="2000" i="1" dirty="0">
                <a:latin typeface="+mj-lt"/>
              </a:rPr>
              <a:t>automated analysis techniques </a:t>
            </a:r>
            <a:r>
              <a:rPr lang="en-GB" sz="2000" dirty="0">
                <a:latin typeface="+mj-lt"/>
              </a:rPr>
              <a:t>with </a:t>
            </a:r>
            <a:r>
              <a:rPr lang="en-GB" sz="2000" b="1" dirty="0">
                <a:latin typeface="+mj-lt"/>
              </a:rPr>
              <a:t>interactive visualization </a:t>
            </a:r>
            <a:r>
              <a:rPr lang="en-GB" sz="2000" dirty="0">
                <a:latin typeface="+mj-lt"/>
              </a:rPr>
              <a:t>for an effective understanding, reasoning and decision making on the basis of very large and complex data sets.” [</a:t>
            </a:r>
            <a:r>
              <a:rPr lang="en-GB" sz="2000" dirty="0" err="1">
                <a:latin typeface="+mj-lt"/>
              </a:rPr>
              <a:t>Keim</a:t>
            </a:r>
            <a:r>
              <a:rPr lang="en-GB" sz="2000" dirty="0">
                <a:latin typeface="+mj-lt"/>
              </a:rPr>
              <a:t> et al. 2008]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2000" dirty="0">
              <a:latin typeface="+mj-lt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GB" sz="2000" b="0" i="0" u="none" strike="noStrike" cap="none" spc="0" dirty="0">
                <a:solidFill>
                  <a:schemeClr val="tx1"/>
                </a:solidFill>
                <a:latin typeface="+mj-lt"/>
                <a:ea typeface="+mn-ea"/>
                <a:cs typeface="+mn-cs"/>
              </a:rPr>
              <a:t>“Die </a:t>
            </a:r>
            <a:r>
              <a:rPr lang="en-GB" sz="2000" b="0" i="0" u="none" strike="noStrike" cap="none" spc="0" dirty="0" err="1">
                <a:solidFill>
                  <a:schemeClr val="tx1"/>
                </a:solidFill>
                <a:latin typeface="+mj-lt"/>
                <a:ea typeface="+mn-ea"/>
                <a:cs typeface="+mn-cs"/>
              </a:rPr>
              <a:t>Visuelle</a:t>
            </a:r>
            <a:r>
              <a:rPr lang="en-GB" sz="2000" b="0" i="0" u="none" strike="noStrike" cap="none" spc="0" dirty="0">
                <a:solidFill>
                  <a:schemeClr val="tx1"/>
                </a:solidFill>
                <a:latin typeface="+mj-lt"/>
                <a:ea typeface="+mn-ea"/>
                <a:cs typeface="+mn-cs"/>
              </a:rPr>
              <a:t> Analyse </a:t>
            </a:r>
            <a:r>
              <a:rPr lang="en-GB" sz="2000" b="0" i="0" u="none" strike="noStrike" cap="none" spc="0" dirty="0" err="1">
                <a:solidFill>
                  <a:schemeClr val="tx1"/>
                </a:solidFill>
                <a:latin typeface="+mj-lt"/>
                <a:ea typeface="+mn-ea"/>
                <a:cs typeface="+mn-cs"/>
              </a:rPr>
              <a:t>kombiniert</a:t>
            </a:r>
            <a:r>
              <a:rPr lang="en-GB" sz="2000" b="0" i="0" u="none" strike="noStrike" cap="none" spc="0" dirty="0">
                <a:solidFill>
                  <a:schemeClr val="tx1"/>
                </a:solidFill>
                <a:latin typeface="+mj-lt"/>
                <a:ea typeface="+mn-ea"/>
                <a:cs typeface="+mn-cs"/>
              </a:rPr>
              <a:t> </a:t>
            </a:r>
            <a:r>
              <a:rPr lang="en-GB" sz="2000" b="0" i="1" u="none" strike="noStrike" cap="none" spc="0" dirty="0" err="1">
                <a:solidFill>
                  <a:schemeClr val="tx1"/>
                </a:solidFill>
                <a:latin typeface="+mj-lt"/>
                <a:ea typeface="+mn-ea"/>
                <a:cs typeface="+mn-cs"/>
              </a:rPr>
              <a:t>automatisierte</a:t>
            </a:r>
            <a:r>
              <a:rPr lang="en-GB" sz="2000" b="0" i="1" u="none" strike="noStrike" cap="none" spc="0" dirty="0">
                <a:solidFill>
                  <a:schemeClr val="tx1"/>
                </a:solidFill>
                <a:latin typeface="+mj-lt"/>
                <a:ea typeface="+mn-ea"/>
                <a:cs typeface="+mn-cs"/>
              </a:rPr>
              <a:t> Analyse-</a:t>
            </a:r>
            <a:r>
              <a:rPr lang="en-GB" sz="2000" b="0" i="1" u="none" strike="noStrike" cap="none" spc="0" dirty="0" err="1">
                <a:solidFill>
                  <a:schemeClr val="tx1"/>
                </a:solidFill>
                <a:latin typeface="+mj-lt"/>
                <a:ea typeface="+mn-ea"/>
                <a:cs typeface="+mn-cs"/>
              </a:rPr>
              <a:t>Verfahren</a:t>
            </a:r>
            <a:r>
              <a:rPr lang="en-GB" sz="2000" b="0" i="0" u="none" strike="noStrike" cap="none" spc="0" dirty="0">
                <a:solidFill>
                  <a:schemeClr val="tx1"/>
                </a:solidFill>
                <a:latin typeface="+mj-lt"/>
                <a:ea typeface="+mn-ea"/>
                <a:cs typeface="+mn-cs"/>
              </a:rPr>
              <a:t> </a:t>
            </a:r>
            <a:r>
              <a:rPr lang="en-GB" sz="2000" b="0" i="0" u="none" strike="noStrike" cap="none" spc="0" dirty="0" err="1">
                <a:solidFill>
                  <a:schemeClr val="tx1"/>
                </a:solidFill>
                <a:latin typeface="+mj-lt"/>
                <a:ea typeface="+mn-ea"/>
                <a:cs typeface="+mn-cs"/>
              </a:rPr>
              <a:t>mit</a:t>
            </a:r>
            <a:br>
              <a:rPr lang="en-GB" sz="2000" b="0" i="0" u="none" strike="noStrike" cap="none" spc="0" dirty="0">
                <a:solidFill>
                  <a:schemeClr val="tx1"/>
                </a:solidFill>
                <a:latin typeface="+mj-lt"/>
                <a:ea typeface="+mn-ea"/>
                <a:cs typeface="+mn-cs"/>
              </a:rPr>
            </a:br>
            <a:r>
              <a:rPr lang="en-GB" sz="2000" b="1" i="0" u="none" strike="noStrike" cap="none" spc="0" dirty="0" err="1">
                <a:solidFill>
                  <a:schemeClr val="tx1"/>
                </a:solidFill>
                <a:latin typeface="+mj-lt"/>
                <a:ea typeface="Arial"/>
                <a:cs typeface="Arial"/>
              </a:rPr>
              <a:t>interaktiven</a:t>
            </a:r>
            <a:r>
              <a:rPr lang="en-GB" sz="2000" b="1" i="0" u="none" strike="noStrike" cap="none" spc="0" dirty="0">
                <a:solidFill>
                  <a:schemeClr val="tx1"/>
                </a:solidFill>
                <a:latin typeface="+mj-lt"/>
                <a:ea typeface="Arial"/>
                <a:cs typeface="Arial"/>
              </a:rPr>
              <a:t> </a:t>
            </a:r>
            <a:r>
              <a:rPr lang="en-GB" sz="2000" b="1" i="0" u="none" strike="noStrike" cap="none" spc="0" dirty="0" err="1">
                <a:solidFill>
                  <a:schemeClr val="tx1"/>
                </a:solidFill>
                <a:latin typeface="+mj-lt"/>
                <a:ea typeface="Arial"/>
                <a:cs typeface="Arial"/>
              </a:rPr>
              <a:t>Visualisierungen</a:t>
            </a:r>
            <a:r>
              <a:rPr lang="en-GB" sz="2000" b="0" i="0" u="none" strike="noStrike" cap="none" spc="0" dirty="0">
                <a:solidFill>
                  <a:schemeClr val="tx1"/>
                </a:solidFill>
                <a:latin typeface="+mj-lt"/>
                <a:ea typeface="Arial"/>
                <a:cs typeface="Arial"/>
              </a:rPr>
              <a:t> </a:t>
            </a:r>
            <a:r>
              <a:rPr lang="en-GB" sz="2000" b="0" i="0" u="none" strike="noStrike" cap="none" spc="0" dirty="0">
                <a:solidFill>
                  <a:schemeClr val="tx1"/>
                </a:solidFill>
                <a:latin typeface="+mj-lt"/>
                <a:ea typeface="+mn-ea"/>
                <a:cs typeface="+mn-cs"/>
              </a:rPr>
              <a:t>um </a:t>
            </a:r>
            <a:r>
              <a:rPr lang="en-GB" sz="2000" b="0" i="0" u="none" strike="noStrike" cap="none" spc="0" dirty="0" err="1">
                <a:solidFill>
                  <a:schemeClr val="tx1"/>
                </a:solidFill>
                <a:latin typeface="+mj-lt"/>
                <a:ea typeface="+mn-ea"/>
                <a:cs typeface="+mn-cs"/>
              </a:rPr>
              <a:t>wirksam</a:t>
            </a:r>
            <a:r>
              <a:rPr lang="en-GB" sz="2000" b="0" i="0" u="none" strike="noStrike" cap="none" spc="0" dirty="0">
                <a:solidFill>
                  <a:schemeClr val="tx1"/>
                </a:solidFill>
                <a:latin typeface="+mj-lt"/>
                <a:ea typeface="+mn-ea"/>
                <a:cs typeface="+mn-cs"/>
              </a:rPr>
              <a:t> das </a:t>
            </a:r>
            <a:r>
              <a:rPr lang="en-GB" sz="2000" b="0" i="0" u="none" strike="noStrike" cap="none" spc="0" dirty="0" err="1">
                <a:solidFill>
                  <a:schemeClr val="tx1"/>
                </a:solidFill>
                <a:latin typeface="+mj-lt"/>
                <a:ea typeface="+mn-ea"/>
                <a:cs typeface="+mn-cs"/>
              </a:rPr>
              <a:t>Verständnis</a:t>
            </a:r>
            <a:r>
              <a:rPr lang="en-GB" sz="2000" b="0" i="0" u="none" strike="noStrike" cap="none" spc="0" dirty="0">
                <a:solidFill>
                  <a:schemeClr val="tx1"/>
                </a:solidFill>
                <a:latin typeface="+mj-lt"/>
                <a:ea typeface="+mn-ea"/>
                <a:cs typeface="+mn-cs"/>
              </a:rPr>
              <a:t>, das </a:t>
            </a:r>
            <a:r>
              <a:rPr lang="en-GB" sz="2000" b="0" i="0" u="none" strike="noStrike" cap="none" spc="0" dirty="0" err="1">
                <a:solidFill>
                  <a:schemeClr val="tx1"/>
                </a:solidFill>
                <a:latin typeface="+mj-lt"/>
                <a:ea typeface="+mn-ea"/>
                <a:cs typeface="+mn-cs"/>
              </a:rPr>
              <a:t>Denken</a:t>
            </a:r>
            <a:r>
              <a:rPr lang="en-GB" sz="2000" b="0" i="0" u="none" strike="noStrike" cap="none" spc="0" dirty="0">
                <a:solidFill>
                  <a:schemeClr val="tx1"/>
                </a:solidFill>
                <a:latin typeface="+mj-lt"/>
                <a:ea typeface="+mn-ea"/>
                <a:cs typeface="+mn-cs"/>
              </a:rPr>
              <a:t> und die </a:t>
            </a:r>
            <a:r>
              <a:rPr lang="en-GB" sz="2000" b="0" i="0" u="none" strike="noStrike" cap="none" spc="0" dirty="0" err="1">
                <a:solidFill>
                  <a:schemeClr val="tx1"/>
                </a:solidFill>
                <a:latin typeface="+mj-lt"/>
                <a:ea typeface="+mn-ea"/>
                <a:cs typeface="+mn-cs"/>
              </a:rPr>
              <a:t>Entscheidungsfindung</a:t>
            </a:r>
            <a:r>
              <a:rPr lang="en-GB" sz="2000" b="0" i="0" u="none" strike="noStrike" cap="none" spc="0" dirty="0">
                <a:solidFill>
                  <a:schemeClr val="tx1"/>
                </a:solidFill>
                <a:latin typeface="+mj-lt"/>
                <a:ea typeface="+mn-ea"/>
                <a:cs typeface="+mn-cs"/>
              </a:rPr>
              <a:t> auf </a:t>
            </a:r>
            <a:r>
              <a:rPr lang="en-GB" sz="2000" b="0" i="0" u="none" strike="noStrike" cap="none" spc="0" dirty="0" err="1">
                <a:solidFill>
                  <a:schemeClr val="tx1"/>
                </a:solidFill>
                <a:latin typeface="+mj-lt"/>
                <a:ea typeface="+mn-ea"/>
                <a:cs typeface="+mn-cs"/>
              </a:rPr>
              <a:t>Grundlage</a:t>
            </a:r>
            <a:r>
              <a:rPr lang="en-GB" sz="2000" b="0" i="0" u="none" strike="noStrike" cap="none" spc="0" dirty="0">
                <a:solidFill>
                  <a:schemeClr val="tx1"/>
                </a:solidFill>
                <a:latin typeface="+mj-lt"/>
                <a:ea typeface="+mn-ea"/>
                <a:cs typeface="+mn-cs"/>
              </a:rPr>
              <a:t> von </a:t>
            </a:r>
            <a:r>
              <a:rPr lang="en-GB" sz="2000" b="0" i="0" u="none" strike="noStrike" cap="none" spc="0" dirty="0" err="1">
                <a:solidFill>
                  <a:schemeClr val="tx1"/>
                </a:solidFill>
                <a:latin typeface="+mj-lt"/>
                <a:ea typeface="+mn-ea"/>
                <a:cs typeface="+mn-cs"/>
              </a:rPr>
              <a:t>sehr</a:t>
            </a:r>
            <a:r>
              <a:rPr lang="en-GB" sz="2000" b="0" i="0" u="none" strike="noStrike" cap="none" spc="0" dirty="0">
                <a:solidFill>
                  <a:schemeClr val="tx1"/>
                </a:solidFill>
                <a:latin typeface="+mj-lt"/>
                <a:ea typeface="+mn-ea"/>
                <a:cs typeface="+mn-cs"/>
              </a:rPr>
              <a:t> </a:t>
            </a:r>
            <a:r>
              <a:rPr lang="en-GB" sz="2000" b="0" i="0" u="none" strike="noStrike" cap="none" spc="0" dirty="0" err="1">
                <a:solidFill>
                  <a:schemeClr val="tx1"/>
                </a:solidFill>
                <a:latin typeface="+mj-lt"/>
                <a:ea typeface="+mn-ea"/>
                <a:cs typeface="+mn-cs"/>
              </a:rPr>
              <a:t>großen</a:t>
            </a:r>
            <a:r>
              <a:rPr lang="en-GB" sz="2000" b="0" i="0" u="none" strike="noStrike" cap="none" spc="0" dirty="0">
                <a:solidFill>
                  <a:schemeClr val="tx1"/>
                </a:solidFill>
                <a:latin typeface="+mj-lt"/>
                <a:ea typeface="+mn-ea"/>
                <a:cs typeface="+mn-cs"/>
              </a:rPr>
              <a:t> und </a:t>
            </a:r>
            <a:r>
              <a:rPr lang="en-GB" sz="2000" b="0" i="0" u="none" strike="noStrike" cap="none" spc="0" dirty="0" err="1">
                <a:solidFill>
                  <a:schemeClr val="tx1"/>
                </a:solidFill>
                <a:latin typeface="+mj-lt"/>
                <a:ea typeface="+mn-ea"/>
                <a:cs typeface="+mn-cs"/>
              </a:rPr>
              <a:t>komplexen</a:t>
            </a:r>
            <a:r>
              <a:rPr lang="en-GB" sz="2000" b="0" i="0" u="none" strike="noStrike" cap="none" spc="0" dirty="0">
                <a:solidFill>
                  <a:schemeClr val="tx1"/>
                </a:solidFill>
                <a:latin typeface="+mj-lt"/>
                <a:ea typeface="+mn-ea"/>
                <a:cs typeface="+mn-cs"/>
              </a:rPr>
              <a:t> </a:t>
            </a:r>
            <a:r>
              <a:rPr lang="en-GB" sz="2000" b="0" i="0" u="none" strike="noStrike" cap="none" spc="0" dirty="0" err="1">
                <a:solidFill>
                  <a:schemeClr val="tx1"/>
                </a:solidFill>
                <a:latin typeface="+mj-lt"/>
                <a:ea typeface="+mn-ea"/>
                <a:cs typeface="+mn-cs"/>
              </a:rPr>
              <a:t>Datensätzen</a:t>
            </a:r>
            <a:r>
              <a:rPr lang="en-GB" sz="2000" b="0" i="0" u="none" strike="noStrike" cap="none" spc="0" dirty="0">
                <a:solidFill>
                  <a:schemeClr val="tx1"/>
                </a:solidFill>
                <a:latin typeface="+mj-lt"/>
                <a:ea typeface="+mn-ea"/>
                <a:cs typeface="+mn-cs"/>
              </a:rPr>
              <a:t> </a:t>
            </a:r>
            <a:r>
              <a:rPr lang="en-GB" sz="2000" b="0" i="0" u="none" strike="noStrike" cap="none" spc="0" dirty="0" err="1">
                <a:solidFill>
                  <a:schemeClr val="tx1"/>
                </a:solidFill>
                <a:latin typeface="+mj-lt"/>
                <a:ea typeface="+mn-ea"/>
                <a:cs typeface="+mn-cs"/>
              </a:rPr>
              <a:t>zu</a:t>
            </a:r>
            <a:r>
              <a:rPr lang="en-GB" sz="2000" b="0" i="0" u="none" strike="noStrike" cap="none" spc="0" dirty="0">
                <a:solidFill>
                  <a:schemeClr val="tx1"/>
                </a:solidFill>
                <a:latin typeface="+mj-lt"/>
                <a:ea typeface="+mn-ea"/>
                <a:cs typeface="+mn-cs"/>
              </a:rPr>
              <a:t> </a:t>
            </a:r>
            <a:r>
              <a:rPr lang="en-GB" sz="2000" b="0" i="0" u="none" strike="noStrike" cap="none" spc="0" dirty="0" err="1">
                <a:solidFill>
                  <a:schemeClr val="tx1"/>
                </a:solidFill>
                <a:latin typeface="+mj-lt"/>
                <a:ea typeface="+mn-ea"/>
                <a:cs typeface="+mn-cs"/>
              </a:rPr>
              <a:t>fördern</a:t>
            </a:r>
            <a:r>
              <a:rPr lang="en-GB" sz="2000" b="0" i="0" u="none" strike="noStrike" cap="none" spc="0" dirty="0">
                <a:solidFill>
                  <a:schemeClr val="tx1"/>
                </a:solidFill>
                <a:latin typeface="+mj-lt"/>
                <a:ea typeface="+mn-ea"/>
                <a:cs typeface="+mn-cs"/>
              </a:rPr>
              <a:t>.” [</a:t>
            </a:r>
            <a:r>
              <a:rPr lang="en-GB" sz="2000" b="0" i="0" u="none" strike="noStrike" cap="none" spc="0" dirty="0" err="1">
                <a:solidFill>
                  <a:schemeClr val="tx1"/>
                </a:solidFill>
                <a:latin typeface="+mj-lt"/>
                <a:ea typeface="+mn-ea"/>
                <a:cs typeface="+mn-cs"/>
              </a:rPr>
              <a:t>Keim</a:t>
            </a:r>
            <a:r>
              <a:rPr lang="en-GB" sz="2000" b="0" i="0" u="none" strike="noStrike" cap="none" spc="0" dirty="0">
                <a:solidFill>
                  <a:schemeClr val="tx1"/>
                </a:solidFill>
                <a:latin typeface="+mj-lt"/>
                <a:ea typeface="+mn-ea"/>
                <a:cs typeface="+mn-cs"/>
              </a:rPr>
              <a:t> et al. 2008]</a:t>
            </a:r>
            <a:endParaRPr sz="2000" dirty="0">
              <a:latin typeface="+mj-lt"/>
            </a:endParaRPr>
          </a:p>
          <a:p>
            <a:pPr lvl="1">
              <a:defRPr/>
            </a:pPr>
            <a:endParaRPr sz="2400" dirty="0"/>
          </a:p>
          <a:p>
            <a:pPr lvl="1">
              <a:defRPr/>
            </a:pPr>
            <a:endParaRPr sz="2400" dirty="0"/>
          </a:p>
          <a:p>
            <a:pPr>
              <a:defRPr/>
            </a:pPr>
            <a:endParaRPr sz="2400" dirty="0"/>
          </a:p>
          <a:p>
            <a:pPr>
              <a:defRPr/>
            </a:pPr>
            <a:endParaRPr sz="2400" dirty="0"/>
          </a:p>
          <a:p>
            <a:pPr>
              <a:defRPr/>
            </a:pPr>
            <a:endParaRPr sz="2400" dirty="0"/>
          </a:p>
          <a:p>
            <a:pPr>
              <a:defRPr/>
            </a:pPr>
            <a:endParaRPr sz="2400" dirty="0"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  <a:defRPr/>
            </a:pPr>
            <a:endParaRPr dirty="0"/>
          </a:p>
          <a:p>
            <a:pPr lvl="1">
              <a:defRPr/>
            </a:pPr>
            <a:endParaRPr lang="en-GB" sz="2000" dirty="0"/>
          </a:p>
          <a:p>
            <a:pPr lvl="1">
              <a:defRPr/>
            </a:pPr>
            <a:endParaRPr lang="en-GB" sz="2000" dirty="0"/>
          </a:p>
          <a:p>
            <a:pPr>
              <a:defRPr/>
            </a:pPr>
            <a:endParaRPr lang="en-GB" dirty="0"/>
          </a:p>
          <a:p>
            <a:pPr>
              <a:defRPr/>
            </a:pPr>
            <a:endParaRPr lang="en-GB" dirty="0"/>
          </a:p>
          <a:p>
            <a:pPr>
              <a:defRPr/>
            </a:pPr>
            <a:endParaRPr lang="en-GB" dirty="0"/>
          </a:p>
          <a:p>
            <a:pPr>
              <a:defRPr/>
            </a:pPr>
            <a:endParaRPr lang="en-GB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1494861" y="3554376"/>
            <a:ext cx="2341923" cy="253844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4375181" y="3782395"/>
            <a:ext cx="3096344" cy="2082412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8893856" y="3554376"/>
            <a:ext cx="1959887" cy="2339526"/>
          </a:xfrm>
          <a:prstGeom prst="rect">
            <a:avLst/>
          </a:prstGeom>
        </p:spPr>
      </p:pic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D6780EEA-903C-4AE7-AE2D-A1F47F4C14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33FA4B0-7731-EC49-88EA-B5E921ABE78A}" type="slidenum">
              <a:rPr lang="de-DE" smtClean="0"/>
              <a:pPr/>
              <a:t>9</a:t>
            </a:fld>
            <a:endParaRPr lang="de-DE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5528A12-A098-489E-BA17-2E39CDC14E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Beispiel: Zeichne ein Achse mit quantitativen Werten</a:t>
            </a:r>
          </a:p>
          <a:p>
            <a:r>
              <a:rPr lang="de-DE" dirty="0"/>
              <a:t>Auf welche Seite zeichne ich die Achse? Links/Unten/Oben/Rechts?</a:t>
            </a:r>
          </a:p>
          <a:p>
            <a:r>
              <a:rPr lang="de-DE" dirty="0"/>
              <a:t>Was ist der maximale Wert? Und das Minimum?</a:t>
            </a:r>
          </a:p>
          <a:p>
            <a:pPr lvl="1"/>
            <a:r>
              <a:rPr lang="de-DE" dirty="0"/>
              <a:t>Welche Bildschirmkoordinaten haben meine Werte?</a:t>
            </a:r>
          </a:p>
          <a:p>
            <a:pPr lvl="1"/>
            <a:r>
              <a:rPr lang="de-DE" dirty="0"/>
              <a:t>Was passiert, wenn ein Wert nicht in die Achse passt?</a:t>
            </a:r>
          </a:p>
          <a:p>
            <a:pPr lvl="2"/>
            <a:r>
              <a:rPr lang="de-DE" dirty="0"/>
              <a:t>Ignorieren? Am Rand befestigen?	</a:t>
            </a:r>
          </a:p>
          <a:p>
            <a:r>
              <a:rPr lang="de-DE" dirty="0"/>
              <a:t> Wie viele Markierungen brauche ich?</a:t>
            </a:r>
          </a:p>
          <a:p>
            <a:pPr lvl="1"/>
            <a:r>
              <a:rPr lang="de-DE" dirty="0"/>
              <a:t>Reguläre Markierungen?</a:t>
            </a:r>
          </a:p>
          <a:p>
            <a:pPr lvl="1"/>
            <a:r>
              <a:rPr lang="de-DE" dirty="0"/>
              <a:t>Schöne Zahlen? z.B. 20 und nicht 19.9.</a:t>
            </a:r>
          </a:p>
          <a:p>
            <a:pPr lvl="2"/>
            <a:r>
              <a:rPr lang="de-DE" dirty="0"/>
              <a:t>Was genau ist eine schöne Zahl?</a:t>
            </a:r>
          </a:p>
          <a:p>
            <a:pPr lvl="1"/>
            <a:r>
              <a:rPr lang="de-DE" dirty="0"/>
              <a:t>Markierungen für logarithmische Achse</a:t>
            </a:r>
          </a:p>
          <a:p>
            <a:r>
              <a:rPr lang="de-DE" dirty="0"/>
              <a:t>Alles Standard in D3. Spart viel Zeit!</a:t>
            </a:r>
          </a:p>
          <a:p>
            <a:endParaRPr lang="de-DE" dirty="0"/>
          </a:p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8B28030-B424-486D-9DCF-6214E8FAEF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33FA4B0-7731-EC49-88EA-B5E921ABE78A}" type="slidenum">
              <a:rPr lang="de-DE" smtClean="0"/>
              <a:pPr/>
              <a:t>10</a:t>
            </a:fld>
            <a:endParaRPr lang="de-DE" dirty="0"/>
          </a:p>
        </p:txBody>
      </p:sp>
      <p:sp>
        <p:nvSpPr>
          <p:cNvPr id="5" name="Title 3">
            <a:extLst>
              <a:ext uri="{FF2B5EF4-FFF2-40B4-BE49-F238E27FC236}">
                <a16:creationId xmlns:a16="http://schemas.microsoft.com/office/drawing/2014/main" id="{21570B54-B711-4162-A7CD-DC1CDF74568F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838200" y="59502"/>
            <a:ext cx="10515600" cy="562032"/>
          </a:xfrm>
        </p:spPr>
        <p:txBody>
          <a:bodyPr/>
          <a:lstStyle/>
          <a:p>
            <a:pPr>
              <a:defRPr/>
            </a:pPr>
            <a:r>
              <a:rPr lang="en-GB" sz="3200" dirty="0"/>
              <a:t>Mini-Tutorial: D3 – </a:t>
            </a:r>
            <a:r>
              <a:rPr lang="en-GB" sz="3200" dirty="0" err="1"/>
              <a:t>Warum</a:t>
            </a:r>
            <a:r>
              <a:rPr lang="en-GB" sz="3200" dirty="0"/>
              <a:t> </a:t>
            </a:r>
            <a:r>
              <a:rPr lang="en-GB" sz="3200" dirty="0" err="1"/>
              <a:t>mit</a:t>
            </a:r>
            <a:r>
              <a:rPr lang="en-GB" sz="3200" dirty="0"/>
              <a:t> D3 </a:t>
            </a:r>
            <a:r>
              <a:rPr lang="en-GB" sz="3200" dirty="0" err="1"/>
              <a:t>auseinandersetzen</a:t>
            </a:r>
            <a:r>
              <a:rPr lang="en-GB" sz="3200" dirty="0"/>
              <a:t>?</a:t>
            </a:r>
            <a:endParaRPr sz="3200" dirty="0"/>
          </a:p>
        </p:txBody>
      </p:sp>
    </p:spTree>
    <p:extLst>
      <p:ext uri="{BB962C8B-B14F-4D97-AF65-F5344CB8AC3E}">
        <p14:creationId xmlns:p14="http://schemas.microsoft.com/office/powerpoint/2010/main" val="8644816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901E394-5E33-47B3-B282-A47F120058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sz="2000" dirty="0"/>
              <a:t>Die Grundlagen von D3 lernen</a:t>
            </a:r>
          </a:p>
          <a:p>
            <a:pPr lvl="1"/>
            <a:r>
              <a:rPr lang="de-DE" sz="2000" dirty="0"/>
              <a:t>Visualisierungen mit D3 erstellen können</a:t>
            </a:r>
          </a:p>
          <a:p>
            <a:pPr lvl="1"/>
            <a:r>
              <a:rPr lang="de-DE" sz="2000" dirty="0"/>
              <a:t>Aktualisierte/geänderte Daten mit D3 verarbeiten können (Interaktion)</a:t>
            </a:r>
          </a:p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75C6474-D959-4020-9D63-285D491919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33FA4B0-7731-EC49-88EA-B5E921ABE78A}" type="slidenum">
              <a:rPr lang="de-DE" smtClean="0"/>
              <a:pPr/>
              <a:t>11</a:t>
            </a:fld>
            <a:endParaRPr lang="de-DE" dirty="0"/>
          </a:p>
        </p:txBody>
      </p:sp>
      <p:sp>
        <p:nvSpPr>
          <p:cNvPr id="5" name="Title 3">
            <a:extLst>
              <a:ext uri="{FF2B5EF4-FFF2-40B4-BE49-F238E27FC236}">
                <a16:creationId xmlns:a16="http://schemas.microsoft.com/office/drawing/2014/main" id="{5FDCC8D3-3FE5-40EF-BA1D-541D85455D2D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838200" y="59502"/>
            <a:ext cx="10515600" cy="562032"/>
          </a:xfrm>
        </p:spPr>
        <p:txBody>
          <a:bodyPr/>
          <a:lstStyle/>
          <a:p>
            <a:pPr>
              <a:defRPr/>
            </a:pPr>
            <a:r>
              <a:rPr lang="en-GB" dirty="0"/>
              <a:t>Mini-Tutorial: D3 – Tutorial </a:t>
            </a:r>
            <a:r>
              <a:rPr lang="en-GB" dirty="0" err="1"/>
              <a:t>Ziel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914879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GB" dirty="0"/>
              <a:t>Mini-Tutorial: D3 – SVG</a:t>
            </a:r>
            <a:endParaRPr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endParaRPr lang="en-GB" dirty="0"/>
          </a:p>
          <a:p>
            <a:pPr lvl="1">
              <a:defRPr/>
            </a:pPr>
            <a:endParaRPr lang="en-GB" dirty="0"/>
          </a:p>
          <a:p>
            <a:pPr lvl="1">
              <a:defRPr/>
            </a:pPr>
            <a:endParaRPr lang="en-GB" dirty="0"/>
          </a:p>
          <a:p>
            <a:pPr>
              <a:defRPr/>
            </a:pPr>
            <a:endParaRPr lang="en-GB" dirty="0"/>
          </a:p>
          <a:p>
            <a:pPr>
              <a:defRPr/>
            </a:pPr>
            <a:endParaRPr lang="en-GB" dirty="0"/>
          </a:p>
          <a:p>
            <a:pPr>
              <a:defRPr/>
            </a:pPr>
            <a:endParaRPr lang="en-GB" dirty="0"/>
          </a:p>
          <a:p>
            <a:pPr>
              <a:defRPr/>
            </a:pPr>
            <a:endParaRPr lang="en-GB" dirty="0"/>
          </a:p>
        </p:txBody>
      </p:sp>
      <p:sp>
        <p:nvSpPr>
          <p:cNvPr id="6" name="Content Placeholder 4"/>
          <p:cNvSpPr txBox="1"/>
          <p:nvPr/>
        </p:nvSpPr>
        <p:spPr bwMode="auto">
          <a:xfrm>
            <a:off x="838200" y="754145"/>
            <a:ext cx="10515600" cy="1875934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179388" indent="-179388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9250" indent="-168275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2400">
                <a:solidFill>
                  <a:schemeClr val="tx1"/>
                </a:solidFill>
                <a:latin typeface="+mn-lt"/>
              </a:defRPr>
            </a:lvl2pPr>
            <a:lvl3pPr marL="538163" indent="-187325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2400">
                <a:solidFill>
                  <a:schemeClr val="tx1"/>
                </a:solidFill>
                <a:latin typeface="+mn-lt"/>
              </a:defRPr>
            </a:lvl3pPr>
            <a:lvl4pPr marL="717550" indent="-173038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2000">
                <a:solidFill>
                  <a:schemeClr val="tx1"/>
                </a:solidFill>
                <a:latin typeface="+mn-lt"/>
              </a:defRPr>
            </a:lvl4pPr>
            <a:lvl5pPr marL="908050" indent="-188913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1365250" indent="-188913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</a:defRPr>
            </a:lvl6pPr>
            <a:lvl7pPr marL="1822450" indent="-188913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</a:defRPr>
            </a:lvl7pPr>
            <a:lvl8pPr marL="2279650" indent="-188913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</a:defRPr>
            </a:lvl8pPr>
            <a:lvl9pPr marL="2736850" indent="-188913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GB" sz="2000" dirty="0" err="1"/>
              <a:t>Vorwissen</a:t>
            </a:r>
            <a:r>
              <a:rPr lang="en-GB" sz="2000" dirty="0"/>
              <a:t>:</a:t>
            </a:r>
            <a:br>
              <a:rPr lang="en-GB" sz="2000" dirty="0"/>
            </a:br>
            <a:r>
              <a:rPr lang="en-GB" sz="2000" dirty="0"/>
              <a:t>D3 </a:t>
            </a:r>
            <a:r>
              <a:rPr lang="en-GB" sz="2000" dirty="0" err="1"/>
              <a:t>zeichnet</a:t>
            </a:r>
            <a:r>
              <a:rPr lang="en-GB" sz="2000" dirty="0"/>
              <a:t> SVGs: </a:t>
            </a:r>
            <a:r>
              <a:rPr lang="en-GB" sz="2000" dirty="0" err="1"/>
              <a:t>skalierbare</a:t>
            </a:r>
            <a:r>
              <a:rPr lang="en-GB" sz="2000" dirty="0"/>
              <a:t> </a:t>
            </a:r>
            <a:r>
              <a:rPr lang="en-GB" sz="2000" dirty="0" err="1"/>
              <a:t>Vektor</a:t>
            </a:r>
            <a:r>
              <a:rPr lang="en-GB" sz="2000" dirty="0"/>
              <a:t> </a:t>
            </a:r>
            <a:r>
              <a:rPr lang="en-GB" sz="2000" dirty="0" err="1"/>
              <a:t>Grafiken</a:t>
            </a:r>
            <a:r>
              <a:rPr lang="en-GB" sz="2000" dirty="0"/>
              <a:t> (Scalable Vector Graphics)</a:t>
            </a:r>
            <a:endParaRPr sz="2000" dirty="0"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GB" sz="2000" u="sng" dirty="0">
                <a:hlinkClick r:id="rId2" tooltip="https://jsfiddle.net/Lwezxgrd/"/>
              </a:rPr>
              <a:t>https://jsfiddle.net/Lwezxgrd/</a:t>
            </a:r>
            <a:endParaRPr lang="en-GB" sz="2000" dirty="0"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2000" dirty="0"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GB" sz="2000" dirty="0" err="1"/>
              <a:t>Anstatt</a:t>
            </a:r>
            <a:r>
              <a:rPr lang="en-GB" sz="2000" dirty="0"/>
              <a:t> </a:t>
            </a:r>
            <a:r>
              <a:rPr lang="en-GB" sz="2000" dirty="0" err="1"/>
              <a:t>einzelne</a:t>
            </a:r>
            <a:r>
              <a:rPr lang="en-GB" sz="2000" dirty="0"/>
              <a:t> </a:t>
            </a:r>
            <a:r>
              <a:rPr lang="en-GB" sz="2000" dirty="0" err="1"/>
              <a:t>Bildpunkte</a:t>
            </a:r>
            <a:r>
              <a:rPr lang="en-GB" sz="2000" dirty="0"/>
              <a:t> (Pixel) </a:t>
            </a:r>
            <a:r>
              <a:rPr lang="en-GB" sz="2000" dirty="0" err="1"/>
              <a:t>zu</a:t>
            </a:r>
            <a:r>
              <a:rPr lang="en-GB" sz="2000" dirty="0"/>
              <a:t> </a:t>
            </a:r>
            <a:r>
              <a:rPr lang="en-GB" sz="2000" dirty="0" err="1"/>
              <a:t>zeichnen</a:t>
            </a:r>
            <a:r>
              <a:rPr lang="en-GB" sz="2000" dirty="0"/>
              <a:t>, </a:t>
            </a:r>
            <a:r>
              <a:rPr lang="en-GB" sz="2000" dirty="0" err="1"/>
              <a:t>wird</a:t>
            </a:r>
            <a:r>
              <a:rPr lang="en-GB" sz="2000" dirty="0"/>
              <a:t> das Bild “</a:t>
            </a:r>
            <a:r>
              <a:rPr lang="en-GB" sz="2000" dirty="0" err="1"/>
              <a:t>konstruiert</a:t>
            </a:r>
            <a:r>
              <a:rPr lang="en-GB" sz="2000" dirty="0"/>
              <a:t>”</a:t>
            </a: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703512" y="3751380"/>
            <a:ext cx="2819400" cy="2771775"/>
          </a:xfrm>
          <a:prstGeom prst="rect">
            <a:avLst/>
          </a:prstGeom>
        </p:spPr>
      </p:pic>
      <p:pic>
        <p:nvPicPr>
          <p:cNvPr id="2014899591" name="Picture 17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1059631" y="2877483"/>
            <a:ext cx="8172450" cy="790574"/>
          </a:xfrm>
          <a:prstGeom prst="rect">
            <a:avLst/>
          </a:prstGeom>
        </p:spPr>
      </p:pic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7AADCB8C-3D00-4AFB-A063-237C8F1A39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33FA4B0-7731-EC49-88EA-B5E921ABE78A}" type="slidenum">
              <a:rPr lang="de-DE" smtClean="0"/>
              <a:pPr/>
              <a:t>12</a:t>
            </a:fld>
            <a:endParaRPr lang="de-DE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GB" dirty="0"/>
              <a:t>Mini-Tutorial: D3 – SVG</a:t>
            </a:r>
            <a:endParaRPr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endParaRPr lang="en-GB" dirty="0"/>
          </a:p>
          <a:p>
            <a:pPr lvl="1">
              <a:defRPr/>
            </a:pPr>
            <a:endParaRPr lang="en-GB" dirty="0"/>
          </a:p>
          <a:p>
            <a:pPr lvl="1">
              <a:defRPr/>
            </a:pPr>
            <a:endParaRPr lang="en-GB" dirty="0"/>
          </a:p>
          <a:p>
            <a:pPr>
              <a:defRPr/>
            </a:pPr>
            <a:endParaRPr lang="en-GB" dirty="0"/>
          </a:p>
          <a:p>
            <a:pPr>
              <a:defRPr/>
            </a:pPr>
            <a:endParaRPr lang="en-GB" dirty="0"/>
          </a:p>
          <a:p>
            <a:pPr>
              <a:defRPr/>
            </a:pPr>
            <a:endParaRPr lang="en-GB" dirty="0"/>
          </a:p>
          <a:p>
            <a:pPr>
              <a:defRPr/>
            </a:pPr>
            <a:endParaRPr lang="en-GB" dirty="0"/>
          </a:p>
        </p:txBody>
      </p:sp>
      <p:sp>
        <p:nvSpPr>
          <p:cNvPr id="6" name="Content Placeholder 4"/>
          <p:cNvSpPr txBox="1"/>
          <p:nvPr/>
        </p:nvSpPr>
        <p:spPr bwMode="auto">
          <a:xfrm>
            <a:off x="838200" y="754145"/>
            <a:ext cx="10515600" cy="1875934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179388" indent="-179388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9250" indent="-168275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2400">
                <a:solidFill>
                  <a:schemeClr val="tx1"/>
                </a:solidFill>
                <a:latin typeface="+mn-lt"/>
              </a:defRPr>
            </a:lvl2pPr>
            <a:lvl3pPr marL="538163" indent="-187325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2400">
                <a:solidFill>
                  <a:schemeClr val="tx1"/>
                </a:solidFill>
                <a:latin typeface="+mn-lt"/>
              </a:defRPr>
            </a:lvl3pPr>
            <a:lvl4pPr marL="717550" indent="-173038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2000">
                <a:solidFill>
                  <a:schemeClr val="tx1"/>
                </a:solidFill>
                <a:latin typeface="+mn-lt"/>
              </a:defRPr>
            </a:lvl4pPr>
            <a:lvl5pPr marL="908050" indent="-188913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1365250" indent="-188913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</a:defRPr>
            </a:lvl6pPr>
            <a:lvl7pPr marL="1822450" indent="-188913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</a:defRPr>
            </a:lvl7pPr>
            <a:lvl8pPr marL="2279650" indent="-188913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</a:defRPr>
            </a:lvl8pPr>
            <a:lvl9pPr marL="2736850" indent="-188913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GB" sz="2000" dirty="0" err="1"/>
              <a:t>Vorwissen</a:t>
            </a:r>
            <a:r>
              <a:rPr lang="en-GB" sz="2000" dirty="0"/>
              <a:t>:</a:t>
            </a:r>
            <a:br>
              <a:rPr lang="en-GB" sz="2000" dirty="0"/>
            </a:br>
            <a:r>
              <a:rPr lang="en-GB" sz="2000" dirty="0"/>
              <a:t>D3 </a:t>
            </a:r>
            <a:r>
              <a:rPr lang="en-GB" sz="2000" dirty="0" err="1"/>
              <a:t>zeichnet</a:t>
            </a:r>
            <a:r>
              <a:rPr lang="en-GB" sz="2000" dirty="0"/>
              <a:t> SVGs: </a:t>
            </a:r>
            <a:r>
              <a:rPr lang="en-GB" sz="2000" dirty="0" err="1"/>
              <a:t>skalierbare</a:t>
            </a:r>
            <a:r>
              <a:rPr lang="en-GB" sz="2000" dirty="0"/>
              <a:t> </a:t>
            </a:r>
            <a:r>
              <a:rPr lang="en-GB" sz="2000" dirty="0" err="1"/>
              <a:t>Vektor</a:t>
            </a:r>
            <a:r>
              <a:rPr lang="en-GB" sz="2000" dirty="0"/>
              <a:t> </a:t>
            </a:r>
            <a:r>
              <a:rPr lang="en-GB" sz="2000" dirty="0" err="1"/>
              <a:t>Grafiken</a:t>
            </a:r>
            <a:r>
              <a:rPr lang="en-GB" sz="2000" dirty="0"/>
              <a:t> (Scalable Vector Graphics)</a:t>
            </a:r>
            <a:endParaRPr sz="2000" dirty="0"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GB" sz="2000" u="sng" dirty="0">
                <a:hlinkClick r:id="rId2" tooltip="https://jsfiddle.net/Lwezxgrd/"/>
              </a:rPr>
              <a:t>https://jsfiddle.net/Lwezxgrd/</a:t>
            </a:r>
            <a:endParaRPr lang="en-GB" sz="2000" dirty="0"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2000" dirty="0"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GB" sz="2000" dirty="0" err="1"/>
              <a:t>Anstatt</a:t>
            </a:r>
            <a:r>
              <a:rPr lang="en-GB" sz="2000" dirty="0"/>
              <a:t> </a:t>
            </a:r>
            <a:r>
              <a:rPr lang="en-GB" sz="2000" dirty="0" err="1"/>
              <a:t>einzelne</a:t>
            </a:r>
            <a:r>
              <a:rPr lang="en-GB" sz="2000" dirty="0"/>
              <a:t> </a:t>
            </a:r>
            <a:r>
              <a:rPr lang="en-GB" sz="2000" dirty="0" err="1"/>
              <a:t>Bildpunkte</a:t>
            </a:r>
            <a:r>
              <a:rPr lang="en-GB" sz="2000" dirty="0"/>
              <a:t> (Pixel) </a:t>
            </a:r>
            <a:r>
              <a:rPr lang="en-GB" sz="2000" dirty="0" err="1"/>
              <a:t>zu</a:t>
            </a:r>
            <a:r>
              <a:rPr lang="en-GB" sz="2000" dirty="0"/>
              <a:t> </a:t>
            </a:r>
            <a:r>
              <a:rPr lang="en-GB" sz="2000" dirty="0" err="1"/>
              <a:t>zeichnen</a:t>
            </a:r>
            <a:r>
              <a:rPr lang="en-GB" sz="2000" dirty="0"/>
              <a:t>, </a:t>
            </a:r>
            <a:r>
              <a:rPr lang="en-GB" sz="2000" dirty="0" err="1"/>
              <a:t>wird</a:t>
            </a:r>
            <a:r>
              <a:rPr lang="en-GB" sz="2000" dirty="0"/>
              <a:t> das Bild “</a:t>
            </a:r>
            <a:r>
              <a:rPr lang="en-GB" sz="2000" dirty="0" err="1"/>
              <a:t>konstruiert</a:t>
            </a:r>
            <a:r>
              <a:rPr lang="en-GB" sz="2000" dirty="0"/>
              <a:t>”</a:t>
            </a: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703512" y="3751380"/>
            <a:ext cx="2819400" cy="2771775"/>
          </a:xfrm>
          <a:prstGeom prst="rect">
            <a:avLst/>
          </a:prstGeom>
        </p:spPr>
      </p:pic>
      <p:pic>
        <p:nvPicPr>
          <p:cNvPr id="2014899591" name="Picture 17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1059631" y="2877483"/>
            <a:ext cx="8172450" cy="790574"/>
          </a:xfrm>
          <a:prstGeom prst="rect">
            <a:avLst/>
          </a:prstGeom>
        </p:spPr>
      </p:pic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7AADCB8C-3D00-4AFB-A063-237C8F1A39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33FA4B0-7731-EC49-88EA-B5E921ABE78A}" type="slidenum">
              <a:rPr lang="de-DE" smtClean="0"/>
              <a:pPr/>
              <a:t>13</a:t>
            </a:fld>
            <a:endParaRPr lang="de-DE" dirty="0"/>
          </a:p>
        </p:txBody>
      </p:sp>
      <p:pic>
        <p:nvPicPr>
          <p:cNvPr id="8" name="Picture 18">
            <a:extLst>
              <a:ext uri="{FF2B5EF4-FFF2-40B4-BE49-F238E27FC236}">
                <a16:creationId xmlns:a16="http://schemas.microsoft.com/office/drawing/2014/main" id="{C1CE5725-12C8-4438-AC42-7D068B84DAB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>
            <a:off x="6075037" y="3939324"/>
            <a:ext cx="4124325" cy="1190625"/>
          </a:xfrm>
          <a:prstGeom prst="rect">
            <a:avLst/>
          </a:prstGeom>
        </p:spPr>
      </p:pic>
      <p:sp>
        <p:nvSpPr>
          <p:cNvPr id="9" name="Rectangle 19">
            <a:extLst>
              <a:ext uri="{FF2B5EF4-FFF2-40B4-BE49-F238E27FC236}">
                <a16:creationId xmlns:a16="http://schemas.microsoft.com/office/drawing/2014/main" id="{8A066F42-38E7-4573-A808-5722228787CF}"/>
              </a:ext>
            </a:extLst>
          </p:cNvPr>
          <p:cNvSpPr/>
          <p:nvPr/>
        </p:nvSpPr>
        <p:spPr bwMode="auto">
          <a:xfrm>
            <a:off x="2639616" y="3733620"/>
            <a:ext cx="936104" cy="415460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10" name="Rectangle 20">
            <a:extLst>
              <a:ext uri="{FF2B5EF4-FFF2-40B4-BE49-F238E27FC236}">
                <a16:creationId xmlns:a16="http://schemas.microsoft.com/office/drawing/2014/main" id="{430DD220-6701-4DD1-A925-A6D30AAE9379}"/>
              </a:ext>
            </a:extLst>
          </p:cNvPr>
          <p:cNvSpPr/>
          <p:nvPr/>
        </p:nvSpPr>
        <p:spPr bwMode="auto">
          <a:xfrm>
            <a:off x="5591944" y="3843212"/>
            <a:ext cx="4896544" cy="1602011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/>
          </a:p>
        </p:txBody>
      </p:sp>
      <p:cxnSp>
        <p:nvCxnSpPr>
          <p:cNvPr id="11" name="Straight Connector 22">
            <a:extLst>
              <a:ext uri="{FF2B5EF4-FFF2-40B4-BE49-F238E27FC236}">
                <a16:creationId xmlns:a16="http://schemas.microsoft.com/office/drawing/2014/main" id="{67CB6BE4-13C8-4EA5-9008-6F71B8BF4B01}"/>
              </a:ext>
            </a:extLst>
          </p:cNvPr>
          <p:cNvCxnSpPr>
            <a:cxnSpLocks/>
          </p:cNvCxnSpPr>
          <p:nvPr/>
        </p:nvCxnSpPr>
        <p:spPr bwMode="auto">
          <a:xfrm>
            <a:off x="3575720" y="3751380"/>
            <a:ext cx="2016224" cy="91832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24">
            <a:extLst>
              <a:ext uri="{FF2B5EF4-FFF2-40B4-BE49-F238E27FC236}">
                <a16:creationId xmlns:a16="http://schemas.microsoft.com/office/drawing/2014/main" id="{C79ACB91-56E9-4109-85B8-AC518BB502FA}"/>
              </a:ext>
            </a:extLst>
          </p:cNvPr>
          <p:cNvCxnSpPr>
            <a:cxnSpLocks/>
          </p:cNvCxnSpPr>
          <p:nvPr/>
        </p:nvCxnSpPr>
        <p:spPr bwMode="auto">
          <a:xfrm>
            <a:off x="3575720" y="4138770"/>
            <a:ext cx="2016224" cy="1306453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62776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GB" dirty="0"/>
              <a:t>Mini-Tutorial: D3 – SVG</a:t>
            </a:r>
            <a:endParaRPr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endParaRPr lang="en-GB" dirty="0"/>
          </a:p>
          <a:p>
            <a:pPr lvl="1">
              <a:defRPr/>
            </a:pPr>
            <a:endParaRPr lang="en-GB" dirty="0"/>
          </a:p>
          <a:p>
            <a:pPr lvl="1">
              <a:defRPr/>
            </a:pPr>
            <a:endParaRPr lang="en-GB" dirty="0"/>
          </a:p>
          <a:p>
            <a:pPr>
              <a:defRPr/>
            </a:pPr>
            <a:endParaRPr lang="en-GB" dirty="0"/>
          </a:p>
          <a:p>
            <a:pPr>
              <a:defRPr/>
            </a:pPr>
            <a:endParaRPr lang="en-GB" dirty="0"/>
          </a:p>
          <a:p>
            <a:pPr>
              <a:defRPr/>
            </a:pPr>
            <a:endParaRPr lang="en-GB" dirty="0"/>
          </a:p>
          <a:p>
            <a:pPr>
              <a:defRPr/>
            </a:pPr>
            <a:endParaRPr lang="en-GB" dirty="0"/>
          </a:p>
        </p:txBody>
      </p:sp>
      <p:sp>
        <p:nvSpPr>
          <p:cNvPr id="6" name="Content Placeholder 4"/>
          <p:cNvSpPr txBox="1"/>
          <p:nvPr/>
        </p:nvSpPr>
        <p:spPr bwMode="auto">
          <a:xfrm>
            <a:off x="838200" y="754144"/>
            <a:ext cx="10515600" cy="281861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179388" indent="-179388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9250" indent="-168275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2400">
                <a:solidFill>
                  <a:schemeClr val="tx1"/>
                </a:solidFill>
                <a:latin typeface="+mn-lt"/>
              </a:defRPr>
            </a:lvl2pPr>
            <a:lvl3pPr marL="538163" indent="-187325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2400">
                <a:solidFill>
                  <a:schemeClr val="tx1"/>
                </a:solidFill>
                <a:latin typeface="+mn-lt"/>
              </a:defRPr>
            </a:lvl3pPr>
            <a:lvl4pPr marL="717550" indent="-173038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2000">
                <a:solidFill>
                  <a:schemeClr val="tx1"/>
                </a:solidFill>
                <a:latin typeface="+mn-lt"/>
              </a:defRPr>
            </a:lvl4pPr>
            <a:lvl5pPr marL="908050" indent="-188913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1365250" indent="-188913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</a:defRPr>
            </a:lvl6pPr>
            <a:lvl7pPr marL="1822450" indent="-188913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</a:defRPr>
            </a:lvl7pPr>
            <a:lvl8pPr marL="2279650" indent="-188913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</a:defRPr>
            </a:lvl8pPr>
            <a:lvl9pPr marL="2736850" indent="-188913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GB" sz="2000" dirty="0" err="1"/>
              <a:t>Vorwissen</a:t>
            </a:r>
            <a:r>
              <a:rPr lang="en-GB" sz="2000" dirty="0"/>
              <a:t>:</a:t>
            </a:r>
            <a:br>
              <a:rPr lang="en-GB" sz="2000" dirty="0"/>
            </a:br>
            <a:r>
              <a:rPr lang="en-GB" sz="2000" dirty="0"/>
              <a:t>D3 </a:t>
            </a:r>
            <a:r>
              <a:rPr lang="en-GB" sz="2000" dirty="0" err="1"/>
              <a:t>zeichnet</a:t>
            </a:r>
            <a:r>
              <a:rPr lang="en-GB" sz="2000" dirty="0"/>
              <a:t> SVGs: </a:t>
            </a:r>
            <a:r>
              <a:rPr lang="en-GB" sz="2000" dirty="0" err="1"/>
              <a:t>skalierbare</a:t>
            </a:r>
            <a:r>
              <a:rPr lang="en-GB" sz="2000" dirty="0"/>
              <a:t> </a:t>
            </a:r>
            <a:r>
              <a:rPr lang="en-GB" sz="2000" dirty="0" err="1"/>
              <a:t>Vektor</a:t>
            </a:r>
            <a:r>
              <a:rPr lang="en-GB" sz="2000" dirty="0"/>
              <a:t> </a:t>
            </a:r>
            <a:r>
              <a:rPr lang="en-GB" sz="2000" dirty="0" err="1"/>
              <a:t>Grafiken</a:t>
            </a:r>
            <a:r>
              <a:rPr lang="en-GB" sz="2000" dirty="0"/>
              <a:t> (Scalable Vector Graphics)</a:t>
            </a:r>
            <a:endParaRPr sz="2000" dirty="0"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GB" sz="2000" u="sng" dirty="0">
                <a:hlinkClick r:id="rId2" tooltip="https://jsfiddle.net/Lwezxgrd/"/>
              </a:rPr>
              <a:t>https://jsfiddle.net/Lwezxgrd/</a:t>
            </a:r>
            <a:endParaRPr lang="en-GB" sz="2000" dirty="0"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2000" dirty="0"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GB" sz="2000" dirty="0" err="1"/>
              <a:t>Anstatt</a:t>
            </a:r>
            <a:r>
              <a:rPr lang="en-GB" sz="2000" dirty="0"/>
              <a:t> </a:t>
            </a:r>
            <a:r>
              <a:rPr lang="en-GB" sz="2000" dirty="0" err="1"/>
              <a:t>einzelne</a:t>
            </a:r>
            <a:r>
              <a:rPr lang="en-GB" sz="2000" dirty="0"/>
              <a:t> </a:t>
            </a:r>
            <a:r>
              <a:rPr lang="en-GB" sz="2000" dirty="0" err="1"/>
              <a:t>Bildpunkte</a:t>
            </a:r>
            <a:r>
              <a:rPr lang="en-GB" sz="2000" dirty="0"/>
              <a:t> (Pixel) </a:t>
            </a:r>
            <a:r>
              <a:rPr lang="en-GB" sz="2000" dirty="0" err="1"/>
              <a:t>zu</a:t>
            </a:r>
            <a:r>
              <a:rPr lang="en-GB" sz="2000" dirty="0"/>
              <a:t> </a:t>
            </a:r>
            <a:r>
              <a:rPr lang="en-GB" sz="2000" dirty="0" err="1"/>
              <a:t>zeichnen</a:t>
            </a:r>
            <a:r>
              <a:rPr lang="en-GB" sz="2000" dirty="0"/>
              <a:t>, </a:t>
            </a:r>
            <a:r>
              <a:rPr lang="en-GB" sz="2000" dirty="0" err="1"/>
              <a:t>wird</a:t>
            </a:r>
            <a:r>
              <a:rPr lang="en-GB" sz="2000" dirty="0"/>
              <a:t> das Bild “</a:t>
            </a:r>
            <a:r>
              <a:rPr lang="en-GB" sz="2000" dirty="0" err="1"/>
              <a:t>konstruiert</a:t>
            </a:r>
            <a:r>
              <a:rPr lang="en-GB" sz="2000" dirty="0"/>
              <a:t>”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en-GB" sz="2000" dirty="0"/>
          </a:p>
          <a:p>
            <a:pPr marL="11113" indent="0">
              <a:buNone/>
              <a:defRPr/>
            </a:pPr>
            <a:r>
              <a:rPr lang="fr-FR" sz="2000" dirty="0" err="1"/>
              <a:t>Nutzvolle</a:t>
            </a:r>
            <a:r>
              <a:rPr lang="fr-FR" sz="2000" dirty="0"/>
              <a:t> Basis </a:t>
            </a:r>
            <a:r>
              <a:rPr lang="fr-FR" sz="2000" dirty="0" err="1"/>
              <a:t>Elemente</a:t>
            </a:r>
            <a:r>
              <a:rPr lang="fr-FR" sz="2000" dirty="0"/>
              <a:t>:</a:t>
            </a:r>
          </a:p>
          <a:p>
            <a:pPr marL="11113" indent="0">
              <a:buNone/>
              <a:defRPr/>
            </a:pPr>
            <a:r>
              <a:rPr lang="fr-FR" sz="2000" dirty="0"/>
              <a:t>Rectangles, </a:t>
            </a:r>
            <a:r>
              <a:rPr lang="fr-FR" sz="2000" dirty="0" err="1"/>
              <a:t>circles</a:t>
            </a:r>
            <a:r>
              <a:rPr lang="fr-FR" sz="2000" dirty="0"/>
              <a:t>, ellipses, </a:t>
            </a:r>
            <a:r>
              <a:rPr lang="fr-FR" sz="2000" dirty="0" err="1"/>
              <a:t>lines</a:t>
            </a:r>
            <a:r>
              <a:rPr lang="fr-FR" sz="2000" dirty="0"/>
              <a:t>, </a:t>
            </a:r>
            <a:r>
              <a:rPr lang="fr-FR" sz="2000" dirty="0" err="1"/>
              <a:t>polygons</a:t>
            </a:r>
            <a:r>
              <a:rPr lang="fr-FR" sz="2000" dirty="0"/>
              <a:t>, </a:t>
            </a:r>
            <a:r>
              <a:rPr lang="fr-FR" sz="2000" dirty="0" err="1"/>
              <a:t>polylines</a:t>
            </a:r>
            <a:r>
              <a:rPr lang="fr-FR" sz="2000" dirty="0"/>
              <a:t>, </a:t>
            </a:r>
            <a:r>
              <a:rPr lang="fr-FR" sz="2000" dirty="0" err="1"/>
              <a:t>text</a:t>
            </a:r>
            <a:r>
              <a:rPr lang="fr-FR" sz="2000" dirty="0"/>
              <a:t>, gradients, etc.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en-GB" sz="2000" dirty="0"/>
          </a:p>
        </p:txBody>
      </p:sp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7AADCB8C-3D00-4AFB-A063-237C8F1A39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33FA4B0-7731-EC49-88EA-B5E921ABE78A}" type="slidenum">
              <a:rPr lang="de-DE" smtClean="0"/>
              <a:pPr/>
              <a:t>14</a:t>
            </a:fld>
            <a:endParaRPr lang="de-DE" dirty="0"/>
          </a:p>
        </p:txBody>
      </p:sp>
      <p:sp>
        <p:nvSpPr>
          <p:cNvPr id="13" name="Rectangle 1">
            <a:extLst>
              <a:ext uri="{FF2B5EF4-FFF2-40B4-BE49-F238E27FC236}">
                <a16:creationId xmlns:a16="http://schemas.microsoft.com/office/drawing/2014/main" id="{1E13D117-B1BC-4CD6-98BB-CC49D67B0B2E}"/>
              </a:ext>
            </a:extLst>
          </p:cNvPr>
          <p:cNvSpPr/>
          <p:nvPr/>
        </p:nvSpPr>
        <p:spPr bwMode="auto">
          <a:xfrm>
            <a:off x="1669683" y="4263081"/>
            <a:ext cx="936104" cy="21602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14" name="Oval 2">
            <a:extLst>
              <a:ext uri="{FF2B5EF4-FFF2-40B4-BE49-F238E27FC236}">
                <a16:creationId xmlns:a16="http://schemas.microsoft.com/office/drawing/2014/main" id="{B2AC84A4-E5F3-4A49-AB15-4026E4DC3EC2}"/>
              </a:ext>
            </a:extLst>
          </p:cNvPr>
          <p:cNvSpPr/>
          <p:nvPr/>
        </p:nvSpPr>
        <p:spPr bwMode="auto">
          <a:xfrm>
            <a:off x="3325867" y="4263081"/>
            <a:ext cx="216024" cy="21602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16" name="Oval 6">
            <a:extLst>
              <a:ext uri="{FF2B5EF4-FFF2-40B4-BE49-F238E27FC236}">
                <a16:creationId xmlns:a16="http://schemas.microsoft.com/office/drawing/2014/main" id="{801601CD-5F43-4C58-BA1F-D2AF198ABA51}"/>
              </a:ext>
            </a:extLst>
          </p:cNvPr>
          <p:cNvSpPr/>
          <p:nvPr/>
        </p:nvSpPr>
        <p:spPr bwMode="auto">
          <a:xfrm>
            <a:off x="4405987" y="4227077"/>
            <a:ext cx="576064" cy="2880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/>
          </a:p>
        </p:txBody>
      </p:sp>
      <p:cxnSp>
        <p:nvCxnSpPr>
          <p:cNvPr id="17" name="Straight Connector 8">
            <a:extLst>
              <a:ext uri="{FF2B5EF4-FFF2-40B4-BE49-F238E27FC236}">
                <a16:creationId xmlns:a16="http://schemas.microsoft.com/office/drawing/2014/main" id="{263CB521-9EE7-4BB0-BAA7-2ADA5CC82B67}"/>
              </a:ext>
            </a:extLst>
          </p:cNvPr>
          <p:cNvCxnSpPr>
            <a:cxnSpLocks/>
          </p:cNvCxnSpPr>
          <p:nvPr/>
        </p:nvCxnSpPr>
        <p:spPr bwMode="auto">
          <a:xfrm>
            <a:off x="5486107" y="4371093"/>
            <a:ext cx="36004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Freeform: Shape 9">
            <a:extLst>
              <a:ext uri="{FF2B5EF4-FFF2-40B4-BE49-F238E27FC236}">
                <a16:creationId xmlns:a16="http://schemas.microsoft.com/office/drawing/2014/main" id="{C9EDC58F-62A4-40C2-99FE-335EB607DA9D}"/>
              </a:ext>
            </a:extLst>
          </p:cNvPr>
          <p:cNvSpPr/>
          <p:nvPr/>
        </p:nvSpPr>
        <p:spPr bwMode="auto">
          <a:xfrm>
            <a:off x="6432108" y="4132968"/>
            <a:ext cx="495300" cy="476250"/>
          </a:xfrm>
          <a:custGeom>
            <a:avLst/>
            <a:gdLst>
              <a:gd name="connsiteX0" fmla="*/ 0 w 495300"/>
              <a:gd name="connsiteY0" fmla="*/ 314325 h 476250"/>
              <a:gd name="connsiteX1" fmla="*/ 0 w 495300"/>
              <a:gd name="connsiteY1" fmla="*/ 314325 h 476250"/>
              <a:gd name="connsiteX2" fmla="*/ 19050 w 495300"/>
              <a:gd name="connsiteY2" fmla="*/ 76200 h 476250"/>
              <a:gd name="connsiteX3" fmla="*/ 9525 w 495300"/>
              <a:gd name="connsiteY3" fmla="*/ 47625 h 476250"/>
              <a:gd name="connsiteX4" fmla="*/ 9525 w 495300"/>
              <a:gd name="connsiteY4" fmla="*/ 28575 h 476250"/>
              <a:gd name="connsiteX5" fmla="*/ 371475 w 495300"/>
              <a:gd name="connsiteY5" fmla="*/ 0 h 476250"/>
              <a:gd name="connsiteX6" fmla="*/ 495300 w 495300"/>
              <a:gd name="connsiteY6" fmla="*/ 123825 h 476250"/>
              <a:gd name="connsiteX7" fmla="*/ 419100 w 495300"/>
              <a:gd name="connsiteY7" fmla="*/ 476250 h 476250"/>
              <a:gd name="connsiteX8" fmla="*/ 352425 w 495300"/>
              <a:gd name="connsiteY8" fmla="*/ 152400 h 476250"/>
              <a:gd name="connsiteX9" fmla="*/ 190500 w 495300"/>
              <a:gd name="connsiteY9" fmla="*/ 447675 h 476250"/>
              <a:gd name="connsiteX10" fmla="*/ 0 w 495300"/>
              <a:gd name="connsiteY10" fmla="*/ 314325 h 476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95300" h="476250" extrusionOk="0">
                <a:moveTo>
                  <a:pt x="0" y="314325"/>
                </a:moveTo>
                <a:lnTo>
                  <a:pt x="0" y="314325"/>
                </a:lnTo>
                <a:cubicBezTo>
                  <a:pt x="6350" y="234950"/>
                  <a:pt x="16208" y="155778"/>
                  <a:pt x="19050" y="76200"/>
                </a:cubicBezTo>
                <a:cubicBezTo>
                  <a:pt x="19408" y="66166"/>
                  <a:pt x="11494" y="57470"/>
                  <a:pt x="9525" y="47625"/>
                </a:cubicBezTo>
                <a:cubicBezTo>
                  <a:pt x="8280" y="41398"/>
                  <a:pt x="9525" y="34925"/>
                  <a:pt x="9525" y="28575"/>
                </a:cubicBezTo>
                <a:lnTo>
                  <a:pt x="371475" y="0"/>
                </a:lnTo>
                <a:lnTo>
                  <a:pt x="495300" y="123825"/>
                </a:lnTo>
                <a:lnTo>
                  <a:pt x="419100" y="476250"/>
                </a:lnTo>
                <a:lnTo>
                  <a:pt x="352425" y="152400"/>
                </a:lnTo>
                <a:lnTo>
                  <a:pt x="190500" y="447675"/>
                </a:lnTo>
                <a:lnTo>
                  <a:pt x="0" y="314325"/>
                </a:lnTo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/>
          </a:p>
        </p:txBody>
      </p:sp>
      <p:pic>
        <p:nvPicPr>
          <p:cNvPr id="19" name="Picture 31" descr="Shape&#10;&#10;Description automatically generated with medium confidence">
            <a:extLst>
              <a:ext uri="{FF2B5EF4-FFF2-40B4-BE49-F238E27FC236}">
                <a16:creationId xmlns:a16="http://schemas.microsoft.com/office/drawing/2014/main" id="{9C836FA7-22EE-4B93-B93B-26DD664973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7628772" y="4050353"/>
            <a:ext cx="843491" cy="740206"/>
          </a:xfrm>
          <a:prstGeom prst="rect">
            <a:avLst/>
          </a:prstGeom>
        </p:spPr>
      </p:pic>
      <p:pic>
        <p:nvPicPr>
          <p:cNvPr id="20" name="Picture 34">
            <a:extLst>
              <a:ext uri="{FF2B5EF4-FFF2-40B4-BE49-F238E27FC236}">
                <a16:creationId xmlns:a16="http://schemas.microsoft.com/office/drawing/2014/main" id="{FCF9DC4F-A76B-45BF-BA6E-DF86C57C02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9795784" y="4070479"/>
            <a:ext cx="908727" cy="601228"/>
          </a:xfrm>
          <a:prstGeom prst="rect">
            <a:avLst/>
          </a:prstGeom>
        </p:spPr>
      </p:pic>
      <p:sp>
        <p:nvSpPr>
          <p:cNvPr id="21" name="TextBox 177004605">
            <a:extLst>
              <a:ext uri="{FF2B5EF4-FFF2-40B4-BE49-F238E27FC236}">
                <a16:creationId xmlns:a16="http://schemas.microsoft.com/office/drawing/2014/main" id="{757FB3D8-681B-4D2A-B8E8-CB5C0B891E9F}"/>
              </a:ext>
            </a:extLst>
          </p:cNvPr>
          <p:cNvSpPr txBox="1"/>
          <p:nvPr/>
        </p:nvSpPr>
        <p:spPr bwMode="auto">
          <a:xfrm>
            <a:off x="8802074" y="4076699"/>
            <a:ext cx="551411" cy="365795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4175993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  <a:p>
            <a:pPr lvl="1">
              <a:defRPr/>
            </a:pPr>
            <a:endParaRPr lang="en-GB"/>
          </a:p>
          <a:p>
            <a:pPr lvl="1">
              <a:defRPr/>
            </a:pPr>
            <a:endParaRPr lang="en-GB"/>
          </a:p>
          <a:p>
            <a:pPr>
              <a:defRPr/>
            </a:pPr>
            <a:endParaRPr lang="en-GB"/>
          </a:p>
          <a:p>
            <a:pPr>
              <a:defRPr/>
            </a:pPr>
            <a:endParaRPr lang="en-GB"/>
          </a:p>
          <a:p>
            <a:pPr>
              <a:defRPr/>
            </a:pPr>
            <a:endParaRPr lang="en-GB"/>
          </a:p>
          <a:p>
            <a:pPr>
              <a:defRPr/>
            </a:pPr>
            <a:endParaRPr lang="en-GB"/>
          </a:p>
        </p:txBody>
      </p:sp>
      <p:sp>
        <p:nvSpPr>
          <p:cNvPr id="6" name="Content Placeholder 4"/>
          <p:cNvSpPr txBox="1"/>
          <p:nvPr/>
        </p:nvSpPr>
        <p:spPr bwMode="auto">
          <a:xfrm>
            <a:off x="838200" y="639292"/>
            <a:ext cx="10515600" cy="6210422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179388" indent="-179388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9250" indent="-168275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2400">
                <a:solidFill>
                  <a:schemeClr val="tx1"/>
                </a:solidFill>
                <a:latin typeface="+mn-lt"/>
              </a:defRPr>
            </a:lvl2pPr>
            <a:lvl3pPr marL="538163" indent="-187325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2400">
                <a:solidFill>
                  <a:schemeClr val="tx1"/>
                </a:solidFill>
                <a:latin typeface="+mn-lt"/>
              </a:defRPr>
            </a:lvl3pPr>
            <a:lvl4pPr marL="717550" indent="-173038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2000">
                <a:solidFill>
                  <a:schemeClr val="tx1"/>
                </a:solidFill>
                <a:latin typeface="+mn-lt"/>
              </a:defRPr>
            </a:lvl4pPr>
            <a:lvl5pPr marL="908050" indent="-188913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1365250" indent="-188913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</a:defRPr>
            </a:lvl6pPr>
            <a:lvl7pPr marL="1822450" indent="-188913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</a:defRPr>
            </a:lvl7pPr>
            <a:lvl8pPr marL="2279650" indent="-188913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</a:defRPr>
            </a:lvl8pPr>
            <a:lvl9pPr marL="2736850" indent="-188913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GB" sz="2000" b="0" i="0" u="none" strike="noStrike" cap="none" spc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Zeichnen</a:t>
            </a:r>
            <a:r>
              <a:rPr lang="en-GB" sz="2000" b="0" i="0" u="none" strike="noStrike" cap="none" spc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GB" sz="2000" b="0" i="0" u="none" strike="noStrike" cap="none" spc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eines</a:t>
            </a:r>
            <a:r>
              <a:rPr lang="en-GB" sz="2000" b="0" i="0" u="none" strike="noStrike" cap="none" spc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GB" sz="2000" b="0" i="0" u="none" strike="noStrike" cap="none" spc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einfachen</a:t>
            </a:r>
            <a:r>
              <a:rPr lang="en-GB" sz="2000" b="0" i="0" u="none" strike="noStrike" cap="none" spc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GB" sz="2000" b="0" i="0" u="none" strike="noStrike" cap="none" spc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Balkendiagramms</a:t>
            </a:r>
            <a:r>
              <a:rPr lang="en-GB" sz="2000" b="0" i="0" u="none" strike="noStrike" cap="none" spc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GB" sz="2000" b="0" i="0" u="sng" strike="noStrike" cap="none" spc="0" dirty="0">
                <a:solidFill>
                  <a:schemeClr val="tx1"/>
                </a:solidFill>
                <a:latin typeface="+mn-lt"/>
                <a:ea typeface="+mn-ea"/>
                <a:cs typeface="+mn-cs"/>
                <a:hlinkClick r:id="rId2" tooltip="https://jsfiddle.net/408unc9t/"/>
              </a:rPr>
              <a:t>https://jsfiddle.net/408unc9t/</a:t>
            </a:r>
            <a:r>
              <a:rPr lang="en-GB" sz="2000" b="0" i="0" u="none" strike="noStrike" cap="none" spc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endParaRPr sz="2000" dirty="0"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2000" dirty="0"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GB" sz="2000" b="0" i="0" u="none" strike="noStrike" cap="none" spc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Die d3 library per URL laden</a:t>
            </a:r>
            <a:endParaRPr sz="20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4366223" y="1300163"/>
            <a:ext cx="5353050" cy="266700"/>
          </a:xfrm>
          <a:prstGeom prst="rect">
            <a:avLst/>
          </a:prstGeom>
        </p:spPr>
      </p:pic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9A8926A-CBB3-45DE-B739-0BC4F88079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33FA4B0-7731-EC49-88EA-B5E921ABE78A}" type="slidenum">
              <a:rPr lang="de-DE" smtClean="0"/>
              <a:pPr/>
              <a:t>15</a:t>
            </a:fld>
            <a:endParaRPr lang="de-DE" dirty="0"/>
          </a:p>
        </p:txBody>
      </p:sp>
      <p:sp>
        <p:nvSpPr>
          <p:cNvPr id="12" name="Title 3">
            <a:extLst>
              <a:ext uri="{FF2B5EF4-FFF2-40B4-BE49-F238E27FC236}">
                <a16:creationId xmlns:a16="http://schemas.microsoft.com/office/drawing/2014/main" id="{D1A4EFD7-1036-4EA0-918A-9C5E712E50F1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838200" y="59502"/>
            <a:ext cx="10515600" cy="562032"/>
          </a:xfrm>
        </p:spPr>
        <p:txBody>
          <a:bodyPr/>
          <a:lstStyle/>
          <a:p>
            <a:pPr>
              <a:defRPr/>
            </a:pPr>
            <a:r>
              <a:rPr lang="en-GB" dirty="0"/>
              <a:t>Mini-Tutorial: D3 – </a:t>
            </a:r>
            <a:r>
              <a:rPr lang="en-GB" dirty="0" err="1"/>
              <a:t>Vorarbeiten</a:t>
            </a:r>
            <a:endParaRPr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  <a:p>
            <a:pPr lvl="1">
              <a:defRPr/>
            </a:pPr>
            <a:endParaRPr lang="en-GB"/>
          </a:p>
          <a:p>
            <a:pPr lvl="1">
              <a:defRPr/>
            </a:pPr>
            <a:endParaRPr lang="en-GB"/>
          </a:p>
          <a:p>
            <a:pPr>
              <a:defRPr/>
            </a:pPr>
            <a:endParaRPr lang="en-GB"/>
          </a:p>
          <a:p>
            <a:pPr>
              <a:defRPr/>
            </a:pPr>
            <a:endParaRPr lang="en-GB"/>
          </a:p>
          <a:p>
            <a:pPr>
              <a:defRPr/>
            </a:pPr>
            <a:endParaRPr lang="en-GB"/>
          </a:p>
          <a:p>
            <a:pPr>
              <a:defRPr/>
            </a:pPr>
            <a:endParaRPr lang="en-GB"/>
          </a:p>
        </p:txBody>
      </p:sp>
      <p:sp>
        <p:nvSpPr>
          <p:cNvPr id="6" name="Content Placeholder 4"/>
          <p:cNvSpPr txBox="1"/>
          <p:nvPr/>
        </p:nvSpPr>
        <p:spPr bwMode="auto">
          <a:xfrm>
            <a:off x="838200" y="639292"/>
            <a:ext cx="10515600" cy="6210422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179388" indent="-179388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9250" indent="-168275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2400">
                <a:solidFill>
                  <a:schemeClr val="tx1"/>
                </a:solidFill>
                <a:latin typeface="+mn-lt"/>
              </a:defRPr>
            </a:lvl2pPr>
            <a:lvl3pPr marL="538163" indent="-187325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2400">
                <a:solidFill>
                  <a:schemeClr val="tx1"/>
                </a:solidFill>
                <a:latin typeface="+mn-lt"/>
              </a:defRPr>
            </a:lvl3pPr>
            <a:lvl4pPr marL="717550" indent="-173038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2000">
                <a:solidFill>
                  <a:schemeClr val="tx1"/>
                </a:solidFill>
                <a:latin typeface="+mn-lt"/>
              </a:defRPr>
            </a:lvl4pPr>
            <a:lvl5pPr marL="908050" indent="-188913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1365250" indent="-188913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</a:defRPr>
            </a:lvl6pPr>
            <a:lvl7pPr marL="1822450" indent="-188913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</a:defRPr>
            </a:lvl7pPr>
            <a:lvl8pPr marL="2279650" indent="-188913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</a:defRPr>
            </a:lvl8pPr>
            <a:lvl9pPr marL="2736850" indent="-188913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GB" sz="2000" b="0" i="0" u="none" strike="noStrike" cap="none" spc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Zeichnen</a:t>
            </a:r>
            <a:r>
              <a:rPr lang="en-GB" sz="2000" b="0" i="0" u="none" strike="noStrike" cap="none" spc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GB" sz="2000" b="0" i="0" u="none" strike="noStrike" cap="none" spc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eines</a:t>
            </a:r>
            <a:r>
              <a:rPr lang="en-GB" sz="2000" b="0" i="0" u="none" strike="noStrike" cap="none" spc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GB" sz="2000" b="0" i="0" u="none" strike="noStrike" cap="none" spc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einfachen</a:t>
            </a:r>
            <a:r>
              <a:rPr lang="en-GB" sz="2000" b="0" i="0" u="none" strike="noStrike" cap="none" spc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GB" sz="2000" b="0" i="0" u="none" strike="noStrike" cap="none" spc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Balkendiagramms</a:t>
            </a:r>
            <a:r>
              <a:rPr lang="en-GB" sz="2000" b="0" i="0" u="none" strike="noStrike" cap="none" spc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GB" sz="2000" b="0" i="0" u="sng" strike="noStrike" cap="none" spc="0" dirty="0">
                <a:solidFill>
                  <a:schemeClr val="tx1"/>
                </a:solidFill>
                <a:latin typeface="+mn-lt"/>
                <a:ea typeface="+mn-ea"/>
                <a:cs typeface="+mn-cs"/>
                <a:hlinkClick r:id="rId2" tooltip="https://jsfiddle.net/408unc9t/"/>
              </a:rPr>
              <a:t>https://jsfiddle.net/408unc9t/</a:t>
            </a:r>
            <a:r>
              <a:rPr lang="en-GB" sz="2000" b="0" i="0" u="none" strike="noStrike" cap="none" spc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endParaRPr sz="2000" dirty="0"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2000" dirty="0"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GB" sz="2000" b="0" i="0" u="none" strike="noStrike" cap="none" spc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Die d3 library per URL laden</a:t>
            </a:r>
            <a:endParaRPr sz="2000" dirty="0"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2000" dirty="0"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GB" sz="2000" b="0" i="0" u="none" strike="noStrike" cap="none" spc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HTML und CSS </a:t>
            </a:r>
            <a:r>
              <a:rPr lang="en-GB" sz="2000" b="0" i="0" u="none" strike="noStrike" cap="none" spc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für</a:t>
            </a:r>
            <a:r>
              <a:rPr lang="en-GB" sz="2000" b="0" i="0" u="none" strike="noStrike" cap="none" spc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die </a:t>
            </a:r>
            <a:r>
              <a:rPr lang="en-GB" sz="2000" b="0" i="0" u="none" strike="noStrike" cap="none" spc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Seitenstruktur</a:t>
            </a:r>
            <a:r>
              <a:rPr lang="en-GB" sz="2000" b="0" i="0" u="none" strike="noStrike" cap="none" spc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GB" sz="2000" b="0" i="0" u="none" strike="noStrike" cap="none" spc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vorbereiten</a:t>
            </a:r>
            <a:endParaRPr sz="2000" dirty="0"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2000" dirty="0"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2000" dirty="0"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2000" dirty="0"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2000" dirty="0"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2000" dirty="0">
              <a:solidFill>
                <a:schemeClr val="accent1"/>
              </a:solidFill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2000" dirty="0">
              <a:solidFill>
                <a:schemeClr val="accent1"/>
              </a:solidFill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2000" dirty="0">
              <a:solidFill>
                <a:schemeClr val="accent1"/>
              </a:solidFill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GB" sz="2000" b="0" i="0" u="none" strike="noStrike" cap="none" spc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Dazu </a:t>
            </a:r>
            <a:r>
              <a:rPr lang="en-GB" sz="2000" b="0" i="0" u="none" strike="noStrike" cap="none" spc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ein</a:t>
            </a:r>
            <a:r>
              <a:rPr lang="en-GB" sz="2000" b="0" i="0" u="none" strike="noStrike" cap="none" spc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Button, </a:t>
            </a:r>
            <a:r>
              <a:rPr lang="en-GB" sz="2000" b="0" i="0" u="none" strike="noStrike" cap="none" spc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mit</a:t>
            </a:r>
            <a:r>
              <a:rPr lang="en-GB" sz="2000" b="0" i="0" u="none" strike="noStrike" cap="none" spc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GB" sz="2000" b="0" i="0" u="none" strike="noStrike" cap="none" spc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dem</a:t>
            </a:r>
            <a:r>
              <a:rPr lang="en-GB" sz="2000" b="0" i="0" u="none" strike="noStrike" cap="none" spc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die </a:t>
            </a:r>
            <a:r>
              <a:rPr lang="en-GB" sz="2000" b="0" i="0" u="none" strike="noStrike" cap="none" spc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Visualisierung</a:t>
            </a:r>
            <a:r>
              <a:rPr lang="en-GB" sz="2000" b="0" i="0" u="none" strike="noStrike" cap="none" spc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GB" sz="2000" b="0" i="0" u="none" strike="noStrike" cap="none" spc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erzeugt</a:t>
            </a:r>
            <a:r>
              <a:rPr lang="en-GB" sz="2000" b="0" i="0" u="none" strike="noStrike" cap="none" spc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GB" sz="2000" b="0" i="0" u="none" strike="noStrike" cap="none" spc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wird</a:t>
            </a:r>
            <a:br>
              <a:rPr lang="en-GB" sz="2000" b="0" i="0" u="none" strike="noStrike" cap="none" spc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GB" sz="2000" b="0" i="0" u="none" strike="noStrike" cap="none" spc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Das </a:t>
            </a:r>
            <a:r>
              <a:rPr lang="en-GB" sz="2000" b="0" i="0" u="none" strike="noStrike" cap="none" spc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ganze</a:t>
            </a:r>
            <a:r>
              <a:rPr lang="en-GB" sz="2000" b="0" i="0" u="none" strike="noStrike" cap="none" spc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in </a:t>
            </a:r>
            <a:r>
              <a:rPr lang="en-GB" sz="2000" b="0" i="0" u="none" strike="noStrike" cap="none" spc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einem</a:t>
            </a:r>
            <a:r>
              <a:rPr lang="en-GB" sz="2000" b="0" i="0" u="none" strike="noStrike" cap="none" spc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Grid-Layout </a:t>
            </a:r>
            <a:r>
              <a:rPr lang="en-GB" sz="2000" b="0" i="0" u="none" strike="noStrike" cap="none" spc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zur</a:t>
            </a:r>
            <a:r>
              <a:rPr lang="en-GB" sz="2000" b="0" i="0" u="none" strike="noStrike" cap="none" spc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GB" sz="2000" b="0" i="0" u="none" strike="noStrike" cap="none" spc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einfachen</a:t>
            </a:r>
            <a:r>
              <a:rPr lang="en-GB" sz="2000" b="0" i="0" u="none" strike="noStrike" cap="none" spc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GB" sz="2000" b="0" i="0" u="none" strike="noStrike" cap="none" spc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Strukturierung</a:t>
            </a:r>
            <a:endParaRPr lang="en-GB" sz="2000" b="0" i="0" u="none" strike="noStrike" cap="none" spc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en-GB" sz="2000" dirty="0"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GB" sz="2000" dirty="0"/>
              <a:t>“auto” </a:t>
            </a:r>
            <a:r>
              <a:rPr lang="en-GB" sz="2000" dirty="0" err="1"/>
              <a:t>für</a:t>
            </a:r>
            <a:r>
              <a:rPr lang="en-GB" sz="2000" dirty="0"/>
              <a:t> “width” und “height” sodas es </a:t>
            </a:r>
            <a:r>
              <a:rPr lang="en-GB" sz="2000" dirty="0" err="1"/>
              <a:t>skaliert</a:t>
            </a:r>
            <a:endParaRPr sz="20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4366223" y="1300163"/>
            <a:ext cx="5353050" cy="2667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838200" y="2315010"/>
            <a:ext cx="7315200" cy="200977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>
            <a:off x="9273839" y="1886385"/>
            <a:ext cx="2752725" cy="48768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 bwMode="auto">
          <a:xfrm>
            <a:off x="9480376" y="4005064"/>
            <a:ext cx="2664295" cy="432048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9A8926A-CBB3-45DE-B739-0BC4F88079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33FA4B0-7731-EC49-88EA-B5E921ABE78A}" type="slidenum">
              <a:rPr lang="de-DE" smtClean="0"/>
              <a:pPr/>
              <a:t>16</a:t>
            </a:fld>
            <a:endParaRPr lang="de-DE" dirty="0"/>
          </a:p>
        </p:txBody>
      </p:sp>
      <p:sp>
        <p:nvSpPr>
          <p:cNvPr id="12" name="Title 3">
            <a:extLst>
              <a:ext uri="{FF2B5EF4-FFF2-40B4-BE49-F238E27FC236}">
                <a16:creationId xmlns:a16="http://schemas.microsoft.com/office/drawing/2014/main" id="{D1A4EFD7-1036-4EA0-918A-9C5E712E50F1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838200" y="59502"/>
            <a:ext cx="10515600" cy="562032"/>
          </a:xfrm>
        </p:spPr>
        <p:txBody>
          <a:bodyPr/>
          <a:lstStyle/>
          <a:p>
            <a:pPr>
              <a:defRPr/>
            </a:pPr>
            <a:r>
              <a:rPr lang="en-GB" dirty="0"/>
              <a:t>Mini-Tutorial: D3 – </a:t>
            </a:r>
            <a:r>
              <a:rPr lang="en-GB" dirty="0" err="1"/>
              <a:t>Vorarbeiten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434628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GB" sz="3600" dirty="0"/>
              <a:t>Mini-Tutorial: D3 – </a:t>
            </a:r>
            <a:r>
              <a:rPr lang="en-GB" sz="3600" dirty="0" err="1"/>
              <a:t>Einfaches</a:t>
            </a:r>
            <a:r>
              <a:rPr lang="en-GB" sz="3600" dirty="0"/>
              <a:t> </a:t>
            </a:r>
            <a:r>
              <a:rPr lang="en-GB" sz="3600" dirty="0" err="1"/>
              <a:t>Balkendiagramm</a:t>
            </a:r>
            <a:endParaRPr sz="3600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  <a:p>
            <a:pPr lvl="1">
              <a:defRPr/>
            </a:pPr>
            <a:endParaRPr lang="en-GB"/>
          </a:p>
          <a:p>
            <a:pPr lvl="1">
              <a:defRPr/>
            </a:pPr>
            <a:endParaRPr lang="en-GB"/>
          </a:p>
          <a:p>
            <a:pPr>
              <a:defRPr/>
            </a:pPr>
            <a:endParaRPr lang="en-GB"/>
          </a:p>
          <a:p>
            <a:pPr>
              <a:defRPr/>
            </a:pPr>
            <a:endParaRPr lang="en-GB"/>
          </a:p>
          <a:p>
            <a:pPr>
              <a:defRPr/>
            </a:pPr>
            <a:endParaRPr lang="en-GB"/>
          </a:p>
          <a:p>
            <a:pPr>
              <a:defRPr/>
            </a:pPr>
            <a:endParaRPr lang="en-GB"/>
          </a:p>
        </p:txBody>
      </p:sp>
      <p:sp>
        <p:nvSpPr>
          <p:cNvPr id="6" name="Content Placeholder 4"/>
          <p:cNvSpPr txBox="1"/>
          <p:nvPr/>
        </p:nvSpPr>
        <p:spPr bwMode="auto">
          <a:xfrm>
            <a:off x="838200" y="639292"/>
            <a:ext cx="10515600" cy="6210422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179388" indent="-179388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9250" indent="-168275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2400">
                <a:solidFill>
                  <a:schemeClr val="tx1"/>
                </a:solidFill>
                <a:latin typeface="+mn-lt"/>
              </a:defRPr>
            </a:lvl2pPr>
            <a:lvl3pPr marL="538163" indent="-187325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2400">
                <a:solidFill>
                  <a:schemeClr val="tx1"/>
                </a:solidFill>
                <a:latin typeface="+mn-lt"/>
              </a:defRPr>
            </a:lvl3pPr>
            <a:lvl4pPr marL="717550" indent="-173038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2000">
                <a:solidFill>
                  <a:schemeClr val="tx1"/>
                </a:solidFill>
                <a:latin typeface="+mn-lt"/>
              </a:defRPr>
            </a:lvl4pPr>
            <a:lvl5pPr marL="908050" indent="-188913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1365250" indent="-188913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</a:defRPr>
            </a:lvl6pPr>
            <a:lvl7pPr marL="1822450" indent="-188913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</a:defRPr>
            </a:lvl7pPr>
            <a:lvl8pPr marL="2279650" indent="-188913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</a:defRPr>
            </a:lvl8pPr>
            <a:lvl9pPr marL="2736850" indent="-188913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GB" sz="2000" b="0" i="0" u="none" strike="noStrike" cap="none" spc="0" dirty="0" err="1">
                <a:solidFill>
                  <a:schemeClr val="tx1"/>
                </a:solidFill>
                <a:latin typeface="+mj-lt"/>
                <a:ea typeface="Arial"/>
                <a:cs typeface="Arial"/>
              </a:rPr>
              <a:t>Zeichnen</a:t>
            </a:r>
            <a:r>
              <a:rPr lang="en-GB" sz="2000" b="0" i="0" u="none" strike="noStrike" cap="none" spc="0" dirty="0">
                <a:solidFill>
                  <a:schemeClr val="tx1"/>
                </a:solidFill>
                <a:latin typeface="+mj-lt"/>
                <a:ea typeface="Arial"/>
                <a:cs typeface="Arial"/>
              </a:rPr>
              <a:t> </a:t>
            </a:r>
            <a:r>
              <a:rPr lang="en-GB" sz="2000" b="0" i="0" u="none" strike="noStrike" cap="none" spc="0" dirty="0" err="1">
                <a:solidFill>
                  <a:schemeClr val="tx1"/>
                </a:solidFill>
                <a:latin typeface="+mj-lt"/>
                <a:ea typeface="Arial"/>
                <a:cs typeface="Arial"/>
              </a:rPr>
              <a:t>eines</a:t>
            </a:r>
            <a:r>
              <a:rPr lang="en-GB" sz="2000" b="0" i="0" u="none" strike="noStrike" cap="none" spc="0" dirty="0">
                <a:solidFill>
                  <a:schemeClr val="tx1"/>
                </a:solidFill>
                <a:latin typeface="+mj-lt"/>
                <a:ea typeface="Arial"/>
                <a:cs typeface="Arial"/>
              </a:rPr>
              <a:t> </a:t>
            </a:r>
            <a:r>
              <a:rPr lang="en-GB" sz="2000" b="0" i="0" u="none" strike="noStrike" cap="none" spc="0" dirty="0" err="1">
                <a:solidFill>
                  <a:schemeClr val="tx1"/>
                </a:solidFill>
                <a:latin typeface="+mj-lt"/>
                <a:ea typeface="Arial"/>
                <a:cs typeface="Arial"/>
              </a:rPr>
              <a:t>einfachen</a:t>
            </a:r>
            <a:r>
              <a:rPr lang="en-GB" sz="2000" b="0" i="0" u="none" strike="noStrike" cap="none" spc="0" dirty="0">
                <a:solidFill>
                  <a:schemeClr val="tx1"/>
                </a:solidFill>
                <a:latin typeface="+mj-lt"/>
                <a:ea typeface="Arial"/>
                <a:cs typeface="Arial"/>
              </a:rPr>
              <a:t> </a:t>
            </a:r>
            <a:r>
              <a:rPr lang="en-GB" sz="2000" b="0" i="0" u="none" strike="noStrike" cap="none" spc="0" dirty="0" err="1">
                <a:solidFill>
                  <a:schemeClr val="tx1"/>
                </a:solidFill>
                <a:latin typeface="+mj-lt"/>
                <a:ea typeface="Arial"/>
                <a:cs typeface="Arial"/>
              </a:rPr>
              <a:t>Balkendiagramms</a:t>
            </a:r>
            <a:r>
              <a:rPr lang="en-GB" sz="2000" dirty="0">
                <a:latin typeface="+mj-lt"/>
              </a:rPr>
              <a:t> </a:t>
            </a:r>
            <a:r>
              <a:rPr lang="en-GB" sz="2000" u="sng" dirty="0">
                <a:latin typeface="+mj-lt"/>
                <a:hlinkClick r:id="rId2" tooltip="https://jsfiddle.net/408unc9t/"/>
              </a:rPr>
              <a:t>https://jsfiddle.net/408unc9t/ </a:t>
            </a:r>
            <a:endParaRPr lang="en-GB" sz="2000" dirty="0">
              <a:latin typeface="+mj-lt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GB" sz="2000" dirty="0" err="1">
                <a:latin typeface="+mj-lt"/>
              </a:rPr>
              <a:t>Künstliche</a:t>
            </a:r>
            <a:r>
              <a:rPr lang="en-GB" sz="2000" dirty="0">
                <a:latin typeface="+mj-lt"/>
              </a:rPr>
              <a:t> </a:t>
            </a:r>
            <a:r>
              <a:rPr lang="en-GB" sz="2000" dirty="0" err="1">
                <a:latin typeface="+mj-lt"/>
              </a:rPr>
              <a:t>Daten</a:t>
            </a:r>
            <a:r>
              <a:rPr lang="en-GB" sz="2000" dirty="0">
                <a:latin typeface="+mj-lt"/>
              </a:rPr>
              <a:t>: </a:t>
            </a:r>
            <a:r>
              <a:rPr lang="en-GB" sz="2000" dirty="0" err="1">
                <a:latin typeface="+mj-lt"/>
              </a:rPr>
              <a:t>Anzahl</a:t>
            </a:r>
            <a:r>
              <a:rPr lang="en-GB" sz="2000" dirty="0">
                <a:latin typeface="+mj-lt"/>
              </a:rPr>
              <a:t> der </a:t>
            </a:r>
            <a:r>
              <a:rPr lang="en-GB" sz="2000" dirty="0" err="1">
                <a:latin typeface="+mj-lt"/>
              </a:rPr>
              <a:t>Dönerläden</a:t>
            </a:r>
            <a:r>
              <a:rPr lang="en-GB" sz="2000" dirty="0">
                <a:latin typeface="+mj-lt"/>
              </a:rPr>
              <a:t> pro Stadt (</a:t>
            </a:r>
            <a:r>
              <a:rPr lang="en-GB" sz="2000" dirty="0" err="1">
                <a:latin typeface="+mj-lt"/>
              </a:rPr>
              <a:t>Zahlen</a:t>
            </a:r>
            <a:r>
              <a:rPr lang="en-GB" sz="2000" dirty="0">
                <a:latin typeface="+mj-lt"/>
              </a:rPr>
              <a:t> </a:t>
            </a:r>
            <a:r>
              <a:rPr lang="en-GB" sz="2000" dirty="0" err="1">
                <a:latin typeface="+mj-lt"/>
              </a:rPr>
              <a:t>ausgedacht</a:t>
            </a:r>
            <a:r>
              <a:rPr lang="en-GB" sz="2000" dirty="0">
                <a:latin typeface="+mj-lt"/>
              </a:rPr>
              <a:t>)</a:t>
            </a:r>
            <a:endParaRPr sz="2400" dirty="0">
              <a:latin typeface="+mj-lt"/>
            </a:endParaRP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4386262" y="1725500"/>
            <a:ext cx="3419475" cy="4448175"/>
          </a:xfrm>
          <a:prstGeom prst="rect">
            <a:avLst/>
          </a:prstGeom>
        </p:spPr>
      </p:pic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3507F28D-D271-4E48-AE90-CCA92F33AE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33FA4B0-7731-EC49-88EA-B5E921ABE78A}" type="slidenum">
              <a:rPr lang="de-DE" smtClean="0"/>
              <a:pPr/>
              <a:t>17</a:t>
            </a:fld>
            <a:endParaRPr lang="de-DE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7034086" name="Content Placeholder 4"/>
          <p:cNvSpPr txBox="1"/>
          <p:nvPr/>
        </p:nvSpPr>
        <p:spPr bwMode="auto">
          <a:xfrm>
            <a:off x="838201" y="639291"/>
            <a:ext cx="10515600" cy="621042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179387" indent="-179387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9249" indent="-168274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2400">
                <a:solidFill>
                  <a:schemeClr val="tx1"/>
                </a:solidFill>
                <a:latin typeface="+mn-lt"/>
              </a:defRPr>
            </a:lvl2pPr>
            <a:lvl3pPr marL="538162" indent="-187324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2400">
                <a:solidFill>
                  <a:schemeClr val="tx1"/>
                </a:solidFill>
                <a:latin typeface="+mn-lt"/>
              </a:defRPr>
            </a:lvl3pPr>
            <a:lvl4pPr marL="717549" indent="-173037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2000">
                <a:solidFill>
                  <a:schemeClr val="tx1"/>
                </a:solidFill>
                <a:latin typeface="+mn-lt"/>
              </a:defRPr>
            </a:lvl4pPr>
            <a:lvl5pPr marL="908049" indent="-188912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1365249" indent="-188912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</a:defRPr>
            </a:lvl6pPr>
            <a:lvl7pPr marL="1822449" indent="-188912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</a:defRPr>
            </a:lvl7pPr>
            <a:lvl8pPr marL="2279649" indent="-188912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</a:defRPr>
            </a:lvl8pPr>
            <a:lvl9pPr marL="2736849" indent="-188912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GB" sz="2000" b="0" i="0" u="none" strike="noStrike" cap="none" spc="0" dirty="0" err="1">
                <a:solidFill>
                  <a:schemeClr val="tx1"/>
                </a:solidFill>
                <a:latin typeface="+mj-lt"/>
                <a:ea typeface="Arial"/>
                <a:cs typeface="Arial"/>
              </a:rPr>
              <a:t>Zeichnen</a:t>
            </a:r>
            <a:r>
              <a:rPr lang="en-GB" sz="2000" b="0" i="0" u="none" strike="noStrike" cap="none" spc="0" dirty="0">
                <a:solidFill>
                  <a:schemeClr val="tx1"/>
                </a:solidFill>
                <a:latin typeface="+mj-lt"/>
                <a:ea typeface="Arial"/>
                <a:cs typeface="Arial"/>
              </a:rPr>
              <a:t> </a:t>
            </a:r>
            <a:r>
              <a:rPr lang="en-GB" sz="2000" b="0" i="0" u="none" strike="noStrike" cap="none" spc="0" dirty="0" err="1">
                <a:solidFill>
                  <a:schemeClr val="tx1"/>
                </a:solidFill>
                <a:latin typeface="+mj-lt"/>
                <a:ea typeface="Arial"/>
                <a:cs typeface="Arial"/>
              </a:rPr>
              <a:t>eines</a:t>
            </a:r>
            <a:r>
              <a:rPr lang="en-GB" sz="2000" b="0" i="0" u="none" strike="noStrike" cap="none" spc="0" dirty="0">
                <a:solidFill>
                  <a:schemeClr val="tx1"/>
                </a:solidFill>
                <a:latin typeface="+mj-lt"/>
                <a:ea typeface="Arial"/>
                <a:cs typeface="Arial"/>
              </a:rPr>
              <a:t> </a:t>
            </a:r>
            <a:r>
              <a:rPr lang="en-GB" sz="2000" b="0" i="0" u="none" strike="noStrike" cap="none" spc="0" dirty="0" err="1">
                <a:solidFill>
                  <a:schemeClr val="tx1"/>
                </a:solidFill>
                <a:latin typeface="+mj-lt"/>
                <a:ea typeface="Arial"/>
                <a:cs typeface="Arial"/>
              </a:rPr>
              <a:t>einfachen</a:t>
            </a:r>
            <a:r>
              <a:rPr lang="en-GB" sz="2000" b="0" i="0" u="none" strike="noStrike" cap="none" spc="0" dirty="0">
                <a:solidFill>
                  <a:schemeClr val="tx1"/>
                </a:solidFill>
                <a:latin typeface="+mj-lt"/>
                <a:ea typeface="Arial"/>
                <a:cs typeface="Arial"/>
              </a:rPr>
              <a:t> </a:t>
            </a:r>
            <a:r>
              <a:rPr lang="en-GB" sz="2000" b="0" i="0" u="none" strike="noStrike" cap="none" spc="0" dirty="0" err="1">
                <a:solidFill>
                  <a:schemeClr val="tx1"/>
                </a:solidFill>
                <a:latin typeface="+mj-lt"/>
                <a:ea typeface="Arial"/>
                <a:cs typeface="Arial"/>
              </a:rPr>
              <a:t>Balkendiagramms</a:t>
            </a:r>
            <a:r>
              <a:rPr lang="en-GB" sz="2000" dirty="0">
                <a:latin typeface="+mj-lt"/>
              </a:rPr>
              <a:t> </a:t>
            </a:r>
            <a:r>
              <a:rPr lang="en-GB" sz="2000" u="sng" dirty="0">
                <a:latin typeface="+mj-lt"/>
                <a:hlinkClick r:id="rId2" tooltip="https://jsfiddle.net/408unc9t/"/>
              </a:rPr>
              <a:t>https://jsfiddle.net/408unc9t/ </a:t>
            </a:r>
            <a:endParaRPr lang="en-GB" sz="2000" dirty="0">
              <a:latin typeface="+mj-lt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en-GB" sz="2000" dirty="0">
              <a:latin typeface="+mj-lt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GB" sz="2000" b="0" i="0" u="none" strike="noStrike" cap="none" spc="0" dirty="0" err="1">
                <a:solidFill>
                  <a:schemeClr val="tx1"/>
                </a:solidFill>
                <a:latin typeface="+mj-lt"/>
                <a:ea typeface="Arial"/>
                <a:cs typeface="Arial"/>
              </a:rPr>
              <a:t>Elemente</a:t>
            </a:r>
            <a:r>
              <a:rPr lang="en-GB" sz="2000" b="0" i="0" u="none" strike="noStrike" cap="none" spc="0" dirty="0">
                <a:solidFill>
                  <a:schemeClr val="tx1"/>
                </a:solidFill>
                <a:latin typeface="+mj-lt"/>
                <a:ea typeface="Arial"/>
                <a:cs typeface="Arial"/>
              </a:rPr>
              <a:t> </a:t>
            </a:r>
            <a:r>
              <a:rPr lang="en-GB" sz="2000" b="0" i="0" u="none" strike="noStrike" cap="none" spc="0" dirty="0" err="1">
                <a:solidFill>
                  <a:schemeClr val="tx1"/>
                </a:solidFill>
                <a:latin typeface="+mj-lt"/>
                <a:ea typeface="Arial"/>
                <a:cs typeface="Arial"/>
              </a:rPr>
              <a:t>mit</a:t>
            </a:r>
            <a:r>
              <a:rPr lang="en-GB" sz="2000" b="0" i="0" u="none" strike="noStrike" cap="none" spc="0" dirty="0">
                <a:solidFill>
                  <a:schemeClr val="tx1"/>
                </a:solidFill>
                <a:latin typeface="+mj-lt"/>
                <a:ea typeface="Arial"/>
                <a:cs typeface="Arial"/>
              </a:rPr>
              <a:t> d3 </a:t>
            </a:r>
            <a:r>
              <a:rPr lang="en-GB" sz="2000" b="0" i="0" u="none" strike="noStrike" cap="none" spc="0" dirty="0" err="1">
                <a:solidFill>
                  <a:schemeClr val="tx1"/>
                </a:solidFill>
                <a:latin typeface="+mj-lt"/>
                <a:ea typeface="Arial"/>
                <a:cs typeface="Arial"/>
              </a:rPr>
              <a:t>auswählen</a:t>
            </a:r>
            <a:endParaRPr sz="2000" dirty="0">
              <a:latin typeface="+mj-lt"/>
            </a:endParaRPr>
          </a:p>
          <a:p>
            <a:pPr>
              <a:buFont typeface="Arial" panose="020B0604020202020204" pitchFamily="34" charset="0"/>
              <a:buChar char="•"/>
              <a:defRPr/>
            </a:pPr>
            <a:r>
              <a:rPr lang="en-GB" sz="2000" b="0" i="0" u="none" strike="noStrike" cap="none" spc="0" dirty="0" err="1">
                <a:solidFill>
                  <a:schemeClr val="tx1"/>
                </a:solidFill>
                <a:latin typeface="+mj-lt"/>
                <a:ea typeface="Arial"/>
                <a:cs typeface="Arial"/>
              </a:rPr>
              <a:t>Funktionsweise</a:t>
            </a:r>
            <a:r>
              <a:rPr lang="en-GB" sz="2000" b="0" i="0" u="none" strike="noStrike" cap="none" spc="0" dirty="0">
                <a:solidFill>
                  <a:schemeClr val="tx1"/>
                </a:solidFill>
                <a:latin typeface="+mj-lt"/>
                <a:ea typeface="Arial"/>
                <a:cs typeface="Arial"/>
              </a:rPr>
              <a:t> </a:t>
            </a:r>
            <a:r>
              <a:rPr lang="en-GB" sz="2000" b="0" i="0" u="none" strike="noStrike" cap="none" spc="0" dirty="0" err="1">
                <a:solidFill>
                  <a:schemeClr val="tx1"/>
                </a:solidFill>
                <a:latin typeface="+mj-lt"/>
                <a:ea typeface="Arial"/>
                <a:cs typeface="Arial"/>
              </a:rPr>
              <a:t>wie</a:t>
            </a:r>
            <a:r>
              <a:rPr lang="en-GB" sz="2000" b="0" i="0" u="none" strike="noStrike" cap="none" spc="0" dirty="0">
                <a:solidFill>
                  <a:schemeClr val="tx1"/>
                </a:solidFill>
                <a:latin typeface="+mj-lt"/>
                <a:ea typeface="Arial"/>
                <a:cs typeface="Arial"/>
              </a:rPr>
              <a:t> in </a:t>
            </a:r>
            <a:r>
              <a:rPr lang="en-GB" sz="2000" b="0" i="0" u="none" strike="noStrike" cap="none" spc="0" dirty="0" err="1">
                <a:solidFill>
                  <a:schemeClr val="tx1"/>
                </a:solidFill>
                <a:latin typeface="+mj-lt"/>
                <a:ea typeface="Arial"/>
                <a:cs typeface="Arial"/>
              </a:rPr>
              <a:t>css</a:t>
            </a:r>
            <a:r>
              <a:rPr lang="en-GB" sz="2000" b="0" i="0" u="none" strike="noStrike" cap="none" spc="0" dirty="0">
                <a:solidFill>
                  <a:schemeClr val="tx1"/>
                </a:solidFill>
                <a:latin typeface="+mj-lt"/>
                <a:ea typeface="Arial"/>
                <a:cs typeface="Arial"/>
              </a:rPr>
              <a:t>, </a:t>
            </a:r>
            <a:r>
              <a:rPr lang="en-GB" sz="2000" b="0" i="0" u="none" strike="noStrike" cap="none" spc="0" dirty="0" err="1">
                <a:solidFill>
                  <a:schemeClr val="tx1"/>
                </a:solidFill>
                <a:latin typeface="+mj-lt"/>
                <a:ea typeface="Arial"/>
                <a:cs typeface="Arial"/>
              </a:rPr>
              <a:t>wobei</a:t>
            </a:r>
            <a:r>
              <a:rPr lang="en-GB" sz="2000" b="0" i="0" u="none" strike="noStrike" cap="none" spc="0" dirty="0">
                <a:solidFill>
                  <a:schemeClr val="tx1"/>
                </a:solidFill>
                <a:latin typeface="+mj-lt"/>
                <a:ea typeface="Arial"/>
                <a:cs typeface="Arial"/>
              </a:rPr>
              <a:t> “#” das Element </a:t>
            </a:r>
            <a:r>
              <a:rPr lang="en-GB" sz="2000" b="0" i="0" u="none" strike="noStrike" cap="none" spc="0" dirty="0" err="1">
                <a:solidFill>
                  <a:schemeClr val="tx1"/>
                </a:solidFill>
                <a:latin typeface="+mj-lt"/>
                <a:ea typeface="Arial"/>
                <a:cs typeface="Arial"/>
              </a:rPr>
              <a:t>mit</a:t>
            </a:r>
            <a:r>
              <a:rPr lang="en-GB" sz="2000" b="0" i="0" u="none" strike="noStrike" cap="none" spc="0" dirty="0">
                <a:solidFill>
                  <a:schemeClr val="tx1"/>
                </a:solidFill>
                <a:latin typeface="+mj-lt"/>
                <a:ea typeface="Arial"/>
                <a:cs typeface="Arial"/>
              </a:rPr>
              <a:t> </a:t>
            </a:r>
            <a:r>
              <a:rPr lang="en-GB" sz="2000" b="0" i="0" u="none" strike="noStrike" cap="none" spc="0" dirty="0" err="1">
                <a:solidFill>
                  <a:schemeClr val="tx1"/>
                </a:solidFill>
                <a:latin typeface="+mj-lt"/>
                <a:ea typeface="Arial"/>
                <a:cs typeface="Arial"/>
              </a:rPr>
              <a:t>entsprechender</a:t>
            </a:r>
            <a:r>
              <a:rPr lang="en-GB" sz="2000" b="0" i="0" u="none" strike="noStrike" cap="none" spc="0" dirty="0">
                <a:solidFill>
                  <a:schemeClr val="tx1"/>
                </a:solidFill>
                <a:latin typeface="+mj-lt"/>
                <a:ea typeface="Arial"/>
                <a:cs typeface="Arial"/>
              </a:rPr>
              <a:t> id </a:t>
            </a:r>
            <a:r>
              <a:rPr lang="en-GB" sz="2000" b="0" i="0" u="none" strike="noStrike" cap="none" spc="0" dirty="0" err="1">
                <a:solidFill>
                  <a:schemeClr val="tx1"/>
                </a:solidFill>
                <a:latin typeface="+mj-lt"/>
                <a:ea typeface="Arial"/>
                <a:cs typeface="Arial"/>
              </a:rPr>
              <a:t>auswählt</a:t>
            </a:r>
            <a:endParaRPr lang="en-GB" sz="2000" dirty="0">
              <a:latin typeface="+mj-lt"/>
              <a:ea typeface="Arial"/>
              <a:cs typeface="Arial"/>
            </a:endParaRPr>
          </a:p>
          <a:p>
            <a:pPr>
              <a:buFont typeface="Arial" panose="020B0604020202020204" pitchFamily="34" charset="0"/>
              <a:buChar char="•"/>
              <a:defRPr/>
            </a:pPr>
            <a:r>
              <a:rPr lang="de-DE" sz="2000" dirty="0">
                <a:latin typeface="+mj-lt"/>
              </a:rPr>
              <a:t>Mit “.”                                  werden alle Elemente derselben Klasse ausgewählt: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4214366" y="1352809"/>
            <a:ext cx="3048000" cy="2095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0E26FB6-B37A-4785-8A40-D8F07AFE43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1982675" y="1932977"/>
            <a:ext cx="2042571" cy="203503"/>
          </a:xfrm>
          <a:prstGeom prst="rect">
            <a:avLst/>
          </a:prstGeom>
        </p:spPr>
      </p:pic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85D6AE99-1014-49BE-865E-74A7CC9045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33FA4B0-7731-EC49-88EA-B5E921ABE78A}" type="slidenum">
              <a:rPr lang="de-DE" smtClean="0"/>
              <a:pPr/>
              <a:t>18</a:t>
            </a:fld>
            <a:endParaRPr lang="de-DE" dirty="0"/>
          </a:p>
        </p:txBody>
      </p:sp>
      <p:sp>
        <p:nvSpPr>
          <p:cNvPr id="11" name="Title 3">
            <a:extLst>
              <a:ext uri="{FF2B5EF4-FFF2-40B4-BE49-F238E27FC236}">
                <a16:creationId xmlns:a16="http://schemas.microsoft.com/office/drawing/2014/main" id="{53867CD3-4EF7-446C-A16D-81CB1B6C9596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838200" y="59502"/>
            <a:ext cx="10515600" cy="562032"/>
          </a:xfrm>
        </p:spPr>
        <p:txBody>
          <a:bodyPr/>
          <a:lstStyle/>
          <a:p>
            <a:pPr>
              <a:defRPr/>
            </a:pPr>
            <a:r>
              <a:rPr lang="en-GB" sz="3600" dirty="0"/>
              <a:t>Mini-Tutorial: D3 – </a:t>
            </a:r>
            <a:r>
              <a:rPr lang="en-GB" sz="3600" dirty="0" err="1"/>
              <a:t>Einfaches</a:t>
            </a:r>
            <a:r>
              <a:rPr lang="en-GB" sz="3600" dirty="0"/>
              <a:t> </a:t>
            </a:r>
            <a:r>
              <a:rPr lang="en-GB" sz="3600" dirty="0" err="1"/>
              <a:t>Balkendiagramm</a:t>
            </a:r>
            <a:endParaRPr sz="3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7034086" name="Content Placeholder 4"/>
          <p:cNvSpPr txBox="1"/>
          <p:nvPr/>
        </p:nvSpPr>
        <p:spPr bwMode="auto">
          <a:xfrm>
            <a:off x="838201" y="639291"/>
            <a:ext cx="10515600" cy="621042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179387" indent="-179387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9249" indent="-168274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2400">
                <a:solidFill>
                  <a:schemeClr val="tx1"/>
                </a:solidFill>
                <a:latin typeface="+mn-lt"/>
              </a:defRPr>
            </a:lvl2pPr>
            <a:lvl3pPr marL="538162" indent="-187324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2400">
                <a:solidFill>
                  <a:schemeClr val="tx1"/>
                </a:solidFill>
                <a:latin typeface="+mn-lt"/>
              </a:defRPr>
            </a:lvl3pPr>
            <a:lvl4pPr marL="717549" indent="-173037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2000">
                <a:solidFill>
                  <a:schemeClr val="tx1"/>
                </a:solidFill>
                <a:latin typeface="+mn-lt"/>
              </a:defRPr>
            </a:lvl4pPr>
            <a:lvl5pPr marL="908049" indent="-188912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1365249" indent="-188912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</a:defRPr>
            </a:lvl6pPr>
            <a:lvl7pPr marL="1822449" indent="-188912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</a:defRPr>
            </a:lvl7pPr>
            <a:lvl8pPr marL="2279649" indent="-188912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</a:defRPr>
            </a:lvl8pPr>
            <a:lvl9pPr marL="2736849" indent="-188912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GB" sz="2000" b="0" i="0" u="none" strike="noStrike" cap="none" spc="0" dirty="0" err="1">
                <a:solidFill>
                  <a:schemeClr val="tx1"/>
                </a:solidFill>
                <a:latin typeface="+mj-lt"/>
                <a:ea typeface="Arial"/>
                <a:cs typeface="Arial"/>
              </a:rPr>
              <a:t>Zeichnen</a:t>
            </a:r>
            <a:r>
              <a:rPr lang="en-GB" sz="2000" b="0" i="0" u="none" strike="noStrike" cap="none" spc="0" dirty="0">
                <a:solidFill>
                  <a:schemeClr val="tx1"/>
                </a:solidFill>
                <a:latin typeface="+mj-lt"/>
                <a:ea typeface="Arial"/>
                <a:cs typeface="Arial"/>
              </a:rPr>
              <a:t> </a:t>
            </a:r>
            <a:r>
              <a:rPr lang="en-GB" sz="2000" b="0" i="0" u="none" strike="noStrike" cap="none" spc="0" dirty="0" err="1">
                <a:solidFill>
                  <a:schemeClr val="tx1"/>
                </a:solidFill>
                <a:latin typeface="+mj-lt"/>
                <a:ea typeface="Arial"/>
                <a:cs typeface="Arial"/>
              </a:rPr>
              <a:t>eines</a:t>
            </a:r>
            <a:r>
              <a:rPr lang="en-GB" sz="2000" b="0" i="0" u="none" strike="noStrike" cap="none" spc="0" dirty="0">
                <a:solidFill>
                  <a:schemeClr val="tx1"/>
                </a:solidFill>
                <a:latin typeface="+mj-lt"/>
                <a:ea typeface="Arial"/>
                <a:cs typeface="Arial"/>
              </a:rPr>
              <a:t> </a:t>
            </a:r>
            <a:r>
              <a:rPr lang="en-GB" sz="2000" b="0" i="0" u="none" strike="noStrike" cap="none" spc="0" dirty="0" err="1">
                <a:solidFill>
                  <a:schemeClr val="tx1"/>
                </a:solidFill>
                <a:latin typeface="+mj-lt"/>
                <a:ea typeface="Arial"/>
                <a:cs typeface="Arial"/>
              </a:rPr>
              <a:t>einfachen</a:t>
            </a:r>
            <a:r>
              <a:rPr lang="en-GB" sz="2000" b="0" i="0" u="none" strike="noStrike" cap="none" spc="0" dirty="0">
                <a:solidFill>
                  <a:schemeClr val="tx1"/>
                </a:solidFill>
                <a:latin typeface="+mj-lt"/>
                <a:ea typeface="Arial"/>
                <a:cs typeface="Arial"/>
              </a:rPr>
              <a:t> </a:t>
            </a:r>
            <a:r>
              <a:rPr lang="en-GB" sz="2000" b="0" i="0" u="none" strike="noStrike" cap="none" spc="0" dirty="0" err="1">
                <a:solidFill>
                  <a:schemeClr val="tx1"/>
                </a:solidFill>
                <a:latin typeface="+mj-lt"/>
                <a:ea typeface="Arial"/>
                <a:cs typeface="Arial"/>
              </a:rPr>
              <a:t>Balkendiagramms</a:t>
            </a:r>
            <a:r>
              <a:rPr lang="en-GB" sz="2000" dirty="0">
                <a:latin typeface="+mj-lt"/>
              </a:rPr>
              <a:t> </a:t>
            </a:r>
            <a:r>
              <a:rPr lang="en-GB" sz="2000" u="sng" dirty="0">
                <a:latin typeface="+mj-lt"/>
                <a:hlinkClick r:id="rId2" tooltip="https://jsfiddle.net/408unc9t/"/>
              </a:rPr>
              <a:t>https://jsfiddle.net/408unc9t/ </a:t>
            </a:r>
            <a:endParaRPr lang="en-GB" sz="2000" dirty="0">
              <a:latin typeface="+mj-lt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en-GB" sz="2000" dirty="0">
              <a:latin typeface="+mj-lt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GB" sz="2000" b="0" i="0" u="none" strike="noStrike" cap="none" spc="0" dirty="0" err="1">
                <a:solidFill>
                  <a:schemeClr val="tx1"/>
                </a:solidFill>
                <a:latin typeface="+mj-lt"/>
                <a:ea typeface="Arial"/>
                <a:cs typeface="Arial"/>
              </a:rPr>
              <a:t>Elemente</a:t>
            </a:r>
            <a:r>
              <a:rPr lang="en-GB" sz="2000" b="0" i="0" u="none" strike="noStrike" cap="none" spc="0" dirty="0">
                <a:solidFill>
                  <a:schemeClr val="tx1"/>
                </a:solidFill>
                <a:latin typeface="+mj-lt"/>
                <a:ea typeface="Arial"/>
                <a:cs typeface="Arial"/>
              </a:rPr>
              <a:t> </a:t>
            </a:r>
            <a:r>
              <a:rPr lang="en-GB" sz="2000" b="0" i="0" u="none" strike="noStrike" cap="none" spc="0" dirty="0" err="1">
                <a:solidFill>
                  <a:schemeClr val="tx1"/>
                </a:solidFill>
                <a:latin typeface="+mj-lt"/>
                <a:ea typeface="Arial"/>
                <a:cs typeface="Arial"/>
              </a:rPr>
              <a:t>mit</a:t>
            </a:r>
            <a:r>
              <a:rPr lang="en-GB" sz="2000" b="0" i="0" u="none" strike="noStrike" cap="none" spc="0" dirty="0">
                <a:solidFill>
                  <a:schemeClr val="tx1"/>
                </a:solidFill>
                <a:latin typeface="+mj-lt"/>
                <a:ea typeface="Arial"/>
                <a:cs typeface="Arial"/>
              </a:rPr>
              <a:t> d3 </a:t>
            </a:r>
            <a:r>
              <a:rPr lang="en-GB" sz="2000" b="0" i="0" u="none" strike="noStrike" cap="none" spc="0" dirty="0" err="1">
                <a:solidFill>
                  <a:schemeClr val="tx1"/>
                </a:solidFill>
                <a:latin typeface="+mj-lt"/>
                <a:ea typeface="Arial"/>
                <a:cs typeface="Arial"/>
              </a:rPr>
              <a:t>auswählen</a:t>
            </a:r>
            <a:endParaRPr sz="2000" dirty="0">
              <a:latin typeface="+mj-lt"/>
            </a:endParaRPr>
          </a:p>
          <a:p>
            <a:pPr>
              <a:buFont typeface="Arial" panose="020B0604020202020204" pitchFamily="34" charset="0"/>
              <a:buChar char="•"/>
              <a:defRPr/>
            </a:pPr>
            <a:r>
              <a:rPr lang="en-GB" sz="2000" b="0" i="0" u="none" strike="noStrike" cap="none" spc="0" dirty="0" err="1">
                <a:solidFill>
                  <a:schemeClr val="tx1"/>
                </a:solidFill>
                <a:latin typeface="+mj-lt"/>
                <a:ea typeface="Arial"/>
                <a:cs typeface="Arial"/>
              </a:rPr>
              <a:t>Funktionsweise</a:t>
            </a:r>
            <a:r>
              <a:rPr lang="en-GB" sz="2000" b="0" i="0" u="none" strike="noStrike" cap="none" spc="0" dirty="0">
                <a:solidFill>
                  <a:schemeClr val="tx1"/>
                </a:solidFill>
                <a:latin typeface="+mj-lt"/>
                <a:ea typeface="Arial"/>
                <a:cs typeface="Arial"/>
              </a:rPr>
              <a:t> </a:t>
            </a:r>
            <a:r>
              <a:rPr lang="en-GB" sz="2000" b="0" i="0" u="none" strike="noStrike" cap="none" spc="0" dirty="0" err="1">
                <a:solidFill>
                  <a:schemeClr val="tx1"/>
                </a:solidFill>
                <a:latin typeface="+mj-lt"/>
                <a:ea typeface="Arial"/>
                <a:cs typeface="Arial"/>
              </a:rPr>
              <a:t>wie</a:t>
            </a:r>
            <a:r>
              <a:rPr lang="en-GB" sz="2000" b="0" i="0" u="none" strike="noStrike" cap="none" spc="0" dirty="0">
                <a:solidFill>
                  <a:schemeClr val="tx1"/>
                </a:solidFill>
                <a:latin typeface="+mj-lt"/>
                <a:ea typeface="Arial"/>
                <a:cs typeface="Arial"/>
              </a:rPr>
              <a:t> in </a:t>
            </a:r>
            <a:r>
              <a:rPr lang="en-GB" sz="2000" b="0" i="0" u="none" strike="noStrike" cap="none" spc="0" dirty="0" err="1">
                <a:solidFill>
                  <a:schemeClr val="tx1"/>
                </a:solidFill>
                <a:latin typeface="+mj-lt"/>
                <a:ea typeface="Arial"/>
                <a:cs typeface="Arial"/>
              </a:rPr>
              <a:t>css</a:t>
            </a:r>
            <a:r>
              <a:rPr lang="en-GB" sz="2000" b="0" i="0" u="none" strike="noStrike" cap="none" spc="0" dirty="0">
                <a:solidFill>
                  <a:schemeClr val="tx1"/>
                </a:solidFill>
                <a:latin typeface="+mj-lt"/>
                <a:ea typeface="Arial"/>
                <a:cs typeface="Arial"/>
              </a:rPr>
              <a:t>, </a:t>
            </a:r>
            <a:r>
              <a:rPr lang="en-GB" sz="2000" b="0" i="0" u="none" strike="noStrike" cap="none" spc="0" dirty="0" err="1">
                <a:solidFill>
                  <a:schemeClr val="tx1"/>
                </a:solidFill>
                <a:latin typeface="+mj-lt"/>
                <a:ea typeface="Arial"/>
                <a:cs typeface="Arial"/>
              </a:rPr>
              <a:t>wobei</a:t>
            </a:r>
            <a:r>
              <a:rPr lang="en-GB" sz="2000" b="0" i="0" u="none" strike="noStrike" cap="none" spc="0" dirty="0">
                <a:solidFill>
                  <a:schemeClr val="tx1"/>
                </a:solidFill>
                <a:latin typeface="+mj-lt"/>
                <a:ea typeface="Arial"/>
                <a:cs typeface="Arial"/>
              </a:rPr>
              <a:t> “#” das Element </a:t>
            </a:r>
            <a:r>
              <a:rPr lang="en-GB" sz="2000" b="0" i="0" u="none" strike="noStrike" cap="none" spc="0" dirty="0" err="1">
                <a:solidFill>
                  <a:schemeClr val="tx1"/>
                </a:solidFill>
                <a:latin typeface="+mj-lt"/>
                <a:ea typeface="Arial"/>
                <a:cs typeface="Arial"/>
              </a:rPr>
              <a:t>mit</a:t>
            </a:r>
            <a:r>
              <a:rPr lang="en-GB" sz="2000" b="0" i="0" u="none" strike="noStrike" cap="none" spc="0" dirty="0">
                <a:solidFill>
                  <a:schemeClr val="tx1"/>
                </a:solidFill>
                <a:latin typeface="+mj-lt"/>
                <a:ea typeface="Arial"/>
                <a:cs typeface="Arial"/>
              </a:rPr>
              <a:t> </a:t>
            </a:r>
            <a:r>
              <a:rPr lang="en-GB" sz="2000" b="0" i="0" u="none" strike="noStrike" cap="none" spc="0" dirty="0" err="1">
                <a:solidFill>
                  <a:schemeClr val="tx1"/>
                </a:solidFill>
                <a:latin typeface="+mj-lt"/>
                <a:ea typeface="Arial"/>
                <a:cs typeface="Arial"/>
              </a:rPr>
              <a:t>entsprechender</a:t>
            </a:r>
            <a:r>
              <a:rPr lang="en-GB" sz="2000" b="0" i="0" u="none" strike="noStrike" cap="none" spc="0" dirty="0">
                <a:solidFill>
                  <a:schemeClr val="tx1"/>
                </a:solidFill>
                <a:latin typeface="+mj-lt"/>
                <a:ea typeface="Arial"/>
                <a:cs typeface="Arial"/>
              </a:rPr>
              <a:t> id </a:t>
            </a:r>
            <a:r>
              <a:rPr lang="en-GB" sz="2000" b="0" i="0" u="none" strike="noStrike" cap="none" spc="0" dirty="0" err="1">
                <a:solidFill>
                  <a:schemeClr val="tx1"/>
                </a:solidFill>
                <a:latin typeface="+mj-lt"/>
                <a:ea typeface="Arial"/>
                <a:cs typeface="Arial"/>
              </a:rPr>
              <a:t>auswählt</a:t>
            </a:r>
            <a:endParaRPr lang="en-GB" sz="2000" dirty="0">
              <a:latin typeface="+mj-lt"/>
              <a:ea typeface="Arial"/>
              <a:cs typeface="Arial"/>
            </a:endParaRPr>
          </a:p>
          <a:p>
            <a:pPr>
              <a:buFont typeface="Arial" panose="020B0604020202020204" pitchFamily="34" charset="0"/>
              <a:buChar char="•"/>
              <a:defRPr/>
            </a:pPr>
            <a:r>
              <a:rPr lang="de-DE" sz="2000" dirty="0">
                <a:latin typeface="+mj-lt"/>
              </a:rPr>
              <a:t>Mit “.”                                  werden alle Elemente derselben Klasse ausgewählt: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en-GB" sz="2000" dirty="0">
              <a:latin typeface="+mj-lt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GB" sz="2000" dirty="0" err="1">
                <a:latin typeface="+mj-lt"/>
              </a:rPr>
              <a:t>Damit</a:t>
            </a:r>
            <a:r>
              <a:rPr lang="en-GB" sz="2000" dirty="0">
                <a:latin typeface="+mj-lt"/>
              </a:rPr>
              <a:t> </a:t>
            </a:r>
            <a:r>
              <a:rPr lang="en-GB" sz="2000" dirty="0" err="1">
                <a:latin typeface="+mj-lt"/>
              </a:rPr>
              <a:t>können</a:t>
            </a:r>
            <a:r>
              <a:rPr lang="en-GB" sz="2000" dirty="0">
                <a:latin typeface="+mj-lt"/>
              </a:rPr>
              <a:t> </a:t>
            </a:r>
            <a:r>
              <a:rPr lang="en-GB" sz="2000" dirty="0" err="1">
                <a:latin typeface="+mj-lt"/>
              </a:rPr>
              <a:t>wir</a:t>
            </a:r>
            <a:r>
              <a:rPr lang="en-GB" sz="2000" dirty="0">
                <a:latin typeface="+mj-lt"/>
              </a:rPr>
              <a:t> </a:t>
            </a:r>
            <a:r>
              <a:rPr lang="en-GB" sz="2000" dirty="0" err="1">
                <a:latin typeface="+mj-lt"/>
              </a:rPr>
              <a:t>einen</a:t>
            </a:r>
            <a:r>
              <a:rPr lang="en-GB" sz="2000" dirty="0">
                <a:latin typeface="+mj-lt"/>
              </a:rPr>
              <a:t> </a:t>
            </a:r>
            <a:r>
              <a:rPr lang="en-GB" sz="2000" dirty="0" err="1">
                <a:latin typeface="+mj-lt"/>
              </a:rPr>
              <a:t>anderen</a:t>
            </a:r>
            <a:r>
              <a:rPr lang="en-GB" sz="2000" dirty="0">
                <a:latin typeface="+mj-lt"/>
              </a:rPr>
              <a:t> </a:t>
            </a:r>
            <a:r>
              <a:rPr lang="en-GB" sz="2000" dirty="0" err="1">
                <a:latin typeface="+mj-lt"/>
              </a:rPr>
              <a:t>Einstiegspunkt</a:t>
            </a:r>
            <a:r>
              <a:rPr lang="en-GB" sz="2000" dirty="0">
                <a:latin typeface="+mj-lt"/>
              </a:rPr>
              <a:t> </a:t>
            </a:r>
            <a:r>
              <a:rPr lang="en-GB" sz="2000" dirty="0" err="1">
                <a:latin typeface="+mj-lt"/>
              </a:rPr>
              <a:t>auswählen</a:t>
            </a:r>
            <a:endParaRPr lang="en-GB" sz="2000" dirty="0">
              <a:latin typeface="+mj-lt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GB" sz="2000" dirty="0">
                <a:latin typeface="+mj-lt"/>
              </a:rPr>
              <a:t>um </a:t>
            </a:r>
            <a:r>
              <a:rPr lang="en-GB" sz="2000" dirty="0" err="1">
                <a:latin typeface="+mj-lt"/>
              </a:rPr>
              <a:t>nur</a:t>
            </a:r>
            <a:r>
              <a:rPr lang="en-GB" sz="2000" dirty="0">
                <a:latin typeface="+mj-lt"/>
              </a:rPr>
              <a:t> </a:t>
            </a:r>
            <a:r>
              <a:rPr lang="en-GB" sz="2000" dirty="0" err="1">
                <a:latin typeface="+mj-lt"/>
              </a:rPr>
              <a:t>einen</a:t>
            </a:r>
            <a:r>
              <a:rPr lang="en-GB" sz="2000" dirty="0">
                <a:latin typeface="+mj-lt"/>
              </a:rPr>
              <a:t> Teil des HTML-</a:t>
            </a:r>
            <a:r>
              <a:rPr lang="en-GB" sz="2000" dirty="0" err="1">
                <a:latin typeface="+mj-lt"/>
              </a:rPr>
              <a:t>Dokumentes</a:t>
            </a:r>
            <a:r>
              <a:rPr lang="en-GB" sz="2000" dirty="0">
                <a:latin typeface="+mj-lt"/>
              </a:rPr>
              <a:t> </a:t>
            </a:r>
            <a:r>
              <a:rPr lang="en-GB" sz="2000" dirty="0" err="1">
                <a:latin typeface="+mj-lt"/>
              </a:rPr>
              <a:t>zu</a:t>
            </a:r>
            <a:r>
              <a:rPr lang="en-GB" sz="2000" dirty="0">
                <a:latin typeface="+mj-lt"/>
              </a:rPr>
              <a:t> </a:t>
            </a:r>
            <a:r>
              <a:rPr lang="en-GB" sz="2000" dirty="0" err="1">
                <a:latin typeface="+mj-lt"/>
              </a:rPr>
              <a:t>durchsuchen</a:t>
            </a:r>
            <a:endParaRPr sz="2000" dirty="0">
              <a:latin typeface="+mj-lt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en-GB" sz="2000" dirty="0">
              <a:latin typeface="+mj-lt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4214366" y="1352809"/>
            <a:ext cx="3048000" cy="20955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FB223FF-DB84-4466-BE4A-0F52202408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7899530" y="2551515"/>
            <a:ext cx="2857500" cy="25717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0E26FB6-B37A-4785-8A40-D8F07AFE439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>
            <a:off x="1982675" y="1932977"/>
            <a:ext cx="2042571" cy="203503"/>
          </a:xfrm>
          <a:prstGeom prst="rect">
            <a:avLst/>
          </a:prstGeom>
        </p:spPr>
      </p:pic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85D6AE99-1014-49BE-865E-74A7CC9045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33FA4B0-7731-EC49-88EA-B5E921ABE78A}" type="slidenum">
              <a:rPr lang="de-DE" smtClean="0"/>
              <a:pPr/>
              <a:t>19</a:t>
            </a:fld>
            <a:endParaRPr lang="de-DE" dirty="0"/>
          </a:p>
        </p:txBody>
      </p:sp>
      <p:sp>
        <p:nvSpPr>
          <p:cNvPr id="11" name="Title 3">
            <a:extLst>
              <a:ext uri="{FF2B5EF4-FFF2-40B4-BE49-F238E27FC236}">
                <a16:creationId xmlns:a16="http://schemas.microsoft.com/office/drawing/2014/main" id="{53867CD3-4EF7-446C-A16D-81CB1B6C9596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838200" y="59502"/>
            <a:ext cx="10515600" cy="562032"/>
          </a:xfrm>
        </p:spPr>
        <p:txBody>
          <a:bodyPr/>
          <a:lstStyle/>
          <a:p>
            <a:pPr>
              <a:defRPr/>
            </a:pPr>
            <a:r>
              <a:rPr lang="en-GB" sz="3600" dirty="0"/>
              <a:t>Mini-Tutorial: D3 – </a:t>
            </a:r>
            <a:r>
              <a:rPr lang="en-GB" sz="3600" dirty="0" err="1"/>
              <a:t>Einfaches</a:t>
            </a:r>
            <a:r>
              <a:rPr lang="en-GB" sz="3600" dirty="0"/>
              <a:t> </a:t>
            </a:r>
            <a:r>
              <a:rPr lang="en-GB" sz="3600" dirty="0" err="1"/>
              <a:t>Balkendiagramm</a:t>
            </a:r>
            <a:endParaRPr sz="3600" dirty="0"/>
          </a:p>
        </p:txBody>
      </p:sp>
    </p:spTree>
    <p:extLst>
      <p:ext uri="{BB962C8B-B14F-4D97-AF65-F5344CB8AC3E}">
        <p14:creationId xmlns:p14="http://schemas.microsoft.com/office/powerpoint/2010/main" val="235052146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7034086" name="Content Placeholder 4"/>
          <p:cNvSpPr txBox="1"/>
          <p:nvPr/>
        </p:nvSpPr>
        <p:spPr bwMode="auto">
          <a:xfrm>
            <a:off x="838201" y="639291"/>
            <a:ext cx="10515600" cy="621042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179387" indent="-179387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9249" indent="-168274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2400">
                <a:solidFill>
                  <a:schemeClr val="tx1"/>
                </a:solidFill>
                <a:latin typeface="+mn-lt"/>
              </a:defRPr>
            </a:lvl2pPr>
            <a:lvl3pPr marL="538162" indent="-187324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2400">
                <a:solidFill>
                  <a:schemeClr val="tx1"/>
                </a:solidFill>
                <a:latin typeface="+mn-lt"/>
              </a:defRPr>
            </a:lvl3pPr>
            <a:lvl4pPr marL="717549" indent="-173037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2000">
                <a:solidFill>
                  <a:schemeClr val="tx1"/>
                </a:solidFill>
                <a:latin typeface="+mn-lt"/>
              </a:defRPr>
            </a:lvl4pPr>
            <a:lvl5pPr marL="908049" indent="-188912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1365249" indent="-188912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</a:defRPr>
            </a:lvl6pPr>
            <a:lvl7pPr marL="1822449" indent="-188912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</a:defRPr>
            </a:lvl7pPr>
            <a:lvl8pPr marL="2279649" indent="-188912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</a:defRPr>
            </a:lvl8pPr>
            <a:lvl9pPr marL="2736849" indent="-188912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GB" sz="2000" b="0" i="0" u="none" strike="noStrike" cap="none" spc="0" dirty="0" err="1">
                <a:solidFill>
                  <a:schemeClr val="tx1"/>
                </a:solidFill>
                <a:latin typeface="+mj-lt"/>
                <a:ea typeface="Arial"/>
                <a:cs typeface="Arial"/>
              </a:rPr>
              <a:t>Zeichnen</a:t>
            </a:r>
            <a:r>
              <a:rPr lang="en-GB" sz="2000" b="0" i="0" u="none" strike="noStrike" cap="none" spc="0" dirty="0">
                <a:solidFill>
                  <a:schemeClr val="tx1"/>
                </a:solidFill>
                <a:latin typeface="+mj-lt"/>
                <a:ea typeface="Arial"/>
                <a:cs typeface="Arial"/>
              </a:rPr>
              <a:t> </a:t>
            </a:r>
            <a:r>
              <a:rPr lang="en-GB" sz="2000" b="0" i="0" u="none" strike="noStrike" cap="none" spc="0" dirty="0" err="1">
                <a:solidFill>
                  <a:schemeClr val="tx1"/>
                </a:solidFill>
                <a:latin typeface="+mj-lt"/>
                <a:ea typeface="Arial"/>
                <a:cs typeface="Arial"/>
              </a:rPr>
              <a:t>eines</a:t>
            </a:r>
            <a:r>
              <a:rPr lang="en-GB" sz="2000" b="0" i="0" u="none" strike="noStrike" cap="none" spc="0" dirty="0">
                <a:solidFill>
                  <a:schemeClr val="tx1"/>
                </a:solidFill>
                <a:latin typeface="+mj-lt"/>
                <a:ea typeface="Arial"/>
                <a:cs typeface="Arial"/>
              </a:rPr>
              <a:t> </a:t>
            </a:r>
            <a:r>
              <a:rPr lang="en-GB" sz="2000" b="0" i="0" u="none" strike="noStrike" cap="none" spc="0" dirty="0" err="1">
                <a:solidFill>
                  <a:schemeClr val="tx1"/>
                </a:solidFill>
                <a:latin typeface="+mj-lt"/>
                <a:ea typeface="Arial"/>
                <a:cs typeface="Arial"/>
              </a:rPr>
              <a:t>einfachen</a:t>
            </a:r>
            <a:r>
              <a:rPr lang="en-GB" sz="2000" b="0" i="0" u="none" strike="noStrike" cap="none" spc="0" dirty="0">
                <a:solidFill>
                  <a:schemeClr val="tx1"/>
                </a:solidFill>
                <a:latin typeface="+mj-lt"/>
                <a:ea typeface="Arial"/>
                <a:cs typeface="Arial"/>
              </a:rPr>
              <a:t> </a:t>
            </a:r>
            <a:r>
              <a:rPr lang="en-GB" sz="2000" b="0" i="0" u="none" strike="noStrike" cap="none" spc="0" dirty="0" err="1">
                <a:solidFill>
                  <a:schemeClr val="tx1"/>
                </a:solidFill>
                <a:latin typeface="+mj-lt"/>
                <a:ea typeface="Arial"/>
                <a:cs typeface="Arial"/>
              </a:rPr>
              <a:t>Balkendiagramms</a:t>
            </a:r>
            <a:r>
              <a:rPr lang="en-GB" sz="2000" dirty="0">
                <a:latin typeface="+mj-lt"/>
              </a:rPr>
              <a:t> </a:t>
            </a:r>
            <a:r>
              <a:rPr lang="en-GB" sz="2000" u="sng" dirty="0">
                <a:latin typeface="+mj-lt"/>
                <a:hlinkClick r:id="rId2" tooltip="https://jsfiddle.net/408unc9t/"/>
              </a:rPr>
              <a:t>https://jsfiddle.net/408unc9t/ </a:t>
            </a:r>
            <a:endParaRPr lang="en-GB" sz="2000" dirty="0">
              <a:latin typeface="+mj-lt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en-GB" sz="2000" dirty="0">
              <a:latin typeface="+mj-lt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GB" sz="2000" b="0" i="0" u="none" strike="noStrike" cap="none" spc="0" dirty="0" err="1">
                <a:solidFill>
                  <a:schemeClr val="tx1"/>
                </a:solidFill>
                <a:latin typeface="+mj-lt"/>
                <a:ea typeface="Arial"/>
                <a:cs typeface="Arial"/>
              </a:rPr>
              <a:t>Elemente</a:t>
            </a:r>
            <a:r>
              <a:rPr lang="en-GB" sz="2000" b="0" i="0" u="none" strike="noStrike" cap="none" spc="0" dirty="0">
                <a:solidFill>
                  <a:schemeClr val="tx1"/>
                </a:solidFill>
                <a:latin typeface="+mj-lt"/>
                <a:ea typeface="Arial"/>
                <a:cs typeface="Arial"/>
              </a:rPr>
              <a:t> </a:t>
            </a:r>
            <a:r>
              <a:rPr lang="en-GB" sz="2000" b="0" i="0" u="none" strike="noStrike" cap="none" spc="0" dirty="0" err="1">
                <a:solidFill>
                  <a:schemeClr val="tx1"/>
                </a:solidFill>
                <a:latin typeface="+mj-lt"/>
                <a:ea typeface="Arial"/>
                <a:cs typeface="Arial"/>
              </a:rPr>
              <a:t>mit</a:t>
            </a:r>
            <a:r>
              <a:rPr lang="en-GB" sz="2000" b="0" i="0" u="none" strike="noStrike" cap="none" spc="0" dirty="0">
                <a:solidFill>
                  <a:schemeClr val="tx1"/>
                </a:solidFill>
                <a:latin typeface="+mj-lt"/>
                <a:ea typeface="Arial"/>
                <a:cs typeface="Arial"/>
              </a:rPr>
              <a:t> d3 </a:t>
            </a:r>
            <a:r>
              <a:rPr lang="en-GB" sz="2000" b="0" i="0" u="none" strike="noStrike" cap="none" spc="0" dirty="0" err="1">
                <a:solidFill>
                  <a:schemeClr val="tx1"/>
                </a:solidFill>
                <a:latin typeface="+mj-lt"/>
                <a:ea typeface="Arial"/>
                <a:cs typeface="Arial"/>
              </a:rPr>
              <a:t>auswählen</a:t>
            </a:r>
            <a:endParaRPr sz="2000" dirty="0">
              <a:latin typeface="+mj-lt"/>
            </a:endParaRPr>
          </a:p>
          <a:p>
            <a:pPr>
              <a:buFont typeface="Arial" panose="020B0604020202020204" pitchFamily="34" charset="0"/>
              <a:buChar char="•"/>
              <a:defRPr/>
            </a:pPr>
            <a:r>
              <a:rPr lang="en-GB" sz="2000" b="0" i="0" u="none" strike="noStrike" cap="none" spc="0" dirty="0" err="1">
                <a:solidFill>
                  <a:schemeClr val="tx1"/>
                </a:solidFill>
                <a:latin typeface="+mj-lt"/>
                <a:ea typeface="Arial"/>
                <a:cs typeface="Arial"/>
              </a:rPr>
              <a:t>Funktionsweise</a:t>
            </a:r>
            <a:r>
              <a:rPr lang="en-GB" sz="2000" b="0" i="0" u="none" strike="noStrike" cap="none" spc="0" dirty="0">
                <a:solidFill>
                  <a:schemeClr val="tx1"/>
                </a:solidFill>
                <a:latin typeface="+mj-lt"/>
                <a:ea typeface="Arial"/>
                <a:cs typeface="Arial"/>
              </a:rPr>
              <a:t> </a:t>
            </a:r>
            <a:r>
              <a:rPr lang="en-GB" sz="2000" b="0" i="0" u="none" strike="noStrike" cap="none" spc="0" dirty="0" err="1">
                <a:solidFill>
                  <a:schemeClr val="tx1"/>
                </a:solidFill>
                <a:latin typeface="+mj-lt"/>
                <a:ea typeface="Arial"/>
                <a:cs typeface="Arial"/>
              </a:rPr>
              <a:t>wie</a:t>
            </a:r>
            <a:r>
              <a:rPr lang="en-GB" sz="2000" b="0" i="0" u="none" strike="noStrike" cap="none" spc="0" dirty="0">
                <a:solidFill>
                  <a:schemeClr val="tx1"/>
                </a:solidFill>
                <a:latin typeface="+mj-lt"/>
                <a:ea typeface="Arial"/>
                <a:cs typeface="Arial"/>
              </a:rPr>
              <a:t> in </a:t>
            </a:r>
            <a:r>
              <a:rPr lang="en-GB" sz="2000" b="0" i="0" u="none" strike="noStrike" cap="none" spc="0" dirty="0" err="1">
                <a:solidFill>
                  <a:schemeClr val="tx1"/>
                </a:solidFill>
                <a:latin typeface="+mj-lt"/>
                <a:ea typeface="Arial"/>
                <a:cs typeface="Arial"/>
              </a:rPr>
              <a:t>css</a:t>
            </a:r>
            <a:r>
              <a:rPr lang="en-GB" sz="2000" b="0" i="0" u="none" strike="noStrike" cap="none" spc="0" dirty="0">
                <a:solidFill>
                  <a:schemeClr val="tx1"/>
                </a:solidFill>
                <a:latin typeface="+mj-lt"/>
                <a:ea typeface="Arial"/>
                <a:cs typeface="Arial"/>
              </a:rPr>
              <a:t>, </a:t>
            </a:r>
            <a:r>
              <a:rPr lang="en-GB" sz="2000" b="0" i="0" u="none" strike="noStrike" cap="none" spc="0" dirty="0" err="1">
                <a:solidFill>
                  <a:schemeClr val="tx1"/>
                </a:solidFill>
                <a:latin typeface="+mj-lt"/>
                <a:ea typeface="Arial"/>
                <a:cs typeface="Arial"/>
              </a:rPr>
              <a:t>wobei</a:t>
            </a:r>
            <a:r>
              <a:rPr lang="en-GB" sz="2000" b="0" i="0" u="none" strike="noStrike" cap="none" spc="0" dirty="0">
                <a:solidFill>
                  <a:schemeClr val="tx1"/>
                </a:solidFill>
                <a:latin typeface="+mj-lt"/>
                <a:ea typeface="Arial"/>
                <a:cs typeface="Arial"/>
              </a:rPr>
              <a:t> “#” das Element </a:t>
            </a:r>
            <a:r>
              <a:rPr lang="en-GB" sz="2000" b="0" i="0" u="none" strike="noStrike" cap="none" spc="0" dirty="0" err="1">
                <a:solidFill>
                  <a:schemeClr val="tx1"/>
                </a:solidFill>
                <a:latin typeface="+mj-lt"/>
                <a:ea typeface="Arial"/>
                <a:cs typeface="Arial"/>
              </a:rPr>
              <a:t>mit</a:t>
            </a:r>
            <a:r>
              <a:rPr lang="en-GB" sz="2000" b="0" i="0" u="none" strike="noStrike" cap="none" spc="0" dirty="0">
                <a:solidFill>
                  <a:schemeClr val="tx1"/>
                </a:solidFill>
                <a:latin typeface="+mj-lt"/>
                <a:ea typeface="Arial"/>
                <a:cs typeface="Arial"/>
              </a:rPr>
              <a:t> </a:t>
            </a:r>
            <a:r>
              <a:rPr lang="en-GB" sz="2000" b="0" i="0" u="none" strike="noStrike" cap="none" spc="0" dirty="0" err="1">
                <a:solidFill>
                  <a:schemeClr val="tx1"/>
                </a:solidFill>
                <a:latin typeface="+mj-lt"/>
                <a:ea typeface="Arial"/>
                <a:cs typeface="Arial"/>
              </a:rPr>
              <a:t>entsprechender</a:t>
            </a:r>
            <a:r>
              <a:rPr lang="en-GB" sz="2000" b="0" i="0" u="none" strike="noStrike" cap="none" spc="0" dirty="0">
                <a:solidFill>
                  <a:schemeClr val="tx1"/>
                </a:solidFill>
                <a:latin typeface="+mj-lt"/>
                <a:ea typeface="Arial"/>
                <a:cs typeface="Arial"/>
              </a:rPr>
              <a:t> id </a:t>
            </a:r>
            <a:r>
              <a:rPr lang="en-GB" sz="2000" b="0" i="0" u="none" strike="noStrike" cap="none" spc="0" dirty="0" err="1">
                <a:solidFill>
                  <a:schemeClr val="tx1"/>
                </a:solidFill>
                <a:latin typeface="+mj-lt"/>
                <a:ea typeface="Arial"/>
                <a:cs typeface="Arial"/>
              </a:rPr>
              <a:t>auswählt</a:t>
            </a:r>
            <a:endParaRPr lang="en-GB" sz="2000" dirty="0">
              <a:latin typeface="+mj-lt"/>
              <a:ea typeface="Arial"/>
              <a:cs typeface="Arial"/>
            </a:endParaRPr>
          </a:p>
          <a:p>
            <a:pPr>
              <a:buFont typeface="Arial" panose="020B0604020202020204" pitchFamily="34" charset="0"/>
              <a:buChar char="•"/>
              <a:defRPr/>
            </a:pPr>
            <a:r>
              <a:rPr lang="de-DE" sz="2000" dirty="0">
                <a:latin typeface="+mj-lt"/>
              </a:rPr>
              <a:t>Mit “.”                                  werden alle Elemente derselben Klasse ausgewählt: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en-GB" sz="2000" dirty="0">
              <a:latin typeface="+mj-lt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GB" sz="2000" dirty="0" err="1">
                <a:latin typeface="+mj-lt"/>
              </a:rPr>
              <a:t>Damit</a:t>
            </a:r>
            <a:r>
              <a:rPr lang="en-GB" sz="2000" dirty="0">
                <a:latin typeface="+mj-lt"/>
              </a:rPr>
              <a:t> </a:t>
            </a:r>
            <a:r>
              <a:rPr lang="en-GB" sz="2000" dirty="0" err="1">
                <a:latin typeface="+mj-lt"/>
              </a:rPr>
              <a:t>können</a:t>
            </a:r>
            <a:r>
              <a:rPr lang="en-GB" sz="2000" dirty="0">
                <a:latin typeface="+mj-lt"/>
              </a:rPr>
              <a:t> </a:t>
            </a:r>
            <a:r>
              <a:rPr lang="en-GB" sz="2000" dirty="0" err="1">
                <a:latin typeface="+mj-lt"/>
              </a:rPr>
              <a:t>wir</a:t>
            </a:r>
            <a:r>
              <a:rPr lang="en-GB" sz="2000" dirty="0">
                <a:latin typeface="+mj-lt"/>
              </a:rPr>
              <a:t> </a:t>
            </a:r>
            <a:r>
              <a:rPr lang="en-GB" sz="2000" dirty="0" err="1">
                <a:latin typeface="+mj-lt"/>
              </a:rPr>
              <a:t>einen</a:t>
            </a:r>
            <a:r>
              <a:rPr lang="en-GB" sz="2000" dirty="0">
                <a:latin typeface="+mj-lt"/>
              </a:rPr>
              <a:t> </a:t>
            </a:r>
            <a:r>
              <a:rPr lang="en-GB" sz="2000" dirty="0" err="1">
                <a:latin typeface="+mj-lt"/>
              </a:rPr>
              <a:t>anderen</a:t>
            </a:r>
            <a:r>
              <a:rPr lang="en-GB" sz="2000" dirty="0">
                <a:latin typeface="+mj-lt"/>
              </a:rPr>
              <a:t> </a:t>
            </a:r>
            <a:r>
              <a:rPr lang="en-GB" sz="2000" dirty="0" err="1">
                <a:latin typeface="+mj-lt"/>
              </a:rPr>
              <a:t>Einstiegspunkt</a:t>
            </a:r>
            <a:r>
              <a:rPr lang="en-GB" sz="2000" dirty="0">
                <a:latin typeface="+mj-lt"/>
              </a:rPr>
              <a:t> </a:t>
            </a:r>
            <a:r>
              <a:rPr lang="en-GB" sz="2000" dirty="0" err="1">
                <a:latin typeface="+mj-lt"/>
              </a:rPr>
              <a:t>auswählen</a:t>
            </a:r>
            <a:endParaRPr lang="en-GB" sz="2000" dirty="0">
              <a:latin typeface="+mj-lt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GB" sz="2000" dirty="0">
                <a:latin typeface="+mj-lt"/>
              </a:rPr>
              <a:t>um </a:t>
            </a:r>
            <a:r>
              <a:rPr lang="en-GB" sz="2000" dirty="0" err="1">
                <a:latin typeface="+mj-lt"/>
              </a:rPr>
              <a:t>nur</a:t>
            </a:r>
            <a:r>
              <a:rPr lang="en-GB" sz="2000" dirty="0">
                <a:latin typeface="+mj-lt"/>
              </a:rPr>
              <a:t> </a:t>
            </a:r>
            <a:r>
              <a:rPr lang="en-GB" sz="2000" dirty="0" err="1">
                <a:latin typeface="+mj-lt"/>
              </a:rPr>
              <a:t>einen</a:t>
            </a:r>
            <a:r>
              <a:rPr lang="en-GB" sz="2000" dirty="0">
                <a:latin typeface="+mj-lt"/>
              </a:rPr>
              <a:t> Teil des HTML-</a:t>
            </a:r>
            <a:r>
              <a:rPr lang="en-GB" sz="2000" dirty="0" err="1">
                <a:latin typeface="+mj-lt"/>
              </a:rPr>
              <a:t>Dokumentes</a:t>
            </a:r>
            <a:r>
              <a:rPr lang="en-GB" sz="2000" dirty="0">
                <a:latin typeface="+mj-lt"/>
              </a:rPr>
              <a:t> </a:t>
            </a:r>
            <a:r>
              <a:rPr lang="en-GB" sz="2000" dirty="0" err="1">
                <a:latin typeface="+mj-lt"/>
              </a:rPr>
              <a:t>zu</a:t>
            </a:r>
            <a:r>
              <a:rPr lang="en-GB" sz="2000" dirty="0">
                <a:latin typeface="+mj-lt"/>
              </a:rPr>
              <a:t> </a:t>
            </a:r>
            <a:r>
              <a:rPr lang="en-GB" sz="2000" dirty="0" err="1">
                <a:latin typeface="+mj-lt"/>
              </a:rPr>
              <a:t>durchsuchen</a:t>
            </a:r>
            <a:endParaRPr sz="2000" dirty="0">
              <a:latin typeface="+mj-lt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en-GB" sz="2000" dirty="0">
              <a:latin typeface="+mj-lt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GB" sz="2000" dirty="0" err="1">
                <a:latin typeface="+mj-lt"/>
              </a:rPr>
              <a:t>Zur</a:t>
            </a:r>
            <a:r>
              <a:rPr lang="en-GB" sz="2000" dirty="0">
                <a:latin typeface="+mj-lt"/>
              </a:rPr>
              <a:t> </a:t>
            </a:r>
            <a:r>
              <a:rPr lang="en-GB" sz="2000" dirty="0" err="1">
                <a:latin typeface="+mj-lt"/>
              </a:rPr>
              <a:t>Übersicht</a:t>
            </a:r>
            <a:r>
              <a:rPr lang="en-GB" sz="2000" dirty="0">
                <a:latin typeface="+mj-lt"/>
              </a:rPr>
              <a:t> und </a:t>
            </a:r>
            <a:r>
              <a:rPr lang="en-GB" sz="2000" dirty="0" err="1">
                <a:latin typeface="+mj-lt"/>
              </a:rPr>
              <a:t>für</a:t>
            </a:r>
            <a:r>
              <a:rPr lang="en-GB" sz="2000" dirty="0">
                <a:latin typeface="+mj-lt"/>
              </a:rPr>
              <a:t> Debugging-</a:t>
            </a:r>
            <a:r>
              <a:rPr lang="en-GB" sz="2000" dirty="0" err="1">
                <a:latin typeface="+mj-lt"/>
              </a:rPr>
              <a:t>Zwecke</a:t>
            </a:r>
            <a:r>
              <a:rPr lang="en-GB" sz="2000" dirty="0">
                <a:latin typeface="+mj-lt"/>
              </a:rPr>
              <a:t> </a:t>
            </a:r>
            <a:r>
              <a:rPr lang="en-GB" sz="2000" dirty="0" err="1">
                <a:latin typeface="+mj-lt"/>
              </a:rPr>
              <a:t>fügen</a:t>
            </a:r>
            <a:r>
              <a:rPr lang="en-GB" sz="2000" dirty="0">
                <a:latin typeface="+mj-lt"/>
              </a:rPr>
              <a:t> </a:t>
            </a:r>
            <a:r>
              <a:rPr lang="en-GB" sz="2000" dirty="0" err="1">
                <a:latin typeface="+mj-lt"/>
              </a:rPr>
              <a:t>wir</a:t>
            </a:r>
            <a:r>
              <a:rPr lang="en-GB" sz="2000" dirty="0">
                <a:latin typeface="+mj-lt"/>
              </a:rPr>
              <a:t> </a:t>
            </a:r>
            <a:r>
              <a:rPr lang="en-GB" sz="2000" dirty="0" err="1">
                <a:latin typeface="+mj-lt"/>
              </a:rPr>
              <a:t>ein</a:t>
            </a:r>
            <a:r>
              <a:rPr lang="en-GB" sz="2000" dirty="0">
                <a:latin typeface="+mj-lt"/>
              </a:rPr>
              <a:t> SVG Gruppen-Element (‘g’) </a:t>
            </a:r>
            <a:r>
              <a:rPr lang="en-GB" sz="2000" dirty="0" err="1">
                <a:latin typeface="+mj-lt"/>
              </a:rPr>
              <a:t>hinzu</a:t>
            </a:r>
            <a:r>
              <a:rPr lang="en-GB" sz="2000" dirty="0">
                <a:latin typeface="+mj-lt"/>
              </a:rPr>
              <a:t>. Die </a:t>
            </a:r>
            <a:r>
              <a:rPr lang="en-GB" sz="2000" dirty="0" err="1">
                <a:latin typeface="+mj-lt"/>
              </a:rPr>
              <a:t>Balken</a:t>
            </a:r>
            <a:r>
              <a:rPr lang="en-GB" sz="2000" dirty="0">
                <a:latin typeface="+mj-lt"/>
              </a:rPr>
              <a:t> des </a:t>
            </a:r>
            <a:r>
              <a:rPr lang="en-GB" sz="2000" dirty="0" err="1">
                <a:latin typeface="+mj-lt"/>
              </a:rPr>
              <a:t>Diagramms</a:t>
            </a:r>
            <a:r>
              <a:rPr lang="en-GB" sz="2000" dirty="0">
                <a:latin typeface="+mj-lt"/>
              </a:rPr>
              <a:t> </a:t>
            </a:r>
            <a:r>
              <a:rPr lang="en-GB" sz="2000" dirty="0" err="1">
                <a:latin typeface="+mj-lt"/>
              </a:rPr>
              <a:t>werden</a:t>
            </a:r>
            <a:r>
              <a:rPr lang="en-GB" sz="2000" dirty="0">
                <a:latin typeface="+mj-lt"/>
              </a:rPr>
              <a:t> </a:t>
            </a:r>
            <a:r>
              <a:rPr lang="en-GB" sz="2000" dirty="0" err="1">
                <a:latin typeface="+mj-lt"/>
              </a:rPr>
              <a:t>anschließen</a:t>
            </a:r>
            <a:r>
              <a:rPr lang="en-GB" sz="2000" dirty="0">
                <a:latin typeface="+mj-lt"/>
              </a:rPr>
              <a:t> </a:t>
            </a:r>
            <a:r>
              <a:rPr lang="en-GB" sz="2000" dirty="0" err="1">
                <a:latin typeface="+mj-lt"/>
              </a:rPr>
              <a:t>diesem</a:t>
            </a:r>
            <a:r>
              <a:rPr lang="en-GB" sz="2000" dirty="0">
                <a:latin typeface="+mj-lt"/>
              </a:rPr>
              <a:t> Element </a:t>
            </a:r>
            <a:r>
              <a:rPr lang="en-GB" sz="2000" dirty="0" err="1">
                <a:latin typeface="+mj-lt"/>
              </a:rPr>
              <a:t>angefügt</a:t>
            </a:r>
            <a:r>
              <a:rPr lang="en-GB" sz="2000" dirty="0">
                <a:latin typeface="+mj-lt"/>
              </a:rPr>
              <a:t>.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4214366" y="1352809"/>
            <a:ext cx="3048000" cy="20955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890141" y="4150196"/>
            <a:ext cx="4848225" cy="3429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FB223FF-DB84-4466-BE4A-0F522024085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>
            <a:off x="7899530" y="2551515"/>
            <a:ext cx="2857500" cy="25717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0E26FB6-B37A-4785-8A40-D8F07AFE439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/>
        </p:blipFill>
        <p:spPr bwMode="auto">
          <a:xfrm>
            <a:off x="1982675" y="1932977"/>
            <a:ext cx="2042571" cy="203503"/>
          </a:xfrm>
          <a:prstGeom prst="rect">
            <a:avLst/>
          </a:prstGeom>
        </p:spPr>
      </p:pic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85D6AE99-1014-49BE-865E-74A7CC9045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33FA4B0-7731-EC49-88EA-B5E921ABE78A}" type="slidenum">
              <a:rPr lang="de-DE" smtClean="0"/>
              <a:pPr/>
              <a:t>20</a:t>
            </a:fld>
            <a:endParaRPr lang="de-DE" dirty="0"/>
          </a:p>
        </p:txBody>
      </p:sp>
      <p:sp>
        <p:nvSpPr>
          <p:cNvPr id="11" name="Title 3">
            <a:extLst>
              <a:ext uri="{FF2B5EF4-FFF2-40B4-BE49-F238E27FC236}">
                <a16:creationId xmlns:a16="http://schemas.microsoft.com/office/drawing/2014/main" id="{53867CD3-4EF7-446C-A16D-81CB1B6C9596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838200" y="59502"/>
            <a:ext cx="10515600" cy="562032"/>
          </a:xfrm>
        </p:spPr>
        <p:txBody>
          <a:bodyPr/>
          <a:lstStyle/>
          <a:p>
            <a:pPr>
              <a:defRPr/>
            </a:pPr>
            <a:r>
              <a:rPr lang="en-GB" sz="3600" dirty="0"/>
              <a:t>Mini-Tutorial: D3 – </a:t>
            </a:r>
            <a:r>
              <a:rPr lang="en-GB" sz="3600" dirty="0" err="1"/>
              <a:t>Einfaches</a:t>
            </a:r>
            <a:r>
              <a:rPr lang="en-GB" sz="3600" dirty="0"/>
              <a:t> </a:t>
            </a:r>
            <a:r>
              <a:rPr lang="en-GB" sz="3600" dirty="0" err="1"/>
              <a:t>Balkendiagramm</a:t>
            </a:r>
            <a:endParaRPr sz="3600" dirty="0"/>
          </a:p>
        </p:txBody>
      </p:sp>
    </p:spTree>
    <p:extLst>
      <p:ext uri="{BB962C8B-B14F-4D97-AF65-F5344CB8AC3E}">
        <p14:creationId xmlns:p14="http://schemas.microsoft.com/office/powerpoint/2010/main" val="1400301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7034086" name="Content Placeholder 4"/>
          <p:cNvSpPr txBox="1"/>
          <p:nvPr/>
        </p:nvSpPr>
        <p:spPr bwMode="auto">
          <a:xfrm>
            <a:off x="838201" y="639291"/>
            <a:ext cx="10515600" cy="621042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179387" indent="-179387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9249" indent="-168274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2400">
                <a:solidFill>
                  <a:schemeClr val="tx1"/>
                </a:solidFill>
                <a:latin typeface="+mn-lt"/>
              </a:defRPr>
            </a:lvl2pPr>
            <a:lvl3pPr marL="538162" indent="-187324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2400">
                <a:solidFill>
                  <a:schemeClr val="tx1"/>
                </a:solidFill>
                <a:latin typeface="+mn-lt"/>
              </a:defRPr>
            </a:lvl3pPr>
            <a:lvl4pPr marL="717549" indent="-173037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2000">
                <a:solidFill>
                  <a:schemeClr val="tx1"/>
                </a:solidFill>
                <a:latin typeface="+mn-lt"/>
              </a:defRPr>
            </a:lvl4pPr>
            <a:lvl5pPr marL="908049" indent="-188912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1365249" indent="-188912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</a:defRPr>
            </a:lvl6pPr>
            <a:lvl7pPr marL="1822449" indent="-188912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</a:defRPr>
            </a:lvl7pPr>
            <a:lvl8pPr marL="2279649" indent="-188912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</a:defRPr>
            </a:lvl8pPr>
            <a:lvl9pPr marL="2736849" indent="-188912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GB" sz="2000" b="0" i="0" u="none" strike="noStrike" cap="none" spc="0" dirty="0" err="1">
                <a:solidFill>
                  <a:schemeClr val="tx1"/>
                </a:solidFill>
                <a:latin typeface="+mj-lt"/>
                <a:ea typeface="Arial"/>
                <a:cs typeface="Arial"/>
              </a:rPr>
              <a:t>Zeichnen</a:t>
            </a:r>
            <a:r>
              <a:rPr lang="en-GB" sz="2000" b="0" i="0" u="none" strike="noStrike" cap="none" spc="0" dirty="0">
                <a:solidFill>
                  <a:schemeClr val="tx1"/>
                </a:solidFill>
                <a:latin typeface="+mj-lt"/>
                <a:ea typeface="Arial"/>
                <a:cs typeface="Arial"/>
              </a:rPr>
              <a:t> </a:t>
            </a:r>
            <a:r>
              <a:rPr lang="en-GB" sz="2000" b="0" i="0" u="none" strike="noStrike" cap="none" spc="0" dirty="0" err="1">
                <a:solidFill>
                  <a:schemeClr val="tx1"/>
                </a:solidFill>
                <a:latin typeface="+mj-lt"/>
                <a:ea typeface="Arial"/>
                <a:cs typeface="Arial"/>
              </a:rPr>
              <a:t>eines</a:t>
            </a:r>
            <a:r>
              <a:rPr lang="en-GB" sz="2000" b="0" i="0" u="none" strike="noStrike" cap="none" spc="0" dirty="0">
                <a:solidFill>
                  <a:schemeClr val="tx1"/>
                </a:solidFill>
                <a:latin typeface="+mj-lt"/>
                <a:ea typeface="Arial"/>
                <a:cs typeface="Arial"/>
              </a:rPr>
              <a:t> </a:t>
            </a:r>
            <a:r>
              <a:rPr lang="en-GB" sz="2000" b="0" i="0" u="none" strike="noStrike" cap="none" spc="0" dirty="0" err="1">
                <a:solidFill>
                  <a:schemeClr val="tx1"/>
                </a:solidFill>
                <a:latin typeface="+mj-lt"/>
                <a:ea typeface="Arial"/>
                <a:cs typeface="Arial"/>
              </a:rPr>
              <a:t>einfachen</a:t>
            </a:r>
            <a:r>
              <a:rPr lang="en-GB" sz="2000" b="0" i="0" u="none" strike="noStrike" cap="none" spc="0" dirty="0">
                <a:solidFill>
                  <a:schemeClr val="tx1"/>
                </a:solidFill>
                <a:latin typeface="+mj-lt"/>
                <a:ea typeface="Arial"/>
                <a:cs typeface="Arial"/>
              </a:rPr>
              <a:t> </a:t>
            </a:r>
            <a:r>
              <a:rPr lang="en-GB" sz="2000" b="0" i="0" u="none" strike="noStrike" cap="none" spc="0" dirty="0" err="1">
                <a:solidFill>
                  <a:schemeClr val="tx1"/>
                </a:solidFill>
                <a:latin typeface="+mj-lt"/>
                <a:ea typeface="Arial"/>
                <a:cs typeface="Arial"/>
              </a:rPr>
              <a:t>Balkendiagramms</a:t>
            </a:r>
            <a:r>
              <a:rPr lang="en-GB" sz="2000" dirty="0">
                <a:latin typeface="+mj-lt"/>
              </a:rPr>
              <a:t> </a:t>
            </a:r>
            <a:r>
              <a:rPr lang="en-GB" sz="2000" u="sng" dirty="0">
                <a:latin typeface="+mj-lt"/>
                <a:hlinkClick r:id="rId2" tooltip="https://jsfiddle.net/408unc9t/"/>
              </a:rPr>
              <a:t>https://jsfiddle.net/408unc9t/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en-GB" sz="2000" u="sng" dirty="0">
              <a:latin typeface="+mj-lt"/>
              <a:hlinkClick r:id="rId2" tooltip="https://jsfiddle.net/408unc9t/"/>
            </a:endParaRPr>
          </a:p>
          <a:p>
            <a:pPr marL="0" indent="0">
              <a:buNone/>
              <a:defRPr/>
            </a:pPr>
            <a:r>
              <a:rPr lang="de-DE" sz="2000" dirty="0" err="1">
                <a:latin typeface="+mj-lt"/>
              </a:rPr>
              <a:t>Html</a:t>
            </a:r>
            <a:r>
              <a:rPr lang="de-DE" sz="2000" dirty="0">
                <a:latin typeface="+mj-lt"/>
              </a:rPr>
              <a:t> Struktur ✓</a:t>
            </a:r>
          </a:p>
          <a:p>
            <a:pPr marL="0" indent="0">
              <a:buNone/>
              <a:defRPr/>
            </a:pPr>
            <a:r>
              <a:rPr lang="de-DE" sz="2000" dirty="0">
                <a:latin typeface="+mj-lt"/>
              </a:rPr>
              <a:t>Nun kann gezeichnet werden! </a:t>
            </a:r>
          </a:p>
          <a:p>
            <a:pPr>
              <a:buFont typeface="Arial" panose="020B0604020202020204" pitchFamily="34" charset="0"/>
              <a:buChar char="•"/>
              <a:defRPr/>
            </a:pPr>
            <a:r>
              <a:rPr lang="de-DE" sz="2000" dirty="0">
                <a:latin typeface="+mj-lt"/>
              </a:rPr>
              <a:t>Wie viel Platz ist für die Visualisierung vorhanden?</a:t>
            </a:r>
          </a:p>
          <a:p>
            <a:pPr lvl="1">
              <a:buFont typeface="Arial" panose="020B0604020202020204" pitchFamily="34" charset="0"/>
              <a:buChar char="•"/>
              <a:defRPr/>
            </a:pPr>
            <a:r>
              <a:rPr lang="de-DE" sz="2000" dirty="0">
                <a:latin typeface="+mj-lt"/>
              </a:rPr>
              <a:t>Hinweis: alternativ kann dies mit </a:t>
            </a:r>
            <a:r>
              <a:rPr lang="de-DE" sz="2000" dirty="0" err="1">
                <a:latin typeface="+mj-lt"/>
              </a:rPr>
              <a:t>viewbox</a:t>
            </a:r>
            <a:r>
              <a:rPr lang="de-DE" sz="2000" dirty="0">
                <a:latin typeface="+mj-lt"/>
              </a:rPr>
              <a:t> gemacht werden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GB" sz="2000" u="sng" dirty="0">
                <a:latin typeface="+mj-lt"/>
                <a:hlinkClick r:id="rId2" tooltip="https://jsfiddle.net/408unc9t/"/>
              </a:rPr>
              <a:t> </a:t>
            </a:r>
            <a:endParaRPr lang="en-GB" sz="2000" dirty="0">
              <a:latin typeface="+mj-lt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en-GB" sz="2000" dirty="0">
              <a:latin typeface="+mj-lt"/>
            </a:endParaRPr>
          </a:p>
        </p:txBody>
      </p:sp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85D6AE99-1014-49BE-865E-74A7CC9045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33FA4B0-7731-EC49-88EA-B5E921ABE78A}" type="slidenum">
              <a:rPr lang="de-DE" smtClean="0"/>
              <a:pPr/>
              <a:t>21</a:t>
            </a:fld>
            <a:endParaRPr lang="de-DE" dirty="0"/>
          </a:p>
        </p:txBody>
      </p:sp>
      <p:sp>
        <p:nvSpPr>
          <p:cNvPr id="11" name="Title 3">
            <a:extLst>
              <a:ext uri="{FF2B5EF4-FFF2-40B4-BE49-F238E27FC236}">
                <a16:creationId xmlns:a16="http://schemas.microsoft.com/office/drawing/2014/main" id="{53867CD3-4EF7-446C-A16D-81CB1B6C9596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838200" y="59502"/>
            <a:ext cx="10515600" cy="562032"/>
          </a:xfrm>
        </p:spPr>
        <p:txBody>
          <a:bodyPr/>
          <a:lstStyle/>
          <a:p>
            <a:pPr>
              <a:defRPr/>
            </a:pPr>
            <a:r>
              <a:rPr lang="en-GB" sz="3600" dirty="0"/>
              <a:t>Mini-Tutorial: D3 – </a:t>
            </a:r>
            <a:r>
              <a:rPr lang="en-GB" sz="3600" dirty="0" err="1"/>
              <a:t>Einfaches</a:t>
            </a:r>
            <a:r>
              <a:rPr lang="en-GB" sz="3600" dirty="0"/>
              <a:t> </a:t>
            </a:r>
            <a:r>
              <a:rPr lang="en-GB" sz="3600" dirty="0" err="1"/>
              <a:t>Balkendiagramm</a:t>
            </a:r>
            <a:endParaRPr sz="3600" dirty="0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9B2B7E4A-3730-4568-899D-0B5D7D58C8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7104829" y="1654176"/>
            <a:ext cx="4076698" cy="523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782361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7034086" name="Content Placeholder 4"/>
          <p:cNvSpPr txBox="1"/>
          <p:nvPr/>
        </p:nvSpPr>
        <p:spPr bwMode="auto">
          <a:xfrm>
            <a:off x="838201" y="639291"/>
            <a:ext cx="10515600" cy="621042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179387" indent="-179387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9249" indent="-168274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2400">
                <a:solidFill>
                  <a:schemeClr val="tx1"/>
                </a:solidFill>
                <a:latin typeface="+mn-lt"/>
              </a:defRPr>
            </a:lvl2pPr>
            <a:lvl3pPr marL="538162" indent="-187324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2400">
                <a:solidFill>
                  <a:schemeClr val="tx1"/>
                </a:solidFill>
                <a:latin typeface="+mn-lt"/>
              </a:defRPr>
            </a:lvl3pPr>
            <a:lvl4pPr marL="717549" indent="-173037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2000">
                <a:solidFill>
                  <a:schemeClr val="tx1"/>
                </a:solidFill>
                <a:latin typeface="+mn-lt"/>
              </a:defRPr>
            </a:lvl4pPr>
            <a:lvl5pPr marL="908049" indent="-188912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1365249" indent="-188912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</a:defRPr>
            </a:lvl6pPr>
            <a:lvl7pPr marL="1822449" indent="-188912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</a:defRPr>
            </a:lvl7pPr>
            <a:lvl8pPr marL="2279649" indent="-188912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</a:defRPr>
            </a:lvl8pPr>
            <a:lvl9pPr marL="2736849" indent="-188912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GB" sz="2000" b="0" i="0" u="none" strike="noStrike" cap="none" spc="0" dirty="0" err="1">
                <a:solidFill>
                  <a:schemeClr val="tx1"/>
                </a:solidFill>
                <a:latin typeface="+mj-lt"/>
                <a:ea typeface="Arial"/>
                <a:cs typeface="Arial"/>
              </a:rPr>
              <a:t>Zeichnen</a:t>
            </a:r>
            <a:r>
              <a:rPr lang="en-GB" sz="2000" b="0" i="0" u="none" strike="noStrike" cap="none" spc="0" dirty="0">
                <a:solidFill>
                  <a:schemeClr val="tx1"/>
                </a:solidFill>
                <a:latin typeface="+mj-lt"/>
                <a:ea typeface="Arial"/>
                <a:cs typeface="Arial"/>
              </a:rPr>
              <a:t> </a:t>
            </a:r>
            <a:r>
              <a:rPr lang="en-GB" sz="2000" b="0" i="0" u="none" strike="noStrike" cap="none" spc="0" dirty="0" err="1">
                <a:solidFill>
                  <a:schemeClr val="tx1"/>
                </a:solidFill>
                <a:latin typeface="+mj-lt"/>
                <a:ea typeface="Arial"/>
                <a:cs typeface="Arial"/>
              </a:rPr>
              <a:t>eines</a:t>
            </a:r>
            <a:r>
              <a:rPr lang="en-GB" sz="2000" b="0" i="0" u="none" strike="noStrike" cap="none" spc="0" dirty="0">
                <a:solidFill>
                  <a:schemeClr val="tx1"/>
                </a:solidFill>
                <a:latin typeface="+mj-lt"/>
                <a:ea typeface="Arial"/>
                <a:cs typeface="Arial"/>
              </a:rPr>
              <a:t> </a:t>
            </a:r>
            <a:r>
              <a:rPr lang="en-GB" sz="2000" b="0" i="0" u="none" strike="noStrike" cap="none" spc="0" dirty="0" err="1">
                <a:solidFill>
                  <a:schemeClr val="tx1"/>
                </a:solidFill>
                <a:latin typeface="+mj-lt"/>
                <a:ea typeface="Arial"/>
                <a:cs typeface="Arial"/>
              </a:rPr>
              <a:t>einfachen</a:t>
            </a:r>
            <a:r>
              <a:rPr lang="en-GB" sz="2000" b="0" i="0" u="none" strike="noStrike" cap="none" spc="0" dirty="0">
                <a:solidFill>
                  <a:schemeClr val="tx1"/>
                </a:solidFill>
                <a:latin typeface="+mj-lt"/>
                <a:ea typeface="Arial"/>
                <a:cs typeface="Arial"/>
              </a:rPr>
              <a:t> </a:t>
            </a:r>
            <a:r>
              <a:rPr lang="en-GB" sz="2000" b="0" i="0" u="none" strike="noStrike" cap="none" spc="0" dirty="0" err="1">
                <a:solidFill>
                  <a:schemeClr val="tx1"/>
                </a:solidFill>
                <a:latin typeface="+mj-lt"/>
                <a:ea typeface="Arial"/>
                <a:cs typeface="Arial"/>
              </a:rPr>
              <a:t>Balkendiagramms</a:t>
            </a:r>
            <a:r>
              <a:rPr lang="en-GB" sz="2000" dirty="0">
                <a:latin typeface="+mj-lt"/>
              </a:rPr>
              <a:t> </a:t>
            </a:r>
            <a:r>
              <a:rPr lang="en-GB" sz="2000" u="sng" dirty="0">
                <a:latin typeface="+mj-lt"/>
                <a:hlinkClick r:id="rId2" tooltip="https://jsfiddle.net/408unc9t/"/>
              </a:rPr>
              <a:t>https://jsfiddle.net/408unc9t/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en-GB" sz="2000" u="sng" dirty="0">
              <a:latin typeface="+mj-lt"/>
              <a:hlinkClick r:id="rId2" tooltip="https://jsfiddle.net/408unc9t/"/>
            </a:endParaRPr>
          </a:p>
          <a:p>
            <a:pPr marL="0" indent="0">
              <a:buNone/>
              <a:defRPr/>
            </a:pPr>
            <a:r>
              <a:rPr lang="de-DE" sz="2000" dirty="0" err="1">
                <a:latin typeface="+mj-lt"/>
              </a:rPr>
              <a:t>Html</a:t>
            </a:r>
            <a:r>
              <a:rPr lang="de-DE" sz="2000" dirty="0">
                <a:latin typeface="+mj-lt"/>
              </a:rPr>
              <a:t> Struktur ✓</a:t>
            </a:r>
          </a:p>
          <a:p>
            <a:pPr marL="0" indent="0">
              <a:buNone/>
              <a:defRPr/>
            </a:pPr>
            <a:r>
              <a:rPr lang="de-DE" sz="2000" dirty="0">
                <a:latin typeface="+mj-lt"/>
              </a:rPr>
              <a:t>Nun kann gezeichnet werden! </a:t>
            </a:r>
          </a:p>
          <a:p>
            <a:pPr>
              <a:buFont typeface="Arial" panose="020B0604020202020204" pitchFamily="34" charset="0"/>
              <a:buChar char="•"/>
              <a:defRPr/>
            </a:pPr>
            <a:r>
              <a:rPr lang="de-DE" sz="2000" dirty="0">
                <a:latin typeface="+mj-lt"/>
              </a:rPr>
              <a:t>Wie viel Platz ist für die Visualisierung vorhanden?</a:t>
            </a:r>
          </a:p>
          <a:p>
            <a:pPr lvl="1">
              <a:buFont typeface="Arial" panose="020B0604020202020204" pitchFamily="34" charset="0"/>
              <a:buChar char="•"/>
              <a:defRPr/>
            </a:pPr>
            <a:r>
              <a:rPr lang="de-DE" sz="2000" dirty="0">
                <a:latin typeface="+mj-lt"/>
              </a:rPr>
              <a:t>Hinweis: alternativ kann dies mit </a:t>
            </a:r>
            <a:r>
              <a:rPr lang="de-DE" sz="2000" dirty="0" err="1">
                <a:latin typeface="+mj-lt"/>
              </a:rPr>
              <a:t>viewbox</a:t>
            </a:r>
            <a:r>
              <a:rPr lang="de-DE" sz="2000" dirty="0">
                <a:latin typeface="+mj-lt"/>
              </a:rPr>
              <a:t> gemacht werden</a:t>
            </a:r>
          </a:p>
          <a:p>
            <a:pPr lvl="1">
              <a:buFont typeface="Arial" panose="020B0604020202020204" pitchFamily="34" charset="0"/>
              <a:buChar char="•"/>
              <a:defRPr/>
            </a:pPr>
            <a:endParaRPr lang="de-DE" sz="1600" dirty="0">
              <a:latin typeface="+mj-lt"/>
            </a:endParaRPr>
          </a:p>
          <a:p>
            <a:pPr lvl="1">
              <a:buFont typeface="Arial" panose="020B0604020202020204" pitchFamily="34" charset="0"/>
              <a:buChar char="•"/>
              <a:defRPr/>
            </a:pPr>
            <a:endParaRPr lang="de-DE" sz="1600" dirty="0">
              <a:latin typeface="+mj-lt"/>
            </a:endParaRPr>
          </a:p>
          <a:p>
            <a:pPr lvl="1">
              <a:buFont typeface="Arial" panose="020B0604020202020204" pitchFamily="34" charset="0"/>
              <a:buChar char="•"/>
              <a:defRPr/>
            </a:pPr>
            <a:endParaRPr lang="de-DE" sz="1600" dirty="0">
              <a:latin typeface="+mj-lt"/>
            </a:endParaRPr>
          </a:p>
          <a:p>
            <a:pPr>
              <a:buFont typeface="Arial" panose="020B0604020202020204" pitchFamily="34" charset="0"/>
              <a:buChar char="•"/>
              <a:defRPr/>
            </a:pPr>
            <a:r>
              <a:rPr lang="de-DE" sz="2000" dirty="0">
                <a:latin typeface="+mj-lt"/>
              </a:rPr>
              <a:t>Horizontale Achse </a:t>
            </a:r>
            <a:r>
              <a:rPr lang="de-DE" sz="2000" dirty="0">
                <a:latin typeface="+mj-lt"/>
                <a:sym typeface="Wingdings" panose="05000000000000000000" pitchFamily="2" charset="2"/>
              </a:rPr>
              <a:t></a:t>
            </a:r>
            <a:r>
              <a:rPr lang="de-DE" sz="2000" dirty="0">
                <a:latin typeface="+mj-lt"/>
              </a:rPr>
              <a:t> Städte (</a:t>
            </a:r>
            <a:r>
              <a:rPr lang="de-DE" sz="2000" dirty="0" err="1">
                <a:latin typeface="+mj-lt"/>
              </a:rPr>
              <a:t>cities</a:t>
            </a:r>
            <a:r>
              <a:rPr lang="de-DE" sz="2000" dirty="0">
                <a:latin typeface="+mj-lt"/>
              </a:rPr>
              <a:t>)</a:t>
            </a:r>
          </a:p>
          <a:p>
            <a:pPr lvl="1">
              <a:buFont typeface="Arial" panose="020B0604020202020204" pitchFamily="34" charset="0"/>
              <a:buChar char="•"/>
              <a:defRPr/>
            </a:pPr>
            <a:r>
              <a:rPr lang="de-DE" sz="2000" dirty="0">
                <a:latin typeface="+mj-lt"/>
              </a:rPr>
              <a:t>                       Arrow </a:t>
            </a:r>
            <a:r>
              <a:rPr lang="de-DE" sz="2000" dirty="0" err="1">
                <a:latin typeface="+mj-lt"/>
              </a:rPr>
              <a:t>function</a:t>
            </a:r>
            <a:r>
              <a:rPr lang="de-DE" sz="2000" dirty="0">
                <a:latin typeface="+mj-lt"/>
              </a:rPr>
              <a:t>/Lambda </a:t>
            </a:r>
            <a:r>
              <a:rPr lang="de-DE" sz="2000" dirty="0" err="1">
                <a:latin typeface="+mj-lt"/>
              </a:rPr>
              <a:t>function</a:t>
            </a:r>
            <a:r>
              <a:rPr lang="de-DE" sz="2000" dirty="0">
                <a:latin typeface="+mj-lt"/>
              </a:rPr>
              <a:t>: Kurzform für</a:t>
            </a:r>
          </a:p>
          <a:p>
            <a:pPr lvl="1">
              <a:buFont typeface="Arial" panose="020B0604020202020204" pitchFamily="34" charset="0"/>
              <a:buChar char="•"/>
              <a:defRPr/>
            </a:pPr>
            <a:r>
              <a:rPr lang="de-DE" sz="2000" dirty="0">
                <a:latin typeface="+mj-lt"/>
              </a:rPr>
              <a:t>Erzeugt ein Array mit den Städtenamen</a:t>
            </a:r>
          </a:p>
          <a:p>
            <a:pPr marL="180975" lvl="1" indent="0">
              <a:buNone/>
              <a:defRPr/>
            </a:pPr>
            <a:endParaRPr lang="de-DE" sz="1600" dirty="0">
              <a:latin typeface="+mj-lt"/>
            </a:endParaRPr>
          </a:p>
          <a:p>
            <a:pPr lvl="1">
              <a:buFont typeface="Arial" panose="020B0604020202020204" pitchFamily="34" charset="0"/>
              <a:buChar char="•"/>
              <a:defRPr/>
            </a:pPr>
            <a:endParaRPr lang="de-DE" sz="1600" dirty="0">
              <a:latin typeface="+mj-lt"/>
            </a:endParaRPr>
          </a:p>
          <a:p>
            <a:pPr marL="180975" lvl="1" indent="0">
              <a:buNone/>
              <a:defRPr/>
            </a:pPr>
            <a:endParaRPr lang="de-DE" sz="1600" dirty="0">
              <a:latin typeface="+mj-lt"/>
            </a:endParaRPr>
          </a:p>
          <a:p>
            <a:pPr marL="180975" lvl="1" indent="0">
              <a:buNone/>
              <a:defRPr/>
            </a:pPr>
            <a:endParaRPr lang="de-DE" sz="1600" dirty="0">
              <a:latin typeface="+mj-lt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GB" sz="2000" u="sng" dirty="0">
                <a:latin typeface="+mj-lt"/>
                <a:hlinkClick r:id="rId2" tooltip="https://jsfiddle.net/408unc9t/"/>
              </a:rPr>
              <a:t> </a:t>
            </a:r>
            <a:endParaRPr lang="en-GB" sz="2000" dirty="0">
              <a:latin typeface="+mj-lt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en-GB" sz="2000" dirty="0">
              <a:latin typeface="+mj-lt"/>
            </a:endParaRPr>
          </a:p>
        </p:txBody>
      </p:sp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85D6AE99-1014-49BE-865E-74A7CC9045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33FA4B0-7731-EC49-88EA-B5E921ABE78A}" type="slidenum">
              <a:rPr lang="de-DE" smtClean="0"/>
              <a:pPr/>
              <a:t>22</a:t>
            </a:fld>
            <a:endParaRPr lang="de-DE" dirty="0"/>
          </a:p>
        </p:txBody>
      </p:sp>
      <p:sp>
        <p:nvSpPr>
          <p:cNvPr id="11" name="Title 3">
            <a:extLst>
              <a:ext uri="{FF2B5EF4-FFF2-40B4-BE49-F238E27FC236}">
                <a16:creationId xmlns:a16="http://schemas.microsoft.com/office/drawing/2014/main" id="{53867CD3-4EF7-446C-A16D-81CB1B6C9596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838200" y="59502"/>
            <a:ext cx="10515600" cy="562032"/>
          </a:xfrm>
        </p:spPr>
        <p:txBody>
          <a:bodyPr/>
          <a:lstStyle/>
          <a:p>
            <a:pPr>
              <a:defRPr/>
            </a:pPr>
            <a:r>
              <a:rPr lang="en-GB" sz="3600" dirty="0"/>
              <a:t>Mini-Tutorial: D3 – </a:t>
            </a:r>
            <a:r>
              <a:rPr lang="en-GB" sz="3600" dirty="0" err="1"/>
              <a:t>Einfaches</a:t>
            </a:r>
            <a:r>
              <a:rPr lang="en-GB" sz="3600" dirty="0"/>
              <a:t> </a:t>
            </a:r>
            <a:r>
              <a:rPr lang="en-GB" sz="3600" dirty="0" err="1"/>
              <a:t>Balkendiagramm</a:t>
            </a:r>
            <a:endParaRPr sz="3600" dirty="0"/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id="{754E778E-6961-4206-AB12-A1EB794E8A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7104829" y="1654176"/>
            <a:ext cx="4076698" cy="523874"/>
          </a:xfrm>
          <a:prstGeom prst="rect">
            <a:avLst/>
          </a:prstGeom>
        </p:spPr>
      </p:pic>
      <p:pic>
        <p:nvPicPr>
          <p:cNvPr id="6" name="Picture 9">
            <a:extLst>
              <a:ext uri="{FF2B5EF4-FFF2-40B4-BE49-F238E27FC236}">
                <a16:creationId xmlns:a16="http://schemas.microsoft.com/office/drawing/2014/main" id="{9CC07A1C-A756-4302-9F1E-4617E0777C9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5851" t="-1576" r="4254"/>
          <a:stretch/>
        </p:blipFill>
        <p:spPr bwMode="auto">
          <a:xfrm>
            <a:off x="1356673" y="3558643"/>
            <a:ext cx="1440160" cy="270900"/>
          </a:xfrm>
          <a:prstGeom prst="rect">
            <a:avLst/>
          </a:prstGeom>
        </p:spPr>
      </p:pic>
      <p:pic>
        <p:nvPicPr>
          <p:cNvPr id="7" name="Picture 7">
            <a:extLst>
              <a:ext uri="{FF2B5EF4-FFF2-40B4-BE49-F238E27FC236}">
                <a16:creationId xmlns:a16="http://schemas.microsoft.com/office/drawing/2014/main" id="{2804D64B-4A68-4180-8A2E-BAFD4CCAC61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>
            <a:off x="8377877" y="3591906"/>
            <a:ext cx="2457450" cy="247650"/>
          </a:xfrm>
          <a:prstGeom prst="rect">
            <a:avLst/>
          </a:prstGeom>
        </p:spPr>
      </p:pic>
      <p:pic>
        <p:nvPicPr>
          <p:cNvPr id="8" name="Picture 8">
            <a:extLst>
              <a:ext uri="{FF2B5EF4-FFF2-40B4-BE49-F238E27FC236}">
                <a16:creationId xmlns:a16="http://schemas.microsoft.com/office/drawing/2014/main" id="{9CB3622F-6096-4859-868E-8AA377DACB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5299841" y="3259999"/>
            <a:ext cx="3609975" cy="266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805773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7034086" name="Content Placeholder 4"/>
          <p:cNvSpPr txBox="1"/>
          <p:nvPr/>
        </p:nvSpPr>
        <p:spPr bwMode="auto">
          <a:xfrm>
            <a:off x="838201" y="639291"/>
            <a:ext cx="10515600" cy="621042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179387" indent="-179387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9249" indent="-168274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2400">
                <a:solidFill>
                  <a:schemeClr val="tx1"/>
                </a:solidFill>
                <a:latin typeface="+mn-lt"/>
              </a:defRPr>
            </a:lvl2pPr>
            <a:lvl3pPr marL="538162" indent="-187324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2400">
                <a:solidFill>
                  <a:schemeClr val="tx1"/>
                </a:solidFill>
                <a:latin typeface="+mn-lt"/>
              </a:defRPr>
            </a:lvl3pPr>
            <a:lvl4pPr marL="717549" indent="-173037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2000">
                <a:solidFill>
                  <a:schemeClr val="tx1"/>
                </a:solidFill>
                <a:latin typeface="+mn-lt"/>
              </a:defRPr>
            </a:lvl4pPr>
            <a:lvl5pPr marL="908049" indent="-188912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1365249" indent="-188912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</a:defRPr>
            </a:lvl6pPr>
            <a:lvl7pPr marL="1822449" indent="-188912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</a:defRPr>
            </a:lvl7pPr>
            <a:lvl8pPr marL="2279649" indent="-188912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</a:defRPr>
            </a:lvl8pPr>
            <a:lvl9pPr marL="2736849" indent="-188912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GB" sz="2000" b="0" i="0" u="none" strike="noStrike" cap="none" spc="0" dirty="0" err="1">
                <a:solidFill>
                  <a:schemeClr val="tx1"/>
                </a:solidFill>
                <a:latin typeface="+mj-lt"/>
                <a:ea typeface="Arial"/>
                <a:cs typeface="Arial"/>
              </a:rPr>
              <a:t>Zeichnen</a:t>
            </a:r>
            <a:r>
              <a:rPr lang="en-GB" sz="2000" b="0" i="0" u="none" strike="noStrike" cap="none" spc="0" dirty="0">
                <a:solidFill>
                  <a:schemeClr val="tx1"/>
                </a:solidFill>
                <a:latin typeface="+mj-lt"/>
                <a:ea typeface="Arial"/>
                <a:cs typeface="Arial"/>
              </a:rPr>
              <a:t> </a:t>
            </a:r>
            <a:r>
              <a:rPr lang="en-GB" sz="2000" b="0" i="0" u="none" strike="noStrike" cap="none" spc="0" dirty="0" err="1">
                <a:solidFill>
                  <a:schemeClr val="tx1"/>
                </a:solidFill>
                <a:latin typeface="+mj-lt"/>
                <a:ea typeface="Arial"/>
                <a:cs typeface="Arial"/>
              </a:rPr>
              <a:t>eines</a:t>
            </a:r>
            <a:r>
              <a:rPr lang="en-GB" sz="2000" b="0" i="0" u="none" strike="noStrike" cap="none" spc="0" dirty="0">
                <a:solidFill>
                  <a:schemeClr val="tx1"/>
                </a:solidFill>
                <a:latin typeface="+mj-lt"/>
                <a:ea typeface="Arial"/>
                <a:cs typeface="Arial"/>
              </a:rPr>
              <a:t> </a:t>
            </a:r>
            <a:r>
              <a:rPr lang="en-GB" sz="2000" b="0" i="0" u="none" strike="noStrike" cap="none" spc="0" dirty="0" err="1">
                <a:solidFill>
                  <a:schemeClr val="tx1"/>
                </a:solidFill>
                <a:latin typeface="+mj-lt"/>
                <a:ea typeface="Arial"/>
                <a:cs typeface="Arial"/>
              </a:rPr>
              <a:t>einfachen</a:t>
            </a:r>
            <a:r>
              <a:rPr lang="en-GB" sz="2000" b="0" i="0" u="none" strike="noStrike" cap="none" spc="0" dirty="0">
                <a:solidFill>
                  <a:schemeClr val="tx1"/>
                </a:solidFill>
                <a:latin typeface="+mj-lt"/>
                <a:ea typeface="Arial"/>
                <a:cs typeface="Arial"/>
              </a:rPr>
              <a:t> </a:t>
            </a:r>
            <a:r>
              <a:rPr lang="en-GB" sz="2000" b="0" i="0" u="none" strike="noStrike" cap="none" spc="0" dirty="0" err="1">
                <a:solidFill>
                  <a:schemeClr val="tx1"/>
                </a:solidFill>
                <a:latin typeface="+mj-lt"/>
                <a:ea typeface="Arial"/>
                <a:cs typeface="Arial"/>
              </a:rPr>
              <a:t>Balkendiagramms</a:t>
            </a:r>
            <a:r>
              <a:rPr lang="en-GB" sz="2000" dirty="0">
                <a:latin typeface="+mj-lt"/>
              </a:rPr>
              <a:t> </a:t>
            </a:r>
            <a:r>
              <a:rPr lang="en-GB" sz="2000" u="sng" dirty="0">
                <a:latin typeface="+mj-lt"/>
                <a:hlinkClick r:id="rId2" tooltip="https://jsfiddle.net/408unc9t/"/>
              </a:rPr>
              <a:t>https://jsfiddle.net/408unc9t/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en-GB" sz="2000" u="sng" dirty="0">
              <a:latin typeface="+mj-lt"/>
              <a:hlinkClick r:id="rId2" tooltip="https://jsfiddle.net/408unc9t/"/>
            </a:endParaRPr>
          </a:p>
          <a:p>
            <a:pPr marL="0" indent="0">
              <a:buNone/>
              <a:defRPr/>
            </a:pPr>
            <a:r>
              <a:rPr lang="de-DE" sz="2000" dirty="0" err="1">
                <a:latin typeface="+mj-lt"/>
              </a:rPr>
              <a:t>Html</a:t>
            </a:r>
            <a:r>
              <a:rPr lang="de-DE" sz="2000" dirty="0">
                <a:latin typeface="+mj-lt"/>
              </a:rPr>
              <a:t> Struktur ✓</a:t>
            </a:r>
          </a:p>
          <a:p>
            <a:pPr marL="0" indent="0">
              <a:buNone/>
              <a:defRPr/>
            </a:pPr>
            <a:r>
              <a:rPr lang="de-DE" sz="2000" dirty="0">
                <a:latin typeface="+mj-lt"/>
              </a:rPr>
              <a:t>Nun kann gezeichnet werden! </a:t>
            </a:r>
          </a:p>
          <a:p>
            <a:pPr>
              <a:buFont typeface="Arial" panose="020B0604020202020204" pitchFamily="34" charset="0"/>
              <a:buChar char="•"/>
              <a:defRPr/>
            </a:pPr>
            <a:r>
              <a:rPr lang="de-DE" sz="2000" dirty="0">
                <a:latin typeface="+mj-lt"/>
              </a:rPr>
              <a:t>Wie viel Platz ist für die Visualisierung vorhanden?</a:t>
            </a:r>
          </a:p>
          <a:p>
            <a:pPr lvl="1">
              <a:buFont typeface="Arial" panose="020B0604020202020204" pitchFamily="34" charset="0"/>
              <a:buChar char="•"/>
              <a:defRPr/>
            </a:pPr>
            <a:r>
              <a:rPr lang="de-DE" sz="2000" dirty="0">
                <a:latin typeface="+mj-lt"/>
              </a:rPr>
              <a:t>Hinweis: alternativ kann dies mit </a:t>
            </a:r>
            <a:r>
              <a:rPr lang="de-DE" sz="2000" dirty="0" err="1">
                <a:latin typeface="+mj-lt"/>
              </a:rPr>
              <a:t>viewbox</a:t>
            </a:r>
            <a:r>
              <a:rPr lang="de-DE" sz="2000" dirty="0">
                <a:latin typeface="+mj-lt"/>
              </a:rPr>
              <a:t> gemacht werden</a:t>
            </a:r>
          </a:p>
          <a:p>
            <a:pPr lvl="1">
              <a:buFont typeface="Arial" panose="020B0604020202020204" pitchFamily="34" charset="0"/>
              <a:buChar char="•"/>
              <a:defRPr/>
            </a:pPr>
            <a:endParaRPr lang="de-DE" sz="1600" dirty="0">
              <a:latin typeface="+mj-lt"/>
            </a:endParaRPr>
          </a:p>
          <a:p>
            <a:pPr lvl="1">
              <a:buFont typeface="Arial" panose="020B0604020202020204" pitchFamily="34" charset="0"/>
              <a:buChar char="•"/>
              <a:defRPr/>
            </a:pPr>
            <a:endParaRPr lang="de-DE" sz="1600" dirty="0">
              <a:latin typeface="+mj-lt"/>
            </a:endParaRPr>
          </a:p>
          <a:p>
            <a:pPr lvl="1">
              <a:buFont typeface="Arial" panose="020B0604020202020204" pitchFamily="34" charset="0"/>
              <a:buChar char="•"/>
              <a:defRPr/>
            </a:pPr>
            <a:endParaRPr lang="de-DE" sz="1600" dirty="0">
              <a:latin typeface="+mj-lt"/>
            </a:endParaRPr>
          </a:p>
          <a:p>
            <a:pPr>
              <a:buFont typeface="Arial" panose="020B0604020202020204" pitchFamily="34" charset="0"/>
              <a:buChar char="•"/>
              <a:defRPr/>
            </a:pPr>
            <a:r>
              <a:rPr lang="de-DE" sz="2000" dirty="0">
                <a:latin typeface="+mj-lt"/>
              </a:rPr>
              <a:t>Horizontale Achse </a:t>
            </a:r>
            <a:r>
              <a:rPr lang="de-DE" sz="2000" dirty="0">
                <a:latin typeface="+mj-lt"/>
                <a:sym typeface="Wingdings" panose="05000000000000000000" pitchFamily="2" charset="2"/>
              </a:rPr>
              <a:t></a:t>
            </a:r>
            <a:r>
              <a:rPr lang="de-DE" sz="2000" dirty="0">
                <a:latin typeface="+mj-lt"/>
              </a:rPr>
              <a:t> Städte (</a:t>
            </a:r>
            <a:r>
              <a:rPr lang="de-DE" sz="2000" dirty="0" err="1">
                <a:latin typeface="+mj-lt"/>
              </a:rPr>
              <a:t>cities</a:t>
            </a:r>
            <a:r>
              <a:rPr lang="de-DE" sz="2000" dirty="0">
                <a:latin typeface="+mj-lt"/>
              </a:rPr>
              <a:t>)</a:t>
            </a:r>
          </a:p>
          <a:p>
            <a:pPr lvl="1">
              <a:buFont typeface="Arial" panose="020B0604020202020204" pitchFamily="34" charset="0"/>
              <a:buChar char="•"/>
              <a:defRPr/>
            </a:pPr>
            <a:r>
              <a:rPr lang="de-DE" sz="2000" dirty="0">
                <a:latin typeface="+mj-lt"/>
              </a:rPr>
              <a:t>                       Arrow </a:t>
            </a:r>
            <a:r>
              <a:rPr lang="de-DE" sz="2000" dirty="0" err="1">
                <a:latin typeface="+mj-lt"/>
              </a:rPr>
              <a:t>function</a:t>
            </a:r>
            <a:r>
              <a:rPr lang="de-DE" sz="2000" dirty="0">
                <a:latin typeface="+mj-lt"/>
              </a:rPr>
              <a:t>/Lambda </a:t>
            </a:r>
            <a:r>
              <a:rPr lang="de-DE" sz="2000" dirty="0" err="1">
                <a:latin typeface="+mj-lt"/>
              </a:rPr>
              <a:t>function</a:t>
            </a:r>
            <a:r>
              <a:rPr lang="de-DE" sz="2000" dirty="0">
                <a:latin typeface="+mj-lt"/>
              </a:rPr>
              <a:t>: Kurzform für</a:t>
            </a:r>
          </a:p>
          <a:p>
            <a:pPr lvl="1">
              <a:buFont typeface="Arial" panose="020B0604020202020204" pitchFamily="34" charset="0"/>
              <a:buChar char="•"/>
              <a:defRPr/>
            </a:pPr>
            <a:r>
              <a:rPr lang="de-DE" sz="2000" dirty="0">
                <a:latin typeface="+mj-lt"/>
              </a:rPr>
              <a:t>Erzeugt ein Array mit den Städtenamen</a:t>
            </a:r>
          </a:p>
          <a:p>
            <a:pPr lvl="1">
              <a:buFont typeface="Arial" panose="020B0604020202020204" pitchFamily="34" charset="0"/>
              <a:buChar char="•"/>
              <a:defRPr/>
            </a:pPr>
            <a:endParaRPr lang="de-DE" sz="2000" dirty="0">
              <a:latin typeface="+mj-lt"/>
            </a:endParaRPr>
          </a:p>
          <a:p>
            <a:pPr lvl="1">
              <a:buFont typeface="Arial" panose="020B0604020202020204" pitchFamily="34" charset="0"/>
              <a:buChar char="•"/>
              <a:defRPr/>
            </a:pPr>
            <a:endParaRPr lang="de-DE" sz="2000" dirty="0">
              <a:latin typeface="+mj-lt"/>
            </a:endParaRPr>
          </a:p>
          <a:p>
            <a:pPr>
              <a:buFont typeface="Arial" panose="020B0604020202020204" pitchFamily="34" charset="0"/>
              <a:buChar char="•"/>
              <a:defRPr/>
            </a:pPr>
            <a:r>
              <a:rPr lang="de-DE" sz="2000" dirty="0">
                <a:latin typeface="+mj-lt"/>
              </a:rPr>
              <a:t>Benutzen der integrierten d3 Skalierungsfunktionen:</a:t>
            </a:r>
          </a:p>
          <a:p>
            <a:pPr lvl="1">
              <a:buFont typeface="Arial" panose="020B0604020202020204" pitchFamily="34" charset="0"/>
              <a:buChar char="•"/>
              <a:defRPr/>
            </a:pPr>
            <a:r>
              <a:rPr lang="de-DE" sz="2000" dirty="0" err="1">
                <a:latin typeface="+mj-lt"/>
              </a:rPr>
              <a:t>scaleBand</a:t>
            </a:r>
            <a:r>
              <a:rPr lang="de-DE" sz="2000" dirty="0">
                <a:latin typeface="+mj-lt"/>
              </a:rPr>
              <a:t>(): Skala stellt eine kategorische Dimension der Daten dar</a:t>
            </a:r>
          </a:p>
          <a:p>
            <a:pPr lvl="2">
              <a:buFont typeface="Arial" panose="020B0604020202020204" pitchFamily="34" charset="0"/>
              <a:buChar char="•"/>
              <a:defRPr/>
            </a:pPr>
            <a:r>
              <a:rPr lang="de-DE" sz="1800" dirty="0">
                <a:latin typeface="+mj-lt"/>
              </a:rPr>
              <a:t>Domain: Wertebereich der Skala, hier: Städtenamen</a:t>
            </a:r>
          </a:p>
          <a:p>
            <a:pPr lvl="2">
              <a:buFont typeface="Arial" panose="020B0604020202020204" pitchFamily="34" charset="0"/>
              <a:buChar char="•"/>
              <a:defRPr/>
            </a:pPr>
            <a:r>
              <a:rPr lang="de-DE" sz="1800" dirty="0">
                <a:latin typeface="+mj-lt"/>
              </a:rPr>
              <a:t>Range: Wertebereich auf den die Skala abgebildet wird, hier: 0 bis Visualisierungsbreite</a:t>
            </a:r>
          </a:p>
          <a:p>
            <a:pPr lvl="2">
              <a:buFont typeface="Arial" panose="020B0604020202020204" pitchFamily="34" charset="0"/>
              <a:buChar char="•"/>
              <a:defRPr/>
            </a:pPr>
            <a:r>
              <a:rPr lang="de-DE" sz="1800" dirty="0" err="1">
                <a:latin typeface="+mj-lt"/>
              </a:rPr>
              <a:t>Padding</a:t>
            </a:r>
            <a:r>
              <a:rPr lang="de-DE" sz="1800" dirty="0">
                <a:latin typeface="+mj-lt"/>
              </a:rPr>
              <a:t>: Abstand zwischen den abgebildeten Werten, hier: 10% der Gesamtbreite</a:t>
            </a:r>
            <a:endParaRPr lang="en-GB" sz="2000" dirty="0">
              <a:latin typeface="+mj-lt"/>
            </a:endParaRPr>
          </a:p>
        </p:txBody>
      </p:sp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85D6AE99-1014-49BE-865E-74A7CC9045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33FA4B0-7731-EC49-88EA-B5E921ABE78A}" type="slidenum">
              <a:rPr lang="de-DE" smtClean="0"/>
              <a:pPr/>
              <a:t>23</a:t>
            </a:fld>
            <a:endParaRPr lang="de-DE" dirty="0"/>
          </a:p>
        </p:txBody>
      </p:sp>
      <p:sp>
        <p:nvSpPr>
          <p:cNvPr id="11" name="Title 3">
            <a:extLst>
              <a:ext uri="{FF2B5EF4-FFF2-40B4-BE49-F238E27FC236}">
                <a16:creationId xmlns:a16="http://schemas.microsoft.com/office/drawing/2014/main" id="{53867CD3-4EF7-446C-A16D-81CB1B6C9596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838200" y="59502"/>
            <a:ext cx="10515600" cy="562032"/>
          </a:xfrm>
        </p:spPr>
        <p:txBody>
          <a:bodyPr/>
          <a:lstStyle/>
          <a:p>
            <a:pPr>
              <a:defRPr/>
            </a:pPr>
            <a:r>
              <a:rPr lang="en-GB" sz="3600" dirty="0"/>
              <a:t>Mini-Tutorial: D3 – </a:t>
            </a:r>
            <a:r>
              <a:rPr lang="en-GB" sz="3600" dirty="0" err="1"/>
              <a:t>Einfaches</a:t>
            </a:r>
            <a:r>
              <a:rPr lang="en-GB" sz="3600" dirty="0"/>
              <a:t> </a:t>
            </a:r>
            <a:r>
              <a:rPr lang="en-GB" sz="3600" dirty="0" err="1"/>
              <a:t>Balkendiagramm</a:t>
            </a:r>
            <a:endParaRPr sz="3600" dirty="0"/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id="{754E778E-6961-4206-AB12-A1EB794E8A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7104829" y="1654176"/>
            <a:ext cx="4076698" cy="523874"/>
          </a:xfrm>
          <a:prstGeom prst="rect">
            <a:avLst/>
          </a:prstGeom>
        </p:spPr>
      </p:pic>
      <p:pic>
        <p:nvPicPr>
          <p:cNvPr id="6" name="Picture 9">
            <a:extLst>
              <a:ext uri="{FF2B5EF4-FFF2-40B4-BE49-F238E27FC236}">
                <a16:creationId xmlns:a16="http://schemas.microsoft.com/office/drawing/2014/main" id="{9CC07A1C-A756-4302-9F1E-4617E0777C9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5851" t="-1576" r="4254"/>
          <a:stretch/>
        </p:blipFill>
        <p:spPr bwMode="auto">
          <a:xfrm>
            <a:off x="1356673" y="3558643"/>
            <a:ext cx="1440160" cy="270900"/>
          </a:xfrm>
          <a:prstGeom prst="rect">
            <a:avLst/>
          </a:prstGeom>
        </p:spPr>
      </p:pic>
      <p:pic>
        <p:nvPicPr>
          <p:cNvPr id="7" name="Picture 7">
            <a:extLst>
              <a:ext uri="{FF2B5EF4-FFF2-40B4-BE49-F238E27FC236}">
                <a16:creationId xmlns:a16="http://schemas.microsoft.com/office/drawing/2014/main" id="{2804D64B-4A68-4180-8A2E-BAFD4CCAC61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>
            <a:off x="8377877" y="3591906"/>
            <a:ext cx="2457450" cy="247650"/>
          </a:xfrm>
          <a:prstGeom prst="rect">
            <a:avLst/>
          </a:prstGeom>
        </p:spPr>
      </p:pic>
      <p:pic>
        <p:nvPicPr>
          <p:cNvPr id="8" name="Picture 8">
            <a:extLst>
              <a:ext uri="{FF2B5EF4-FFF2-40B4-BE49-F238E27FC236}">
                <a16:creationId xmlns:a16="http://schemas.microsoft.com/office/drawing/2014/main" id="{9CB3622F-6096-4859-868E-8AA377DACB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5299841" y="3259999"/>
            <a:ext cx="3609975" cy="266700"/>
          </a:xfrm>
          <a:prstGeom prst="rect">
            <a:avLst/>
          </a:prstGeom>
        </p:spPr>
      </p:pic>
      <p:pic>
        <p:nvPicPr>
          <p:cNvPr id="9" name="Picture 11">
            <a:extLst>
              <a:ext uri="{FF2B5EF4-FFF2-40B4-BE49-F238E27FC236}">
                <a16:creationId xmlns:a16="http://schemas.microsoft.com/office/drawing/2014/main" id="{D1CFC7F6-DA79-4F32-94D5-6877F92667F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/>
        </p:blipFill>
        <p:spPr bwMode="auto">
          <a:xfrm>
            <a:off x="9431431" y="4373259"/>
            <a:ext cx="1905000" cy="1123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095572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7034086" name="Content Placeholder 4"/>
          <p:cNvSpPr txBox="1"/>
          <p:nvPr/>
        </p:nvSpPr>
        <p:spPr bwMode="auto">
          <a:xfrm>
            <a:off x="838201" y="639291"/>
            <a:ext cx="10515600" cy="621042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179387" indent="-179387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9249" indent="-168274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2400">
                <a:solidFill>
                  <a:schemeClr val="tx1"/>
                </a:solidFill>
                <a:latin typeface="+mn-lt"/>
              </a:defRPr>
            </a:lvl2pPr>
            <a:lvl3pPr marL="538162" indent="-187324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2400">
                <a:solidFill>
                  <a:schemeClr val="tx1"/>
                </a:solidFill>
                <a:latin typeface="+mn-lt"/>
              </a:defRPr>
            </a:lvl3pPr>
            <a:lvl4pPr marL="717549" indent="-173037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2000">
                <a:solidFill>
                  <a:schemeClr val="tx1"/>
                </a:solidFill>
                <a:latin typeface="+mn-lt"/>
              </a:defRPr>
            </a:lvl4pPr>
            <a:lvl5pPr marL="908049" indent="-188912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1365249" indent="-188912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</a:defRPr>
            </a:lvl6pPr>
            <a:lvl7pPr marL="1822449" indent="-188912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</a:defRPr>
            </a:lvl7pPr>
            <a:lvl8pPr marL="2279649" indent="-188912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</a:defRPr>
            </a:lvl8pPr>
            <a:lvl9pPr marL="2736849" indent="-188912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GB" sz="2000" b="0" i="0" u="none" strike="noStrike" cap="none" spc="0" dirty="0" err="1">
                <a:solidFill>
                  <a:schemeClr val="tx1"/>
                </a:solidFill>
                <a:latin typeface="+mj-lt"/>
                <a:ea typeface="Arial"/>
                <a:cs typeface="Arial"/>
              </a:rPr>
              <a:t>Zeichnen</a:t>
            </a:r>
            <a:r>
              <a:rPr lang="en-GB" sz="2000" b="0" i="0" u="none" strike="noStrike" cap="none" spc="0" dirty="0">
                <a:solidFill>
                  <a:schemeClr val="tx1"/>
                </a:solidFill>
                <a:latin typeface="+mj-lt"/>
                <a:ea typeface="Arial"/>
                <a:cs typeface="Arial"/>
              </a:rPr>
              <a:t> </a:t>
            </a:r>
            <a:r>
              <a:rPr lang="en-GB" sz="2000" b="0" i="0" u="none" strike="noStrike" cap="none" spc="0" dirty="0" err="1">
                <a:solidFill>
                  <a:schemeClr val="tx1"/>
                </a:solidFill>
                <a:latin typeface="+mj-lt"/>
                <a:ea typeface="Arial"/>
                <a:cs typeface="Arial"/>
              </a:rPr>
              <a:t>eines</a:t>
            </a:r>
            <a:r>
              <a:rPr lang="en-GB" sz="2000" b="0" i="0" u="none" strike="noStrike" cap="none" spc="0" dirty="0">
                <a:solidFill>
                  <a:schemeClr val="tx1"/>
                </a:solidFill>
                <a:latin typeface="+mj-lt"/>
                <a:ea typeface="Arial"/>
                <a:cs typeface="Arial"/>
              </a:rPr>
              <a:t> </a:t>
            </a:r>
            <a:r>
              <a:rPr lang="en-GB" sz="2000" b="0" i="0" u="none" strike="noStrike" cap="none" spc="0" dirty="0" err="1">
                <a:solidFill>
                  <a:schemeClr val="tx1"/>
                </a:solidFill>
                <a:latin typeface="+mj-lt"/>
                <a:ea typeface="Arial"/>
                <a:cs typeface="Arial"/>
              </a:rPr>
              <a:t>einfachen</a:t>
            </a:r>
            <a:r>
              <a:rPr lang="en-GB" sz="2000" b="0" i="0" u="none" strike="noStrike" cap="none" spc="0" dirty="0">
                <a:solidFill>
                  <a:schemeClr val="tx1"/>
                </a:solidFill>
                <a:latin typeface="+mj-lt"/>
                <a:ea typeface="Arial"/>
                <a:cs typeface="Arial"/>
              </a:rPr>
              <a:t> </a:t>
            </a:r>
            <a:r>
              <a:rPr lang="en-GB" sz="2000" b="0" i="0" u="none" strike="noStrike" cap="none" spc="0" dirty="0" err="1">
                <a:solidFill>
                  <a:schemeClr val="tx1"/>
                </a:solidFill>
                <a:latin typeface="+mj-lt"/>
                <a:ea typeface="Arial"/>
                <a:cs typeface="Arial"/>
              </a:rPr>
              <a:t>Balkendiagramms</a:t>
            </a:r>
            <a:r>
              <a:rPr lang="en-GB" sz="2000" dirty="0">
                <a:latin typeface="+mj-lt"/>
              </a:rPr>
              <a:t> </a:t>
            </a:r>
            <a:r>
              <a:rPr lang="en-GB" sz="2000" u="sng" dirty="0">
                <a:latin typeface="+mj-lt"/>
                <a:hlinkClick r:id="rId2" tooltip="https://jsfiddle.net/408unc9t/"/>
              </a:rPr>
              <a:t>https://jsfiddle.net/408unc9t/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en-GB" sz="2000" u="sng" dirty="0">
              <a:latin typeface="+mj-lt"/>
              <a:hlinkClick r:id="rId2" tooltip="https://jsfiddle.net/408unc9t/"/>
            </a:endParaRPr>
          </a:p>
          <a:p>
            <a:pPr marL="0" indent="0">
              <a:buNone/>
              <a:defRPr/>
            </a:pPr>
            <a:r>
              <a:rPr lang="de-DE" sz="2000" dirty="0" err="1">
                <a:latin typeface="+mj-lt"/>
              </a:rPr>
              <a:t>Html</a:t>
            </a:r>
            <a:r>
              <a:rPr lang="de-DE" sz="2000" dirty="0">
                <a:latin typeface="+mj-lt"/>
              </a:rPr>
              <a:t> Struktur ✓ Bildschirmplatz ✓ Horizontale Achse und Skala ✓ </a:t>
            </a:r>
          </a:p>
          <a:p>
            <a:pPr marL="0" indent="0">
              <a:buNone/>
              <a:defRPr/>
            </a:pPr>
            <a:r>
              <a:rPr lang="de-DE" sz="2000" dirty="0">
                <a:latin typeface="+mj-lt"/>
              </a:rPr>
              <a:t>Vertikale Achse: Anzahl an Dönerläden. Hierfür wird der Maximalwert benötigt!</a:t>
            </a:r>
            <a:endParaRPr lang="en-GB" sz="2000" dirty="0">
              <a:latin typeface="+mj-lt"/>
            </a:endParaRPr>
          </a:p>
        </p:txBody>
      </p:sp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85D6AE99-1014-49BE-865E-74A7CC9045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33FA4B0-7731-EC49-88EA-B5E921ABE78A}" type="slidenum">
              <a:rPr lang="de-DE" smtClean="0"/>
              <a:pPr/>
              <a:t>24</a:t>
            </a:fld>
            <a:endParaRPr lang="de-DE" dirty="0"/>
          </a:p>
        </p:txBody>
      </p:sp>
      <p:sp>
        <p:nvSpPr>
          <p:cNvPr id="11" name="Title 3">
            <a:extLst>
              <a:ext uri="{FF2B5EF4-FFF2-40B4-BE49-F238E27FC236}">
                <a16:creationId xmlns:a16="http://schemas.microsoft.com/office/drawing/2014/main" id="{53867CD3-4EF7-446C-A16D-81CB1B6C9596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838200" y="59502"/>
            <a:ext cx="10515600" cy="562032"/>
          </a:xfrm>
        </p:spPr>
        <p:txBody>
          <a:bodyPr/>
          <a:lstStyle/>
          <a:p>
            <a:pPr>
              <a:defRPr/>
            </a:pPr>
            <a:r>
              <a:rPr lang="en-GB" sz="3600" dirty="0"/>
              <a:t>Mini-Tutorial: D3 – </a:t>
            </a:r>
            <a:r>
              <a:rPr lang="en-GB" sz="3600" dirty="0" err="1"/>
              <a:t>Einfaches</a:t>
            </a:r>
            <a:r>
              <a:rPr lang="en-GB" sz="3600" dirty="0"/>
              <a:t> </a:t>
            </a:r>
            <a:r>
              <a:rPr lang="en-GB" sz="3600" dirty="0" err="1"/>
              <a:t>Balkendiagramm</a:t>
            </a:r>
            <a:endParaRPr sz="3600" dirty="0"/>
          </a:p>
        </p:txBody>
      </p:sp>
    </p:spTree>
    <p:extLst>
      <p:ext uri="{BB962C8B-B14F-4D97-AF65-F5344CB8AC3E}">
        <p14:creationId xmlns:p14="http://schemas.microsoft.com/office/powerpoint/2010/main" val="360992235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7034086" name="Content Placeholder 4"/>
          <p:cNvSpPr txBox="1"/>
          <p:nvPr/>
        </p:nvSpPr>
        <p:spPr bwMode="auto">
          <a:xfrm>
            <a:off x="838201" y="639291"/>
            <a:ext cx="10515600" cy="621042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179387" indent="-179387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9249" indent="-168274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2400">
                <a:solidFill>
                  <a:schemeClr val="tx1"/>
                </a:solidFill>
                <a:latin typeface="+mn-lt"/>
              </a:defRPr>
            </a:lvl2pPr>
            <a:lvl3pPr marL="538162" indent="-187324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2400">
                <a:solidFill>
                  <a:schemeClr val="tx1"/>
                </a:solidFill>
                <a:latin typeface="+mn-lt"/>
              </a:defRPr>
            </a:lvl3pPr>
            <a:lvl4pPr marL="717549" indent="-173037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2000">
                <a:solidFill>
                  <a:schemeClr val="tx1"/>
                </a:solidFill>
                <a:latin typeface="+mn-lt"/>
              </a:defRPr>
            </a:lvl4pPr>
            <a:lvl5pPr marL="908049" indent="-188912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1365249" indent="-188912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</a:defRPr>
            </a:lvl6pPr>
            <a:lvl7pPr marL="1822449" indent="-188912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</a:defRPr>
            </a:lvl7pPr>
            <a:lvl8pPr marL="2279649" indent="-188912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</a:defRPr>
            </a:lvl8pPr>
            <a:lvl9pPr marL="2736849" indent="-188912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GB" sz="2000" b="0" i="0" u="none" strike="noStrike" cap="none" spc="0" dirty="0" err="1">
                <a:solidFill>
                  <a:schemeClr val="tx1"/>
                </a:solidFill>
                <a:latin typeface="+mj-lt"/>
                <a:ea typeface="Arial"/>
                <a:cs typeface="Arial"/>
              </a:rPr>
              <a:t>Zeichnen</a:t>
            </a:r>
            <a:r>
              <a:rPr lang="en-GB" sz="2000" b="0" i="0" u="none" strike="noStrike" cap="none" spc="0" dirty="0">
                <a:solidFill>
                  <a:schemeClr val="tx1"/>
                </a:solidFill>
                <a:latin typeface="+mj-lt"/>
                <a:ea typeface="Arial"/>
                <a:cs typeface="Arial"/>
              </a:rPr>
              <a:t> </a:t>
            </a:r>
            <a:r>
              <a:rPr lang="en-GB" sz="2000" b="0" i="0" u="none" strike="noStrike" cap="none" spc="0" dirty="0" err="1">
                <a:solidFill>
                  <a:schemeClr val="tx1"/>
                </a:solidFill>
                <a:latin typeface="+mj-lt"/>
                <a:ea typeface="Arial"/>
                <a:cs typeface="Arial"/>
              </a:rPr>
              <a:t>eines</a:t>
            </a:r>
            <a:r>
              <a:rPr lang="en-GB" sz="2000" b="0" i="0" u="none" strike="noStrike" cap="none" spc="0" dirty="0">
                <a:solidFill>
                  <a:schemeClr val="tx1"/>
                </a:solidFill>
                <a:latin typeface="+mj-lt"/>
                <a:ea typeface="Arial"/>
                <a:cs typeface="Arial"/>
              </a:rPr>
              <a:t> </a:t>
            </a:r>
            <a:r>
              <a:rPr lang="en-GB" sz="2000" b="0" i="0" u="none" strike="noStrike" cap="none" spc="0" dirty="0" err="1">
                <a:solidFill>
                  <a:schemeClr val="tx1"/>
                </a:solidFill>
                <a:latin typeface="+mj-lt"/>
                <a:ea typeface="Arial"/>
                <a:cs typeface="Arial"/>
              </a:rPr>
              <a:t>einfachen</a:t>
            </a:r>
            <a:r>
              <a:rPr lang="en-GB" sz="2000" b="0" i="0" u="none" strike="noStrike" cap="none" spc="0" dirty="0">
                <a:solidFill>
                  <a:schemeClr val="tx1"/>
                </a:solidFill>
                <a:latin typeface="+mj-lt"/>
                <a:ea typeface="Arial"/>
                <a:cs typeface="Arial"/>
              </a:rPr>
              <a:t> </a:t>
            </a:r>
            <a:r>
              <a:rPr lang="en-GB" sz="2000" b="0" i="0" u="none" strike="noStrike" cap="none" spc="0" dirty="0" err="1">
                <a:solidFill>
                  <a:schemeClr val="tx1"/>
                </a:solidFill>
                <a:latin typeface="+mj-lt"/>
                <a:ea typeface="Arial"/>
                <a:cs typeface="Arial"/>
              </a:rPr>
              <a:t>Balkendiagramms</a:t>
            </a:r>
            <a:r>
              <a:rPr lang="en-GB" sz="2000" dirty="0">
                <a:latin typeface="+mj-lt"/>
              </a:rPr>
              <a:t> </a:t>
            </a:r>
            <a:r>
              <a:rPr lang="en-GB" sz="2000" u="sng" dirty="0">
                <a:latin typeface="+mj-lt"/>
                <a:hlinkClick r:id="rId2" tooltip="https://jsfiddle.net/408unc9t/"/>
              </a:rPr>
              <a:t>https://jsfiddle.net/408unc9t/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en-GB" sz="2000" u="sng" dirty="0">
              <a:latin typeface="+mj-lt"/>
              <a:hlinkClick r:id="rId2" tooltip="https://jsfiddle.net/408unc9t/"/>
            </a:endParaRPr>
          </a:p>
          <a:p>
            <a:pPr marL="0" indent="0">
              <a:buNone/>
              <a:defRPr/>
            </a:pPr>
            <a:r>
              <a:rPr lang="de-DE" sz="2000" dirty="0" err="1">
                <a:latin typeface="+mj-lt"/>
              </a:rPr>
              <a:t>Html</a:t>
            </a:r>
            <a:r>
              <a:rPr lang="de-DE" sz="2000" dirty="0">
                <a:latin typeface="+mj-lt"/>
              </a:rPr>
              <a:t> Struktur ✓ Bildschirmplatz ✓ Horizontale Achse und Skala ✓ </a:t>
            </a:r>
          </a:p>
          <a:p>
            <a:pPr marL="0" indent="0">
              <a:buNone/>
              <a:defRPr/>
            </a:pPr>
            <a:r>
              <a:rPr lang="de-DE" sz="2000" dirty="0">
                <a:latin typeface="+mj-lt"/>
              </a:rPr>
              <a:t>Vertikale Achse: Anzahl an Dönerläden. Hierfür wird der Maximalwert benötigt!</a:t>
            </a:r>
          </a:p>
          <a:p>
            <a:pPr marL="0" indent="0">
              <a:buNone/>
              <a:defRPr/>
            </a:pPr>
            <a:endParaRPr lang="de-DE" sz="2000" dirty="0">
              <a:latin typeface="+mj-lt"/>
            </a:endParaRPr>
          </a:p>
          <a:p>
            <a:pPr marL="0" indent="0">
              <a:buNone/>
              <a:defRPr/>
            </a:pPr>
            <a:endParaRPr lang="de-DE" sz="2000" dirty="0">
              <a:latin typeface="+mj-lt"/>
            </a:endParaRPr>
          </a:p>
          <a:p>
            <a:pPr marL="0" indent="0">
              <a:buNone/>
              <a:defRPr/>
            </a:pPr>
            <a:endParaRPr lang="de-DE" sz="2000" dirty="0">
              <a:latin typeface="+mj-lt"/>
            </a:endParaRPr>
          </a:p>
          <a:p>
            <a:pPr marL="0" indent="0">
              <a:buNone/>
              <a:defRPr/>
            </a:pPr>
            <a:endParaRPr lang="de-DE" sz="2000" dirty="0">
              <a:latin typeface="+mj-lt"/>
            </a:endParaRPr>
          </a:p>
          <a:p>
            <a:pPr marL="0" indent="0">
              <a:buNone/>
              <a:defRPr/>
            </a:pPr>
            <a:endParaRPr lang="de-DE" sz="2000" dirty="0">
              <a:latin typeface="+mj-lt"/>
            </a:endParaRPr>
          </a:p>
          <a:p>
            <a:pPr marL="0" indent="0">
              <a:buNone/>
              <a:defRPr/>
            </a:pPr>
            <a:r>
              <a:rPr lang="de-DE" sz="2000" dirty="0">
                <a:latin typeface="+mj-lt"/>
              </a:rPr>
              <a:t>d3.max: Finde den Maximalwert in einem Array</a:t>
            </a:r>
          </a:p>
          <a:p>
            <a:pPr marL="0" indent="0">
              <a:buNone/>
              <a:defRPr/>
            </a:pPr>
            <a:r>
              <a:rPr lang="de-DE" sz="2000" dirty="0" err="1">
                <a:latin typeface="+mj-lt"/>
              </a:rPr>
              <a:t>scaleLinear</a:t>
            </a:r>
            <a:r>
              <a:rPr lang="de-DE" sz="2000" dirty="0">
                <a:latin typeface="+mj-lt"/>
              </a:rPr>
              <a:t>(): Erzeuge eine lineare Skala</a:t>
            </a:r>
          </a:p>
          <a:p>
            <a:pPr marL="0" indent="0">
              <a:buNone/>
              <a:defRPr/>
            </a:pPr>
            <a:endParaRPr lang="de-DE" sz="2000" dirty="0">
              <a:latin typeface="+mj-lt"/>
            </a:endParaRPr>
          </a:p>
          <a:p>
            <a:pPr marL="0" indent="0">
              <a:buNone/>
              <a:defRPr/>
            </a:pPr>
            <a:r>
              <a:rPr lang="de-DE" sz="2000" dirty="0">
                <a:latin typeface="+mj-lt"/>
              </a:rPr>
              <a:t>Hinweis: in d3 (und vielen anderen Programmen), ist 0,0 die obere </a:t>
            </a:r>
            <a:br>
              <a:rPr lang="de-DE" sz="2000" dirty="0">
                <a:latin typeface="+mj-lt"/>
              </a:rPr>
            </a:br>
            <a:r>
              <a:rPr lang="de-DE" sz="2000" dirty="0">
                <a:latin typeface="+mj-lt"/>
              </a:rPr>
              <a:t>linke Ecke! Daher ist der Ziel-Wertebereich (</a:t>
            </a:r>
            <a:r>
              <a:rPr lang="de-DE" sz="2000" dirty="0" err="1">
                <a:latin typeface="+mj-lt"/>
              </a:rPr>
              <a:t>range</a:t>
            </a:r>
            <a:r>
              <a:rPr lang="de-DE" sz="2000" dirty="0">
                <a:latin typeface="+mj-lt"/>
              </a:rPr>
              <a:t>) von </a:t>
            </a:r>
            <a:r>
              <a:rPr lang="de-DE" sz="2000" dirty="0" err="1">
                <a:latin typeface="+mj-lt"/>
              </a:rPr>
              <a:t>height</a:t>
            </a:r>
            <a:r>
              <a:rPr lang="de-DE" sz="2000" dirty="0">
                <a:latin typeface="+mj-lt"/>
              </a:rPr>
              <a:t> bis 0</a:t>
            </a:r>
          </a:p>
          <a:p>
            <a:pPr marL="0" indent="0">
              <a:buNone/>
              <a:defRPr/>
            </a:pPr>
            <a:endParaRPr lang="en-GB" sz="2000" dirty="0">
              <a:latin typeface="+mj-lt"/>
            </a:endParaRPr>
          </a:p>
        </p:txBody>
      </p:sp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85D6AE99-1014-49BE-865E-74A7CC9045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33FA4B0-7731-EC49-88EA-B5E921ABE78A}" type="slidenum">
              <a:rPr lang="de-DE" smtClean="0"/>
              <a:pPr/>
              <a:t>25</a:t>
            </a:fld>
            <a:endParaRPr lang="de-DE" dirty="0"/>
          </a:p>
        </p:txBody>
      </p:sp>
      <p:sp>
        <p:nvSpPr>
          <p:cNvPr id="11" name="Title 3">
            <a:extLst>
              <a:ext uri="{FF2B5EF4-FFF2-40B4-BE49-F238E27FC236}">
                <a16:creationId xmlns:a16="http://schemas.microsoft.com/office/drawing/2014/main" id="{53867CD3-4EF7-446C-A16D-81CB1B6C9596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838200" y="59502"/>
            <a:ext cx="10515600" cy="562032"/>
          </a:xfrm>
        </p:spPr>
        <p:txBody>
          <a:bodyPr/>
          <a:lstStyle/>
          <a:p>
            <a:pPr>
              <a:defRPr/>
            </a:pPr>
            <a:r>
              <a:rPr lang="en-GB" sz="3600" dirty="0"/>
              <a:t>Mini-Tutorial: D3 – </a:t>
            </a:r>
            <a:r>
              <a:rPr lang="en-GB" sz="3600" dirty="0" err="1"/>
              <a:t>Einfaches</a:t>
            </a:r>
            <a:r>
              <a:rPr lang="en-GB" sz="3600" dirty="0"/>
              <a:t> </a:t>
            </a:r>
            <a:r>
              <a:rPr lang="en-GB" sz="3600" dirty="0" err="1"/>
              <a:t>Balkendiagramm</a:t>
            </a:r>
            <a:endParaRPr sz="3600" dirty="0"/>
          </a:p>
        </p:txBody>
      </p:sp>
      <p:pic>
        <p:nvPicPr>
          <p:cNvPr id="6" name="Picture 6">
            <a:extLst>
              <a:ext uri="{FF2B5EF4-FFF2-40B4-BE49-F238E27FC236}">
                <a16:creationId xmlns:a16="http://schemas.microsoft.com/office/drawing/2014/main" id="{BA0EED0A-4907-44E4-8796-E8B6C7A02B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21827" y="2016327"/>
            <a:ext cx="5915025" cy="1095375"/>
          </a:xfrm>
          <a:prstGeom prst="rect">
            <a:avLst/>
          </a:prstGeom>
        </p:spPr>
      </p:pic>
      <p:sp>
        <p:nvSpPr>
          <p:cNvPr id="7" name="Rectangle 7">
            <a:extLst>
              <a:ext uri="{FF2B5EF4-FFF2-40B4-BE49-F238E27FC236}">
                <a16:creationId xmlns:a16="http://schemas.microsoft.com/office/drawing/2014/main" id="{85B21872-AF75-484B-B26C-781DD5B0FD99}"/>
              </a:ext>
            </a:extLst>
          </p:cNvPr>
          <p:cNvSpPr/>
          <p:nvPr/>
        </p:nvSpPr>
        <p:spPr bwMode="auto">
          <a:xfrm>
            <a:off x="9852457" y="3674333"/>
            <a:ext cx="1968218" cy="136815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B8B8C677-9A6E-4D51-8981-5C550EF1E9ED}"/>
              </a:ext>
            </a:extLst>
          </p:cNvPr>
          <p:cNvSpPr txBox="1"/>
          <p:nvPr/>
        </p:nvSpPr>
        <p:spPr bwMode="auto">
          <a:xfrm>
            <a:off x="9480149" y="3306236"/>
            <a:ext cx="5052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GB" dirty="0"/>
              <a:t>0,0</a:t>
            </a:r>
            <a:endParaRPr dirty="0"/>
          </a:p>
        </p:txBody>
      </p:sp>
      <p:sp>
        <p:nvSpPr>
          <p:cNvPr id="9" name="TextBox 12">
            <a:extLst>
              <a:ext uri="{FF2B5EF4-FFF2-40B4-BE49-F238E27FC236}">
                <a16:creationId xmlns:a16="http://schemas.microsoft.com/office/drawing/2014/main" id="{9384ADEF-3F7C-4522-B5ED-D92BE26454D9}"/>
              </a:ext>
            </a:extLst>
          </p:cNvPr>
          <p:cNvSpPr txBox="1"/>
          <p:nvPr/>
        </p:nvSpPr>
        <p:spPr bwMode="auto">
          <a:xfrm>
            <a:off x="9441486" y="5020140"/>
            <a:ext cx="10054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GB" dirty="0"/>
              <a:t>0,height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6259605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7034086" name="Content Placeholder 4"/>
          <p:cNvSpPr txBox="1"/>
          <p:nvPr/>
        </p:nvSpPr>
        <p:spPr bwMode="auto">
          <a:xfrm>
            <a:off x="838201" y="639291"/>
            <a:ext cx="10515600" cy="621042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179387" indent="-179387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9249" indent="-168274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2400">
                <a:solidFill>
                  <a:schemeClr val="tx1"/>
                </a:solidFill>
                <a:latin typeface="+mn-lt"/>
              </a:defRPr>
            </a:lvl2pPr>
            <a:lvl3pPr marL="538162" indent="-187324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2400">
                <a:solidFill>
                  <a:schemeClr val="tx1"/>
                </a:solidFill>
                <a:latin typeface="+mn-lt"/>
              </a:defRPr>
            </a:lvl3pPr>
            <a:lvl4pPr marL="717549" indent="-173037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2000">
                <a:solidFill>
                  <a:schemeClr val="tx1"/>
                </a:solidFill>
                <a:latin typeface="+mn-lt"/>
              </a:defRPr>
            </a:lvl4pPr>
            <a:lvl5pPr marL="908049" indent="-188912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1365249" indent="-188912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</a:defRPr>
            </a:lvl6pPr>
            <a:lvl7pPr marL="1822449" indent="-188912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</a:defRPr>
            </a:lvl7pPr>
            <a:lvl8pPr marL="2279649" indent="-188912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</a:defRPr>
            </a:lvl8pPr>
            <a:lvl9pPr marL="2736849" indent="-188912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GB" sz="2000" b="0" i="0" u="none" strike="noStrike" cap="none" spc="0" dirty="0" err="1">
                <a:solidFill>
                  <a:schemeClr val="tx1"/>
                </a:solidFill>
                <a:latin typeface="+mj-lt"/>
                <a:ea typeface="Arial"/>
                <a:cs typeface="Arial"/>
              </a:rPr>
              <a:t>Zeichnen</a:t>
            </a:r>
            <a:r>
              <a:rPr lang="en-GB" sz="2000" b="0" i="0" u="none" strike="noStrike" cap="none" spc="0" dirty="0">
                <a:solidFill>
                  <a:schemeClr val="tx1"/>
                </a:solidFill>
                <a:latin typeface="+mj-lt"/>
                <a:ea typeface="Arial"/>
                <a:cs typeface="Arial"/>
              </a:rPr>
              <a:t> </a:t>
            </a:r>
            <a:r>
              <a:rPr lang="en-GB" sz="2000" b="0" i="0" u="none" strike="noStrike" cap="none" spc="0" dirty="0" err="1">
                <a:solidFill>
                  <a:schemeClr val="tx1"/>
                </a:solidFill>
                <a:latin typeface="+mj-lt"/>
                <a:ea typeface="Arial"/>
                <a:cs typeface="Arial"/>
              </a:rPr>
              <a:t>eines</a:t>
            </a:r>
            <a:r>
              <a:rPr lang="en-GB" sz="2000" b="0" i="0" u="none" strike="noStrike" cap="none" spc="0" dirty="0">
                <a:solidFill>
                  <a:schemeClr val="tx1"/>
                </a:solidFill>
                <a:latin typeface="+mj-lt"/>
                <a:ea typeface="Arial"/>
                <a:cs typeface="Arial"/>
              </a:rPr>
              <a:t> </a:t>
            </a:r>
            <a:r>
              <a:rPr lang="en-GB" sz="2000" b="0" i="0" u="none" strike="noStrike" cap="none" spc="0" dirty="0" err="1">
                <a:solidFill>
                  <a:schemeClr val="tx1"/>
                </a:solidFill>
                <a:latin typeface="+mj-lt"/>
                <a:ea typeface="Arial"/>
                <a:cs typeface="Arial"/>
              </a:rPr>
              <a:t>einfachen</a:t>
            </a:r>
            <a:r>
              <a:rPr lang="en-GB" sz="2000" b="0" i="0" u="none" strike="noStrike" cap="none" spc="0" dirty="0">
                <a:solidFill>
                  <a:schemeClr val="tx1"/>
                </a:solidFill>
                <a:latin typeface="+mj-lt"/>
                <a:ea typeface="Arial"/>
                <a:cs typeface="Arial"/>
              </a:rPr>
              <a:t> </a:t>
            </a:r>
            <a:r>
              <a:rPr lang="en-GB" sz="2000" b="0" i="0" u="none" strike="noStrike" cap="none" spc="0" dirty="0" err="1">
                <a:solidFill>
                  <a:schemeClr val="tx1"/>
                </a:solidFill>
                <a:latin typeface="+mj-lt"/>
                <a:ea typeface="Arial"/>
                <a:cs typeface="Arial"/>
              </a:rPr>
              <a:t>Balkendiagramms</a:t>
            </a:r>
            <a:r>
              <a:rPr lang="en-GB" sz="2000" dirty="0">
                <a:latin typeface="+mj-lt"/>
              </a:rPr>
              <a:t> </a:t>
            </a:r>
            <a:r>
              <a:rPr lang="en-GB" sz="2000" u="sng" dirty="0">
                <a:latin typeface="+mj-lt"/>
                <a:hlinkClick r:id="rId2" tooltip="https://jsfiddle.net/408unc9t/"/>
              </a:rPr>
              <a:t>https://jsfiddle.net/408unc9t/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en-GB" sz="2000" u="sng" dirty="0">
              <a:latin typeface="+mj-lt"/>
              <a:hlinkClick r:id="rId2" tooltip="https://jsfiddle.net/408unc9t/"/>
            </a:endParaRPr>
          </a:p>
          <a:p>
            <a:pPr marL="0" indent="0">
              <a:buNone/>
              <a:defRPr/>
            </a:pPr>
            <a:r>
              <a:rPr lang="de-DE" sz="2000" dirty="0" err="1">
                <a:latin typeface="+mj-lt"/>
              </a:rPr>
              <a:t>Html</a:t>
            </a:r>
            <a:r>
              <a:rPr lang="de-DE" sz="2000" dirty="0">
                <a:latin typeface="+mj-lt"/>
              </a:rPr>
              <a:t> Struktur ✓ Bildschirmplatz ✓ Horizontale Achse und Skala ✓</a:t>
            </a:r>
          </a:p>
          <a:p>
            <a:pPr marL="0" indent="0">
              <a:buNone/>
              <a:defRPr/>
            </a:pPr>
            <a:r>
              <a:rPr lang="de-DE" sz="2000" dirty="0">
                <a:latin typeface="+mj-lt"/>
              </a:rPr>
              <a:t>Balken zeichnen</a:t>
            </a:r>
          </a:p>
          <a:p>
            <a:pPr marL="0" indent="0">
              <a:buNone/>
              <a:defRPr/>
            </a:pPr>
            <a:r>
              <a:rPr lang="de-DE" sz="2000" dirty="0">
                <a:latin typeface="+mj-lt"/>
              </a:rPr>
              <a:t>.</a:t>
            </a:r>
            <a:r>
              <a:rPr lang="de-DE" sz="2000" dirty="0" err="1">
                <a:latin typeface="+mj-lt"/>
              </a:rPr>
              <a:t>data</a:t>
            </a:r>
            <a:r>
              <a:rPr lang="de-DE" sz="2000" dirty="0">
                <a:latin typeface="+mj-lt"/>
              </a:rPr>
              <a:t>(): Verknüpft die Daten mit der aktuellen Auswahl an SVG Elementen</a:t>
            </a:r>
          </a:p>
        </p:txBody>
      </p:sp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85D6AE99-1014-49BE-865E-74A7CC9045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33FA4B0-7731-EC49-88EA-B5E921ABE78A}" type="slidenum">
              <a:rPr lang="de-DE" smtClean="0"/>
              <a:pPr/>
              <a:t>26</a:t>
            </a:fld>
            <a:endParaRPr lang="de-DE" dirty="0"/>
          </a:p>
        </p:txBody>
      </p:sp>
      <p:sp>
        <p:nvSpPr>
          <p:cNvPr id="11" name="Title 3">
            <a:extLst>
              <a:ext uri="{FF2B5EF4-FFF2-40B4-BE49-F238E27FC236}">
                <a16:creationId xmlns:a16="http://schemas.microsoft.com/office/drawing/2014/main" id="{53867CD3-4EF7-446C-A16D-81CB1B6C9596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838200" y="59502"/>
            <a:ext cx="10515600" cy="562032"/>
          </a:xfrm>
        </p:spPr>
        <p:txBody>
          <a:bodyPr/>
          <a:lstStyle/>
          <a:p>
            <a:pPr>
              <a:defRPr/>
            </a:pPr>
            <a:r>
              <a:rPr lang="en-GB" sz="3600" dirty="0"/>
              <a:t>Mini-Tutorial: D3 – </a:t>
            </a:r>
            <a:r>
              <a:rPr lang="en-GB" sz="3600" dirty="0" err="1"/>
              <a:t>Einfaches</a:t>
            </a:r>
            <a:r>
              <a:rPr lang="en-GB" sz="3600" dirty="0"/>
              <a:t> </a:t>
            </a:r>
            <a:r>
              <a:rPr lang="en-GB" sz="3600" dirty="0" err="1"/>
              <a:t>Balkendiagramm</a:t>
            </a:r>
            <a:endParaRPr sz="3600" dirty="0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51CDBB2D-835A-43B1-8D6E-E71A1E3BA8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915607" y="1601788"/>
            <a:ext cx="4333875" cy="314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185576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7034086" name="Content Placeholder 4"/>
          <p:cNvSpPr txBox="1"/>
          <p:nvPr/>
        </p:nvSpPr>
        <p:spPr bwMode="auto">
          <a:xfrm>
            <a:off x="838201" y="639291"/>
            <a:ext cx="10515600" cy="621042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179387" indent="-179387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9249" indent="-168274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2400">
                <a:solidFill>
                  <a:schemeClr val="tx1"/>
                </a:solidFill>
                <a:latin typeface="+mn-lt"/>
              </a:defRPr>
            </a:lvl2pPr>
            <a:lvl3pPr marL="538162" indent="-187324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2400">
                <a:solidFill>
                  <a:schemeClr val="tx1"/>
                </a:solidFill>
                <a:latin typeface="+mn-lt"/>
              </a:defRPr>
            </a:lvl3pPr>
            <a:lvl4pPr marL="717549" indent="-173037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2000">
                <a:solidFill>
                  <a:schemeClr val="tx1"/>
                </a:solidFill>
                <a:latin typeface="+mn-lt"/>
              </a:defRPr>
            </a:lvl4pPr>
            <a:lvl5pPr marL="908049" indent="-188912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1365249" indent="-188912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</a:defRPr>
            </a:lvl6pPr>
            <a:lvl7pPr marL="1822449" indent="-188912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</a:defRPr>
            </a:lvl7pPr>
            <a:lvl8pPr marL="2279649" indent="-188912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</a:defRPr>
            </a:lvl8pPr>
            <a:lvl9pPr marL="2736849" indent="-188912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GB" sz="2000" b="0" i="0" u="none" strike="noStrike" cap="none" spc="0" dirty="0" err="1">
                <a:solidFill>
                  <a:schemeClr val="tx1"/>
                </a:solidFill>
                <a:latin typeface="+mj-lt"/>
                <a:ea typeface="Arial"/>
                <a:cs typeface="Arial"/>
              </a:rPr>
              <a:t>Zeichnen</a:t>
            </a:r>
            <a:r>
              <a:rPr lang="en-GB" sz="2000" b="0" i="0" u="none" strike="noStrike" cap="none" spc="0" dirty="0">
                <a:solidFill>
                  <a:schemeClr val="tx1"/>
                </a:solidFill>
                <a:latin typeface="+mj-lt"/>
                <a:ea typeface="Arial"/>
                <a:cs typeface="Arial"/>
              </a:rPr>
              <a:t> </a:t>
            </a:r>
            <a:r>
              <a:rPr lang="en-GB" sz="2000" b="0" i="0" u="none" strike="noStrike" cap="none" spc="0" dirty="0" err="1">
                <a:solidFill>
                  <a:schemeClr val="tx1"/>
                </a:solidFill>
                <a:latin typeface="+mj-lt"/>
                <a:ea typeface="Arial"/>
                <a:cs typeface="Arial"/>
              </a:rPr>
              <a:t>eines</a:t>
            </a:r>
            <a:r>
              <a:rPr lang="en-GB" sz="2000" b="0" i="0" u="none" strike="noStrike" cap="none" spc="0" dirty="0">
                <a:solidFill>
                  <a:schemeClr val="tx1"/>
                </a:solidFill>
                <a:latin typeface="+mj-lt"/>
                <a:ea typeface="Arial"/>
                <a:cs typeface="Arial"/>
              </a:rPr>
              <a:t> </a:t>
            </a:r>
            <a:r>
              <a:rPr lang="en-GB" sz="2000" b="0" i="0" u="none" strike="noStrike" cap="none" spc="0" dirty="0" err="1">
                <a:solidFill>
                  <a:schemeClr val="tx1"/>
                </a:solidFill>
                <a:latin typeface="+mj-lt"/>
                <a:ea typeface="Arial"/>
                <a:cs typeface="Arial"/>
              </a:rPr>
              <a:t>einfachen</a:t>
            </a:r>
            <a:r>
              <a:rPr lang="en-GB" sz="2000" b="0" i="0" u="none" strike="noStrike" cap="none" spc="0" dirty="0">
                <a:solidFill>
                  <a:schemeClr val="tx1"/>
                </a:solidFill>
                <a:latin typeface="+mj-lt"/>
                <a:ea typeface="Arial"/>
                <a:cs typeface="Arial"/>
              </a:rPr>
              <a:t> </a:t>
            </a:r>
            <a:r>
              <a:rPr lang="en-GB" sz="2000" b="0" i="0" u="none" strike="noStrike" cap="none" spc="0" dirty="0" err="1">
                <a:solidFill>
                  <a:schemeClr val="tx1"/>
                </a:solidFill>
                <a:latin typeface="+mj-lt"/>
                <a:ea typeface="Arial"/>
                <a:cs typeface="Arial"/>
              </a:rPr>
              <a:t>Balkendiagramms</a:t>
            </a:r>
            <a:r>
              <a:rPr lang="en-GB" sz="2000" dirty="0">
                <a:latin typeface="+mj-lt"/>
              </a:rPr>
              <a:t> </a:t>
            </a:r>
            <a:r>
              <a:rPr lang="en-GB" sz="2000" u="sng" dirty="0">
                <a:latin typeface="+mj-lt"/>
                <a:hlinkClick r:id="rId2" tooltip="https://jsfiddle.net/408unc9t/"/>
              </a:rPr>
              <a:t>https://jsfiddle.net/408unc9t/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en-GB" sz="2000" u="sng" dirty="0">
              <a:latin typeface="+mj-lt"/>
              <a:hlinkClick r:id="rId2" tooltip="https://jsfiddle.net/408unc9t/"/>
            </a:endParaRPr>
          </a:p>
          <a:p>
            <a:pPr marL="0" indent="0">
              <a:buNone/>
              <a:defRPr/>
            </a:pPr>
            <a:r>
              <a:rPr lang="de-DE" sz="2000" dirty="0" err="1">
                <a:latin typeface="+mj-lt"/>
              </a:rPr>
              <a:t>Html</a:t>
            </a:r>
            <a:r>
              <a:rPr lang="de-DE" sz="2000" dirty="0">
                <a:latin typeface="+mj-lt"/>
              </a:rPr>
              <a:t> Struktur ✓ Bildschirmplatz ✓ Horizontale Achse und Skala ✓</a:t>
            </a:r>
          </a:p>
          <a:p>
            <a:pPr marL="0" indent="0">
              <a:buNone/>
              <a:defRPr/>
            </a:pPr>
            <a:r>
              <a:rPr lang="de-DE" sz="2000" dirty="0">
                <a:latin typeface="+mj-lt"/>
              </a:rPr>
              <a:t>Balken zeichnen</a:t>
            </a:r>
          </a:p>
          <a:p>
            <a:pPr marL="0" indent="0">
              <a:buNone/>
              <a:defRPr/>
            </a:pPr>
            <a:r>
              <a:rPr lang="de-DE" sz="2000" dirty="0">
                <a:latin typeface="+mj-lt"/>
              </a:rPr>
              <a:t>.</a:t>
            </a:r>
            <a:r>
              <a:rPr lang="de-DE" sz="2000" dirty="0" err="1">
                <a:latin typeface="+mj-lt"/>
              </a:rPr>
              <a:t>data</a:t>
            </a:r>
            <a:r>
              <a:rPr lang="de-DE" sz="2000" dirty="0">
                <a:latin typeface="+mj-lt"/>
              </a:rPr>
              <a:t>(): Verknüpft die Daten mit der aktuellen Auswahl an SVG Elementen</a:t>
            </a:r>
          </a:p>
          <a:p>
            <a:pPr marL="0" indent="0">
              <a:buNone/>
              <a:defRPr/>
            </a:pPr>
            <a:endParaRPr lang="de-DE" sz="2000" dirty="0">
              <a:latin typeface="+mj-lt"/>
            </a:endParaRPr>
          </a:p>
          <a:p>
            <a:pPr marL="0" indent="0">
              <a:buNone/>
              <a:defRPr/>
            </a:pPr>
            <a:endParaRPr lang="de-DE" sz="2000" dirty="0">
              <a:latin typeface="+mj-lt"/>
            </a:endParaRPr>
          </a:p>
          <a:p>
            <a:pPr marL="0" indent="0">
              <a:buNone/>
              <a:defRPr/>
            </a:pPr>
            <a:endParaRPr lang="de-DE" sz="2000" dirty="0">
              <a:latin typeface="+mj-lt"/>
            </a:endParaRPr>
          </a:p>
          <a:p>
            <a:pPr marL="0" indent="0">
              <a:buNone/>
              <a:defRPr/>
            </a:pPr>
            <a:endParaRPr lang="de-DE" sz="2000" dirty="0">
              <a:latin typeface="+mj-lt"/>
            </a:endParaRPr>
          </a:p>
          <a:p>
            <a:pPr marL="0" indent="0">
              <a:buNone/>
              <a:defRPr/>
            </a:pPr>
            <a:endParaRPr lang="de-DE" sz="2000" dirty="0">
              <a:latin typeface="+mj-lt"/>
            </a:endParaRPr>
          </a:p>
          <a:p>
            <a:pPr marL="0" indent="0">
              <a:buNone/>
              <a:defRPr/>
            </a:pPr>
            <a:endParaRPr lang="de-DE" sz="2000" dirty="0">
              <a:latin typeface="+mj-lt"/>
            </a:endParaRPr>
          </a:p>
          <a:p>
            <a:pPr>
              <a:buFont typeface="Arial" panose="020B0604020202020204" pitchFamily="34" charset="0"/>
              <a:buChar char="•"/>
              <a:defRPr/>
            </a:pPr>
            <a:r>
              <a:rPr lang="de-DE" sz="2000" dirty="0">
                <a:latin typeface="+mj-lt"/>
              </a:rPr>
              <a:t>.</a:t>
            </a:r>
            <a:r>
              <a:rPr lang="de-DE" sz="2000" dirty="0" err="1">
                <a:latin typeface="+mj-lt"/>
              </a:rPr>
              <a:t>enter</a:t>
            </a:r>
            <a:r>
              <a:rPr lang="de-DE" sz="2000" dirty="0">
                <a:latin typeface="+mj-lt"/>
              </a:rPr>
              <a:t>().</a:t>
            </a:r>
            <a:r>
              <a:rPr lang="de-DE" sz="2000" dirty="0" err="1">
                <a:latin typeface="+mj-lt"/>
              </a:rPr>
              <a:t>append</a:t>
            </a:r>
            <a:r>
              <a:rPr lang="de-DE" sz="2000" dirty="0">
                <a:latin typeface="+mj-lt"/>
              </a:rPr>
              <a:t>(“</a:t>
            </a:r>
            <a:r>
              <a:rPr lang="de-DE" sz="2000" dirty="0" err="1">
                <a:latin typeface="+mj-lt"/>
              </a:rPr>
              <a:t>rect</a:t>
            </a:r>
            <a:r>
              <a:rPr lang="de-DE" sz="2000" dirty="0">
                <a:latin typeface="+mj-lt"/>
              </a:rPr>
              <a:t>”): Erzeuge neues </a:t>
            </a:r>
            <a:r>
              <a:rPr lang="de-DE" sz="2000" dirty="0" err="1">
                <a:latin typeface="+mj-lt"/>
              </a:rPr>
              <a:t>rect</a:t>
            </a:r>
            <a:r>
              <a:rPr lang="de-DE" sz="2000" dirty="0">
                <a:latin typeface="+mj-lt"/>
              </a:rPr>
              <a:t> Element für jeden Datenpunkt, für das kein Element in der Auswahl existiert (da zu wenige bisher vorhanden sind).</a:t>
            </a:r>
          </a:p>
          <a:p>
            <a:pPr>
              <a:buFont typeface="Arial" panose="020B0604020202020204" pitchFamily="34" charset="0"/>
              <a:buChar char="•"/>
              <a:defRPr/>
            </a:pPr>
            <a:r>
              <a:rPr lang="de-DE" sz="2000" dirty="0">
                <a:latin typeface="+mj-lt"/>
              </a:rPr>
              <a:t>“x”, (d) =&gt; </a:t>
            </a:r>
            <a:r>
              <a:rPr lang="de-DE" sz="2000" dirty="0" err="1">
                <a:latin typeface="+mj-lt"/>
              </a:rPr>
              <a:t>scale_x</a:t>
            </a:r>
            <a:r>
              <a:rPr lang="de-DE" sz="2000" dirty="0">
                <a:latin typeface="+mj-lt"/>
              </a:rPr>
              <a:t>(</a:t>
            </a:r>
            <a:r>
              <a:rPr lang="de-DE" sz="2000" dirty="0" err="1">
                <a:latin typeface="+mj-lt"/>
              </a:rPr>
              <a:t>d.city</a:t>
            </a:r>
            <a:r>
              <a:rPr lang="de-DE" sz="2000" dirty="0">
                <a:latin typeface="+mj-lt"/>
              </a:rPr>
              <a:t>): Berechnet mit der Skala die X-Koordinate für die Stadt</a:t>
            </a:r>
          </a:p>
          <a:p>
            <a:pPr>
              <a:buFont typeface="Arial" panose="020B0604020202020204" pitchFamily="34" charset="0"/>
              <a:buChar char="•"/>
              <a:defRPr/>
            </a:pPr>
            <a:r>
              <a:rPr lang="de-DE" sz="2000" dirty="0">
                <a:latin typeface="+mj-lt"/>
              </a:rPr>
              <a:t>“y”, … : Legt die Y-Koordinate gemäß der Skala fest. Nicht vergessen: wir zeichnen von oben links.</a:t>
            </a:r>
          </a:p>
          <a:p>
            <a:pPr>
              <a:buFont typeface="Arial" panose="020B0604020202020204" pitchFamily="34" charset="0"/>
              <a:buChar char="•"/>
              <a:defRPr/>
            </a:pPr>
            <a:r>
              <a:rPr lang="de-DE" sz="2000" dirty="0">
                <a:latin typeface="+mj-lt"/>
              </a:rPr>
              <a:t>“</a:t>
            </a:r>
            <a:r>
              <a:rPr lang="de-DE" sz="2000" dirty="0" err="1">
                <a:latin typeface="+mj-lt"/>
              </a:rPr>
              <a:t>width</a:t>
            </a:r>
            <a:r>
              <a:rPr lang="de-DE" sz="2000" dirty="0">
                <a:latin typeface="+mj-lt"/>
              </a:rPr>
              <a:t>”: Breite des Balkens (auszulesen aus der Band-Skala)</a:t>
            </a:r>
          </a:p>
          <a:p>
            <a:pPr>
              <a:buFont typeface="Arial" panose="020B0604020202020204" pitchFamily="34" charset="0"/>
              <a:buChar char="•"/>
              <a:defRPr/>
            </a:pPr>
            <a:r>
              <a:rPr lang="de-DE" sz="2000" dirty="0">
                <a:latin typeface="+mj-lt"/>
              </a:rPr>
              <a:t>“</a:t>
            </a:r>
            <a:r>
              <a:rPr lang="de-DE" sz="2000" dirty="0" err="1">
                <a:latin typeface="+mj-lt"/>
              </a:rPr>
              <a:t>height</a:t>
            </a:r>
            <a:r>
              <a:rPr lang="de-DE" sz="2000" dirty="0">
                <a:latin typeface="+mj-lt"/>
              </a:rPr>
              <a:t>”: Höhe des Balkens.</a:t>
            </a:r>
          </a:p>
        </p:txBody>
      </p:sp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85D6AE99-1014-49BE-865E-74A7CC9045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33FA4B0-7731-EC49-88EA-B5E921ABE78A}" type="slidenum">
              <a:rPr lang="de-DE" smtClean="0"/>
              <a:pPr/>
              <a:t>27</a:t>
            </a:fld>
            <a:endParaRPr lang="de-DE" dirty="0"/>
          </a:p>
        </p:txBody>
      </p:sp>
      <p:sp>
        <p:nvSpPr>
          <p:cNvPr id="11" name="Title 3">
            <a:extLst>
              <a:ext uri="{FF2B5EF4-FFF2-40B4-BE49-F238E27FC236}">
                <a16:creationId xmlns:a16="http://schemas.microsoft.com/office/drawing/2014/main" id="{53867CD3-4EF7-446C-A16D-81CB1B6C9596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838200" y="59502"/>
            <a:ext cx="10515600" cy="562032"/>
          </a:xfrm>
        </p:spPr>
        <p:txBody>
          <a:bodyPr/>
          <a:lstStyle/>
          <a:p>
            <a:pPr>
              <a:defRPr/>
            </a:pPr>
            <a:r>
              <a:rPr lang="en-GB" sz="3600" dirty="0"/>
              <a:t>Mini-Tutorial: D3 – </a:t>
            </a:r>
            <a:r>
              <a:rPr lang="en-GB" sz="3600" dirty="0" err="1"/>
              <a:t>Einfaches</a:t>
            </a:r>
            <a:r>
              <a:rPr lang="en-GB" sz="3600" dirty="0"/>
              <a:t> </a:t>
            </a:r>
            <a:r>
              <a:rPr lang="en-GB" sz="3600" dirty="0" err="1"/>
              <a:t>Balkendiagramm</a:t>
            </a:r>
            <a:endParaRPr sz="3600" dirty="0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51CDBB2D-835A-43B1-8D6E-E71A1E3BA8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915607" y="1601788"/>
            <a:ext cx="4333875" cy="314325"/>
          </a:xfrm>
          <a:prstGeom prst="rect">
            <a:avLst/>
          </a:prstGeom>
        </p:spPr>
      </p:pic>
      <p:pic>
        <p:nvPicPr>
          <p:cNvPr id="6" name="Picture 10">
            <a:extLst>
              <a:ext uri="{FF2B5EF4-FFF2-40B4-BE49-F238E27FC236}">
                <a16:creationId xmlns:a16="http://schemas.microsoft.com/office/drawing/2014/main" id="{BC021043-D494-40BF-AD90-B5353837D2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2982962" y="2313134"/>
            <a:ext cx="6226076" cy="1550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99649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7034086" name="Content Placeholder 4"/>
          <p:cNvSpPr txBox="1"/>
          <p:nvPr/>
        </p:nvSpPr>
        <p:spPr bwMode="auto">
          <a:xfrm>
            <a:off x="838201" y="639291"/>
            <a:ext cx="10515600" cy="621042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179387" indent="-179387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9249" indent="-168274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2400">
                <a:solidFill>
                  <a:schemeClr val="tx1"/>
                </a:solidFill>
                <a:latin typeface="+mn-lt"/>
              </a:defRPr>
            </a:lvl2pPr>
            <a:lvl3pPr marL="538162" indent="-187324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2400">
                <a:solidFill>
                  <a:schemeClr val="tx1"/>
                </a:solidFill>
                <a:latin typeface="+mn-lt"/>
              </a:defRPr>
            </a:lvl3pPr>
            <a:lvl4pPr marL="717549" indent="-173037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2000">
                <a:solidFill>
                  <a:schemeClr val="tx1"/>
                </a:solidFill>
                <a:latin typeface="+mn-lt"/>
              </a:defRPr>
            </a:lvl4pPr>
            <a:lvl5pPr marL="908049" indent="-188912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1365249" indent="-188912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</a:defRPr>
            </a:lvl6pPr>
            <a:lvl7pPr marL="1822449" indent="-188912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</a:defRPr>
            </a:lvl7pPr>
            <a:lvl8pPr marL="2279649" indent="-188912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</a:defRPr>
            </a:lvl8pPr>
            <a:lvl9pPr marL="2736849" indent="-188912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GB" sz="2000" b="0" i="0" u="none" strike="noStrike" cap="none" spc="0" dirty="0" err="1">
                <a:solidFill>
                  <a:schemeClr val="tx1"/>
                </a:solidFill>
                <a:latin typeface="+mj-lt"/>
                <a:ea typeface="Arial"/>
                <a:cs typeface="Arial"/>
              </a:rPr>
              <a:t>Zeichnen</a:t>
            </a:r>
            <a:r>
              <a:rPr lang="en-GB" sz="2000" b="0" i="0" u="none" strike="noStrike" cap="none" spc="0" dirty="0">
                <a:solidFill>
                  <a:schemeClr val="tx1"/>
                </a:solidFill>
                <a:latin typeface="+mj-lt"/>
                <a:ea typeface="Arial"/>
                <a:cs typeface="Arial"/>
              </a:rPr>
              <a:t> </a:t>
            </a:r>
            <a:r>
              <a:rPr lang="en-GB" sz="2000" b="0" i="0" u="none" strike="noStrike" cap="none" spc="0" dirty="0" err="1">
                <a:solidFill>
                  <a:schemeClr val="tx1"/>
                </a:solidFill>
                <a:latin typeface="+mj-lt"/>
                <a:ea typeface="Arial"/>
                <a:cs typeface="Arial"/>
              </a:rPr>
              <a:t>eines</a:t>
            </a:r>
            <a:r>
              <a:rPr lang="en-GB" sz="2000" b="0" i="0" u="none" strike="noStrike" cap="none" spc="0" dirty="0">
                <a:solidFill>
                  <a:schemeClr val="tx1"/>
                </a:solidFill>
                <a:latin typeface="+mj-lt"/>
                <a:ea typeface="Arial"/>
                <a:cs typeface="Arial"/>
              </a:rPr>
              <a:t> </a:t>
            </a:r>
            <a:r>
              <a:rPr lang="en-GB" sz="2000" b="0" i="0" u="none" strike="noStrike" cap="none" spc="0" dirty="0" err="1">
                <a:solidFill>
                  <a:schemeClr val="tx1"/>
                </a:solidFill>
                <a:latin typeface="+mj-lt"/>
                <a:ea typeface="Arial"/>
                <a:cs typeface="Arial"/>
              </a:rPr>
              <a:t>einfachen</a:t>
            </a:r>
            <a:r>
              <a:rPr lang="en-GB" sz="2000" b="0" i="0" u="none" strike="noStrike" cap="none" spc="0" dirty="0">
                <a:solidFill>
                  <a:schemeClr val="tx1"/>
                </a:solidFill>
                <a:latin typeface="+mj-lt"/>
                <a:ea typeface="Arial"/>
                <a:cs typeface="Arial"/>
              </a:rPr>
              <a:t> </a:t>
            </a:r>
            <a:r>
              <a:rPr lang="en-GB" sz="2000" b="0" i="0" u="none" strike="noStrike" cap="none" spc="0" dirty="0" err="1">
                <a:solidFill>
                  <a:schemeClr val="tx1"/>
                </a:solidFill>
                <a:latin typeface="+mj-lt"/>
                <a:ea typeface="Arial"/>
                <a:cs typeface="Arial"/>
              </a:rPr>
              <a:t>Balkendiagramms</a:t>
            </a:r>
            <a:r>
              <a:rPr lang="en-GB" sz="2000" dirty="0">
                <a:latin typeface="+mj-lt"/>
              </a:rPr>
              <a:t> </a:t>
            </a:r>
            <a:r>
              <a:rPr lang="en-GB" sz="2000" u="sng" dirty="0">
                <a:latin typeface="+mj-lt"/>
                <a:hlinkClick r:id="rId3" tooltip="https://jsfiddle.net/408unc9t/"/>
              </a:rPr>
              <a:t>https://jsfiddle.net/408unc9t/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en-GB" sz="2000" u="sng" dirty="0">
              <a:latin typeface="+mj-lt"/>
              <a:hlinkClick r:id="rId3" tooltip="https://jsfiddle.net/408unc9t/"/>
            </a:endParaRPr>
          </a:p>
          <a:p>
            <a:pPr marL="0" indent="0">
              <a:buNone/>
              <a:defRPr/>
            </a:pPr>
            <a:r>
              <a:rPr lang="de-DE" sz="2000" dirty="0" err="1">
                <a:latin typeface="+mj-lt"/>
              </a:rPr>
              <a:t>Html</a:t>
            </a:r>
            <a:r>
              <a:rPr lang="de-DE" sz="2000" dirty="0">
                <a:latin typeface="+mj-lt"/>
              </a:rPr>
              <a:t> Struktur ✓ Bildschirmplatz ✓ Horizontale Achse und Skala ✓ Balken </a:t>
            </a:r>
            <a:r>
              <a:rPr lang="de-DE" sz="2000" dirty="0"/>
              <a:t>✓</a:t>
            </a:r>
          </a:p>
          <a:p>
            <a:pPr marL="0" indent="0">
              <a:buNone/>
              <a:defRPr/>
            </a:pPr>
            <a:endParaRPr lang="de-DE" sz="2000" dirty="0">
              <a:latin typeface="+mj-lt"/>
            </a:endParaRPr>
          </a:p>
          <a:p>
            <a:pPr marL="0" indent="0">
              <a:buNone/>
              <a:defRPr/>
            </a:pPr>
            <a:r>
              <a:rPr lang="de-DE" sz="2000" dirty="0">
                <a:latin typeface="+mj-lt"/>
              </a:rPr>
              <a:t>Einfaches Balkendiagramm!</a:t>
            </a:r>
          </a:p>
          <a:p>
            <a:pPr marL="0" indent="0">
              <a:buNone/>
              <a:defRPr/>
            </a:pPr>
            <a:endParaRPr lang="de-DE" sz="2000" dirty="0">
              <a:latin typeface="+mj-lt"/>
            </a:endParaRPr>
          </a:p>
          <a:p>
            <a:pPr marL="0" indent="0">
              <a:buNone/>
              <a:defRPr/>
            </a:pPr>
            <a:r>
              <a:rPr lang="de-DE" sz="2000" dirty="0">
                <a:latin typeface="+mj-lt"/>
              </a:rPr>
              <a:t>Sieht etwas unschön aus….</a:t>
            </a:r>
          </a:p>
          <a:p>
            <a:pPr marL="0" indent="0">
              <a:buNone/>
              <a:defRPr/>
            </a:pPr>
            <a:endParaRPr lang="de-DE" sz="2000" dirty="0">
              <a:latin typeface="+mj-lt"/>
            </a:endParaRPr>
          </a:p>
          <a:p>
            <a:pPr marL="0" indent="0">
              <a:buNone/>
              <a:defRPr/>
            </a:pPr>
            <a:r>
              <a:rPr lang="de-DE" sz="2000" dirty="0">
                <a:latin typeface="+mj-lt"/>
              </a:rPr>
              <a:t>Was fehlt?</a:t>
            </a:r>
          </a:p>
        </p:txBody>
      </p:sp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85D6AE99-1014-49BE-865E-74A7CC9045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33FA4B0-7731-EC49-88EA-B5E921ABE78A}" type="slidenum">
              <a:rPr lang="de-DE" smtClean="0"/>
              <a:pPr/>
              <a:t>28</a:t>
            </a:fld>
            <a:endParaRPr lang="de-DE" dirty="0"/>
          </a:p>
        </p:txBody>
      </p:sp>
      <p:sp>
        <p:nvSpPr>
          <p:cNvPr id="11" name="Title 3">
            <a:extLst>
              <a:ext uri="{FF2B5EF4-FFF2-40B4-BE49-F238E27FC236}">
                <a16:creationId xmlns:a16="http://schemas.microsoft.com/office/drawing/2014/main" id="{53867CD3-4EF7-446C-A16D-81CB1B6C9596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838200" y="59502"/>
            <a:ext cx="10515600" cy="562032"/>
          </a:xfrm>
        </p:spPr>
        <p:txBody>
          <a:bodyPr/>
          <a:lstStyle/>
          <a:p>
            <a:pPr>
              <a:defRPr/>
            </a:pPr>
            <a:r>
              <a:rPr lang="en-GB" sz="3600" dirty="0"/>
              <a:t>Mini-Tutorial: D3 – </a:t>
            </a:r>
            <a:r>
              <a:rPr lang="en-GB" sz="3600" dirty="0" err="1"/>
              <a:t>Einfaches</a:t>
            </a:r>
            <a:r>
              <a:rPr lang="en-GB" sz="3600" dirty="0"/>
              <a:t> </a:t>
            </a:r>
            <a:r>
              <a:rPr lang="en-GB" sz="3600" dirty="0" err="1"/>
              <a:t>Balkendiagramm</a:t>
            </a:r>
            <a:endParaRPr sz="3600" dirty="0"/>
          </a:p>
        </p:txBody>
      </p:sp>
      <p:pic>
        <p:nvPicPr>
          <p:cNvPr id="7" name="Picture 8">
            <a:extLst>
              <a:ext uri="{FF2B5EF4-FFF2-40B4-BE49-F238E27FC236}">
                <a16:creationId xmlns:a16="http://schemas.microsoft.com/office/drawing/2014/main" id="{0B5A4E55-252B-406B-85F7-BEB72F1670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5095874" y="2506450"/>
            <a:ext cx="6257925" cy="1581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342438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GB"/>
              <a:t>Mini-tutorial: D3 – Grundelemente</a:t>
            </a:r>
            <a:endParaRPr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  <a:p>
            <a:pPr lvl="1">
              <a:defRPr/>
            </a:pPr>
            <a:endParaRPr lang="en-GB"/>
          </a:p>
          <a:p>
            <a:pPr lvl="1">
              <a:defRPr/>
            </a:pPr>
            <a:endParaRPr lang="en-GB"/>
          </a:p>
          <a:p>
            <a:pPr>
              <a:defRPr/>
            </a:pPr>
            <a:endParaRPr lang="en-GB"/>
          </a:p>
          <a:p>
            <a:pPr>
              <a:defRPr/>
            </a:pPr>
            <a:endParaRPr lang="en-GB"/>
          </a:p>
          <a:p>
            <a:pPr>
              <a:defRPr/>
            </a:pPr>
            <a:endParaRPr lang="en-GB"/>
          </a:p>
          <a:p>
            <a:pPr>
              <a:defRPr/>
            </a:pPr>
            <a:endParaRPr lang="en-GB"/>
          </a:p>
        </p:txBody>
      </p:sp>
      <p:sp>
        <p:nvSpPr>
          <p:cNvPr id="6" name="Content Placeholder 4"/>
          <p:cNvSpPr txBox="1"/>
          <p:nvPr/>
        </p:nvSpPr>
        <p:spPr bwMode="auto">
          <a:xfrm>
            <a:off x="838200" y="639292"/>
            <a:ext cx="10515600" cy="5453533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179388" indent="-179388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9250" indent="-168275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2400">
                <a:solidFill>
                  <a:schemeClr val="tx1"/>
                </a:solidFill>
                <a:latin typeface="+mn-lt"/>
              </a:defRPr>
            </a:lvl2pPr>
            <a:lvl3pPr marL="538163" indent="-187325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2400">
                <a:solidFill>
                  <a:schemeClr val="tx1"/>
                </a:solidFill>
                <a:latin typeface="+mn-lt"/>
              </a:defRPr>
            </a:lvl3pPr>
            <a:lvl4pPr marL="717550" indent="-173038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2000">
                <a:solidFill>
                  <a:schemeClr val="tx1"/>
                </a:solidFill>
                <a:latin typeface="+mn-lt"/>
              </a:defRPr>
            </a:lvl4pPr>
            <a:lvl5pPr marL="908050" indent="-188913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1365250" indent="-188913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</a:defRPr>
            </a:lvl6pPr>
            <a:lvl7pPr marL="1822450" indent="-188913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</a:defRPr>
            </a:lvl7pPr>
            <a:lvl8pPr marL="2279650" indent="-188913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</a:defRPr>
            </a:lvl8pPr>
            <a:lvl9pPr marL="2736850" indent="-188913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None/>
              <a:defRPr/>
            </a:pPr>
            <a:r>
              <a:rPr lang="en-GB" sz="2000" dirty="0" err="1"/>
              <a:t>Grundelement</a:t>
            </a:r>
            <a:r>
              <a:rPr lang="en-GB" sz="2000" dirty="0"/>
              <a:t> </a:t>
            </a:r>
            <a:r>
              <a:rPr lang="en-GB" sz="2000" dirty="0" err="1"/>
              <a:t>hinzufügen</a:t>
            </a:r>
            <a:r>
              <a:rPr lang="en-GB" sz="2000" dirty="0"/>
              <a:t>: </a:t>
            </a:r>
            <a:r>
              <a:rPr lang="en-GB" sz="2000" dirty="0" err="1"/>
              <a:t>Achsenbeschriftung</a:t>
            </a:r>
            <a:r>
              <a:rPr lang="en-GB" sz="2000" dirty="0"/>
              <a:t> </a:t>
            </a:r>
            <a:r>
              <a:rPr lang="en-GB" sz="2000" u="sng" dirty="0">
                <a:hlinkClick r:id="rId2" tooltip="https://jsfiddle.net/d9gLekrp/"/>
              </a:rPr>
              <a:t>https://jsfiddle.net/d9gLekrp/</a:t>
            </a:r>
            <a:endParaRPr lang="en-GB" sz="2000" dirty="0"/>
          </a:p>
          <a:p>
            <a:pPr marL="0" indent="0">
              <a:buNone/>
              <a:defRPr/>
            </a:pPr>
            <a:endParaRPr lang="de-DE" sz="2000" dirty="0"/>
          </a:p>
          <a:p>
            <a:pPr marL="0" indent="0">
              <a:buNone/>
              <a:defRPr/>
            </a:pPr>
            <a:r>
              <a:rPr lang="de-DE" sz="2000" b="0" i="0" u="none" strike="noStrike" cap="none" spc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Zur Übersicht g-Elemente für</a:t>
            </a:r>
          </a:p>
          <a:p>
            <a:pPr marL="0" indent="0">
              <a:buNone/>
              <a:defRPr/>
            </a:pPr>
            <a:r>
              <a:rPr lang="de-DE" sz="2000" b="0" i="0" u="none" strike="noStrike" cap="none" spc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die Achsen hinzufügen</a:t>
            </a:r>
            <a:endParaRPr lang="de-DE" sz="2000" dirty="0"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de-DE" sz="2000" dirty="0"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de-DE" sz="2000" b="0" i="0" u="none" strike="noStrike" cap="none" spc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Randabstand hinzufügen</a:t>
            </a:r>
            <a:endParaRPr lang="de-DE" sz="2000" dirty="0"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en-GB" sz="2400" dirty="0"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en-GB" sz="2400" dirty="0"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en-GB" sz="2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4495028" y="1160119"/>
            <a:ext cx="5114925" cy="49530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4495028" y="1908732"/>
            <a:ext cx="1914525" cy="1333500"/>
          </a:xfrm>
          <a:prstGeom prst="rect">
            <a:avLst/>
          </a:prstGeom>
        </p:spPr>
      </p:pic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AF463CED-26F9-4B75-87CA-547F77DB5A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33FA4B0-7731-EC49-88EA-B5E921ABE78A}" type="slidenum">
              <a:rPr lang="de-DE" smtClean="0"/>
              <a:pPr/>
              <a:t>29</a:t>
            </a:fld>
            <a:endParaRPr lang="de-DE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GB"/>
              <a:t>Mini-tutorial: D3 – Grundelemente</a:t>
            </a:r>
            <a:endParaRPr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  <a:p>
            <a:pPr lvl="1">
              <a:defRPr/>
            </a:pPr>
            <a:endParaRPr lang="en-GB"/>
          </a:p>
          <a:p>
            <a:pPr lvl="1">
              <a:defRPr/>
            </a:pPr>
            <a:endParaRPr lang="en-GB"/>
          </a:p>
          <a:p>
            <a:pPr>
              <a:defRPr/>
            </a:pPr>
            <a:endParaRPr lang="en-GB"/>
          </a:p>
          <a:p>
            <a:pPr>
              <a:defRPr/>
            </a:pPr>
            <a:endParaRPr lang="en-GB"/>
          </a:p>
          <a:p>
            <a:pPr>
              <a:defRPr/>
            </a:pPr>
            <a:endParaRPr lang="en-GB"/>
          </a:p>
          <a:p>
            <a:pPr>
              <a:defRPr/>
            </a:pPr>
            <a:endParaRPr lang="en-GB"/>
          </a:p>
        </p:txBody>
      </p:sp>
      <p:sp>
        <p:nvSpPr>
          <p:cNvPr id="6" name="Content Placeholder 4"/>
          <p:cNvSpPr txBox="1"/>
          <p:nvPr/>
        </p:nvSpPr>
        <p:spPr bwMode="auto">
          <a:xfrm>
            <a:off x="838200" y="639292"/>
            <a:ext cx="10515600" cy="5453533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179388" indent="-179388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9250" indent="-168275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2400">
                <a:solidFill>
                  <a:schemeClr val="tx1"/>
                </a:solidFill>
                <a:latin typeface="+mn-lt"/>
              </a:defRPr>
            </a:lvl2pPr>
            <a:lvl3pPr marL="538163" indent="-187325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2400">
                <a:solidFill>
                  <a:schemeClr val="tx1"/>
                </a:solidFill>
                <a:latin typeface="+mn-lt"/>
              </a:defRPr>
            </a:lvl3pPr>
            <a:lvl4pPr marL="717550" indent="-173038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2000">
                <a:solidFill>
                  <a:schemeClr val="tx1"/>
                </a:solidFill>
                <a:latin typeface="+mn-lt"/>
              </a:defRPr>
            </a:lvl4pPr>
            <a:lvl5pPr marL="908050" indent="-188913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1365250" indent="-188913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</a:defRPr>
            </a:lvl6pPr>
            <a:lvl7pPr marL="1822450" indent="-188913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</a:defRPr>
            </a:lvl7pPr>
            <a:lvl8pPr marL="2279650" indent="-188913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</a:defRPr>
            </a:lvl8pPr>
            <a:lvl9pPr marL="2736850" indent="-188913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None/>
              <a:defRPr/>
            </a:pPr>
            <a:r>
              <a:rPr lang="en-GB" sz="2000" dirty="0" err="1"/>
              <a:t>Grundelement</a:t>
            </a:r>
            <a:r>
              <a:rPr lang="en-GB" sz="2000" dirty="0"/>
              <a:t> </a:t>
            </a:r>
            <a:r>
              <a:rPr lang="en-GB" sz="2000" dirty="0" err="1"/>
              <a:t>hinzufügen</a:t>
            </a:r>
            <a:r>
              <a:rPr lang="en-GB" sz="2000" dirty="0"/>
              <a:t>: </a:t>
            </a:r>
            <a:r>
              <a:rPr lang="en-GB" sz="2000" dirty="0" err="1"/>
              <a:t>Achsenbeschriftung</a:t>
            </a:r>
            <a:r>
              <a:rPr lang="en-GB" sz="2000" dirty="0"/>
              <a:t> </a:t>
            </a:r>
            <a:r>
              <a:rPr lang="en-GB" sz="2000" u="sng" dirty="0">
                <a:hlinkClick r:id="rId2" tooltip="https://jsfiddle.net/d9gLekrp/"/>
              </a:rPr>
              <a:t>https://jsfiddle.net/d9gLekrp/</a:t>
            </a:r>
            <a:endParaRPr lang="en-GB" sz="2000" dirty="0"/>
          </a:p>
          <a:p>
            <a:pPr marL="0" indent="0">
              <a:buNone/>
              <a:defRPr/>
            </a:pPr>
            <a:endParaRPr lang="de-DE" sz="2000" dirty="0"/>
          </a:p>
          <a:p>
            <a:pPr marL="0" indent="0">
              <a:buNone/>
              <a:defRPr/>
            </a:pPr>
            <a:r>
              <a:rPr lang="de-DE" sz="2000" b="0" i="0" u="none" strike="noStrike" cap="none" spc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Zur Übersicht g-Elemente für</a:t>
            </a:r>
          </a:p>
          <a:p>
            <a:pPr marL="0" indent="0">
              <a:buNone/>
              <a:defRPr/>
            </a:pPr>
            <a:r>
              <a:rPr lang="de-DE" sz="2000" b="0" i="0" u="none" strike="noStrike" cap="none" spc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die Achsen hinzufügen</a:t>
            </a:r>
            <a:endParaRPr lang="de-DE" sz="2000" dirty="0"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de-DE" sz="2000" dirty="0"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de-DE" sz="2000" b="0" i="0" u="none" strike="noStrike" cap="none" spc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Randabstand hinzufügen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de-DE" sz="2000" dirty="0"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de-DE" sz="2000" dirty="0"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de-DE" sz="2000" dirty="0"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de-DE" sz="2000" dirty="0"/>
          </a:p>
          <a:p>
            <a:pPr marL="0" indent="0">
              <a:buNone/>
              <a:defRPr/>
            </a:pPr>
            <a:r>
              <a:rPr lang="de-DE" sz="2000" dirty="0"/>
              <a:t>Skalen und Balkenpositionen mit Randabstand erweitern</a:t>
            </a:r>
            <a:endParaRPr lang="en-GB" sz="2000" dirty="0"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en-GB" sz="2400" dirty="0"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en-GB" sz="2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4495028" y="1160119"/>
            <a:ext cx="5114925" cy="49530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4495028" y="1908732"/>
            <a:ext cx="1914525" cy="1333500"/>
          </a:xfrm>
          <a:prstGeom prst="rect">
            <a:avLst/>
          </a:prstGeom>
        </p:spPr>
      </p:pic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AF463CED-26F9-4B75-87CA-547F77DB5A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33FA4B0-7731-EC49-88EA-B5E921ABE78A}" type="slidenum">
              <a:rPr lang="de-DE" smtClean="0"/>
              <a:pPr/>
              <a:t>30</a:t>
            </a:fld>
            <a:endParaRPr lang="de-DE" dirty="0"/>
          </a:p>
        </p:txBody>
      </p:sp>
      <p:pic>
        <p:nvPicPr>
          <p:cNvPr id="8" name="Picture 14">
            <a:extLst>
              <a:ext uri="{FF2B5EF4-FFF2-40B4-BE49-F238E27FC236}">
                <a16:creationId xmlns:a16="http://schemas.microsoft.com/office/drawing/2014/main" id="{5921437B-2B16-42CF-BA42-E35A690936D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>
            <a:off x="479376" y="4045382"/>
            <a:ext cx="3990975" cy="1143000"/>
          </a:xfrm>
          <a:prstGeom prst="rect">
            <a:avLst/>
          </a:prstGeom>
        </p:spPr>
      </p:pic>
      <p:pic>
        <p:nvPicPr>
          <p:cNvPr id="9" name="Picture 16">
            <a:extLst>
              <a:ext uri="{FF2B5EF4-FFF2-40B4-BE49-F238E27FC236}">
                <a16:creationId xmlns:a16="http://schemas.microsoft.com/office/drawing/2014/main" id="{C6D92773-6169-4F71-901E-B65E1D12717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/>
        </p:blipFill>
        <p:spPr bwMode="auto">
          <a:xfrm>
            <a:off x="479376" y="5303005"/>
            <a:ext cx="4229100" cy="876299"/>
          </a:xfrm>
          <a:prstGeom prst="rect">
            <a:avLst/>
          </a:prstGeom>
        </p:spPr>
      </p:pic>
      <p:pic>
        <p:nvPicPr>
          <p:cNvPr id="10" name="Picture 18">
            <a:extLst>
              <a:ext uri="{FF2B5EF4-FFF2-40B4-BE49-F238E27FC236}">
                <a16:creationId xmlns:a16="http://schemas.microsoft.com/office/drawing/2014/main" id="{05840C87-9B2D-4BCD-B57B-FCFF23AF391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/>
        </p:blipFill>
        <p:spPr bwMode="auto">
          <a:xfrm>
            <a:off x="4566492" y="4071348"/>
            <a:ext cx="7248250" cy="236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171021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GB"/>
              <a:t>Mini-tutorial: D3 – Grundelemente</a:t>
            </a:r>
            <a:endParaRPr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  <a:p>
            <a:pPr lvl="1">
              <a:defRPr/>
            </a:pPr>
            <a:endParaRPr lang="en-GB"/>
          </a:p>
          <a:p>
            <a:pPr lvl="1">
              <a:defRPr/>
            </a:pPr>
            <a:endParaRPr lang="en-GB"/>
          </a:p>
          <a:p>
            <a:pPr>
              <a:defRPr/>
            </a:pPr>
            <a:endParaRPr lang="en-GB"/>
          </a:p>
          <a:p>
            <a:pPr>
              <a:defRPr/>
            </a:pPr>
            <a:endParaRPr lang="en-GB"/>
          </a:p>
          <a:p>
            <a:pPr>
              <a:defRPr/>
            </a:pPr>
            <a:endParaRPr lang="en-GB"/>
          </a:p>
          <a:p>
            <a:pPr>
              <a:defRPr/>
            </a:pPr>
            <a:endParaRPr lang="en-GB"/>
          </a:p>
        </p:txBody>
      </p:sp>
      <p:sp>
        <p:nvSpPr>
          <p:cNvPr id="6" name="Content Placeholder 4"/>
          <p:cNvSpPr txBox="1"/>
          <p:nvPr/>
        </p:nvSpPr>
        <p:spPr bwMode="auto">
          <a:xfrm>
            <a:off x="838200" y="639292"/>
            <a:ext cx="10515600" cy="5453533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179388" indent="-179388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9250" indent="-168275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2400">
                <a:solidFill>
                  <a:schemeClr val="tx1"/>
                </a:solidFill>
                <a:latin typeface="+mn-lt"/>
              </a:defRPr>
            </a:lvl2pPr>
            <a:lvl3pPr marL="538163" indent="-187325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2400">
                <a:solidFill>
                  <a:schemeClr val="tx1"/>
                </a:solidFill>
                <a:latin typeface="+mn-lt"/>
              </a:defRPr>
            </a:lvl3pPr>
            <a:lvl4pPr marL="717550" indent="-173038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2000">
                <a:solidFill>
                  <a:schemeClr val="tx1"/>
                </a:solidFill>
                <a:latin typeface="+mn-lt"/>
              </a:defRPr>
            </a:lvl4pPr>
            <a:lvl5pPr marL="908050" indent="-188913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1365250" indent="-188913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</a:defRPr>
            </a:lvl6pPr>
            <a:lvl7pPr marL="1822450" indent="-188913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</a:defRPr>
            </a:lvl7pPr>
            <a:lvl8pPr marL="2279650" indent="-188913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</a:defRPr>
            </a:lvl8pPr>
            <a:lvl9pPr marL="2736850" indent="-188913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None/>
              <a:defRPr/>
            </a:pPr>
            <a:r>
              <a:rPr lang="en-GB" sz="2000" dirty="0" err="1"/>
              <a:t>Grundelement</a:t>
            </a:r>
            <a:r>
              <a:rPr lang="en-GB" sz="2000" dirty="0"/>
              <a:t> </a:t>
            </a:r>
            <a:r>
              <a:rPr lang="en-GB" sz="2000" dirty="0" err="1"/>
              <a:t>hinzufügen</a:t>
            </a:r>
            <a:r>
              <a:rPr lang="en-GB" sz="2000" dirty="0"/>
              <a:t>: </a:t>
            </a:r>
            <a:r>
              <a:rPr lang="en-GB" sz="2000" dirty="0" err="1"/>
              <a:t>Achsenbeschriftung</a:t>
            </a:r>
            <a:r>
              <a:rPr lang="en-GB" sz="2000" dirty="0"/>
              <a:t> </a:t>
            </a:r>
            <a:r>
              <a:rPr lang="en-GB" sz="2000" u="sng" dirty="0">
                <a:hlinkClick r:id="rId2" tooltip="https://jsfiddle.net/d9gLekrp/"/>
              </a:rPr>
              <a:t>https://jsfiddle.net/d9gLekrp/</a:t>
            </a:r>
            <a:endParaRPr lang="en-GB" sz="2000" dirty="0"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en-GB" sz="2400" dirty="0"/>
          </a:p>
          <a:p>
            <a:pPr marL="0" indent="0">
              <a:buNone/>
              <a:defRPr/>
            </a:pPr>
            <a:r>
              <a:rPr lang="de-DE" sz="2000" dirty="0"/>
              <a:t>X-Achse hinzufügen</a:t>
            </a:r>
          </a:p>
          <a:p>
            <a:pPr marL="0" indent="0">
              <a:buNone/>
              <a:defRPr/>
            </a:pPr>
            <a:endParaRPr lang="de-DE" sz="2000" dirty="0"/>
          </a:p>
          <a:p>
            <a:pPr marL="0" indent="0">
              <a:buNone/>
              <a:defRPr/>
            </a:pPr>
            <a:r>
              <a:rPr lang="de-DE" sz="2000" dirty="0"/>
              <a:t>“</a:t>
            </a:r>
            <a:r>
              <a:rPr lang="de-DE" sz="2000" dirty="0" err="1"/>
              <a:t>transform</a:t>
            </a:r>
            <a:r>
              <a:rPr lang="de-DE" sz="2000" dirty="0"/>
              <a:t>”: Lineare Verschiebung. Positioniere das Element bei x=0 and y = …</a:t>
            </a:r>
          </a:p>
          <a:p>
            <a:pPr marL="0" indent="0">
              <a:buNone/>
              <a:defRPr/>
            </a:pPr>
            <a:r>
              <a:rPr lang="de-DE" sz="2000" dirty="0"/>
              <a:t>.Call(</a:t>
            </a:r>
            <a:r>
              <a:rPr lang="de-DE" sz="2000" dirty="0" err="1"/>
              <a:t>function</a:t>
            </a:r>
            <a:r>
              <a:rPr lang="de-DE" sz="2000" dirty="0"/>
              <a:t>): Rufe die Funktion auf das Element auf</a:t>
            </a:r>
          </a:p>
          <a:p>
            <a:pPr marL="0" indent="0">
              <a:buNone/>
              <a:defRPr/>
            </a:pPr>
            <a:r>
              <a:rPr lang="de-DE" sz="2000" dirty="0"/>
              <a:t>D3.axisBottom(</a:t>
            </a:r>
            <a:r>
              <a:rPr lang="de-DE" sz="2000" dirty="0" err="1"/>
              <a:t>scale_x</a:t>
            </a:r>
            <a:r>
              <a:rPr lang="de-DE" sz="2000" dirty="0"/>
              <a:t>): Erzeuge eine Funktion, die eine untere Achse erzeugt</a:t>
            </a:r>
          </a:p>
        </p:txBody>
      </p:sp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AF463CED-26F9-4B75-87CA-547F77DB5A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33FA4B0-7731-EC49-88EA-B5E921ABE78A}" type="slidenum">
              <a:rPr lang="de-DE" smtClean="0"/>
              <a:pPr/>
              <a:t>31</a:t>
            </a:fld>
            <a:endParaRPr lang="de-DE" dirty="0"/>
          </a:p>
        </p:txBody>
      </p:sp>
      <p:pic>
        <p:nvPicPr>
          <p:cNvPr id="11" name="Picture 7">
            <a:extLst>
              <a:ext uri="{FF2B5EF4-FFF2-40B4-BE49-F238E27FC236}">
                <a16:creationId xmlns:a16="http://schemas.microsoft.com/office/drawing/2014/main" id="{333DDA6A-BDC4-4FE1-B697-FCF82457F7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3439449" y="1154113"/>
            <a:ext cx="6629400" cy="76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023595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GB"/>
              <a:t>Mini-tutorial: D3 – Grundelemente</a:t>
            </a:r>
            <a:endParaRPr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  <a:p>
            <a:pPr lvl="1">
              <a:defRPr/>
            </a:pPr>
            <a:endParaRPr lang="en-GB"/>
          </a:p>
          <a:p>
            <a:pPr lvl="1">
              <a:defRPr/>
            </a:pPr>
            <a:endParaRPr lang="en-GB"/>
          </a:p>
          <a:p>
            <a:pPr>
              <a:defRPr/>
            </a:pPr>
            <a:endParaRPr lang="en-GB"/>
          </a:p>
          <a:p>
            <a:pPr>
              <a:defRPr/>
            </a:pPr>
            <a:endParaRPr lang="en-GB"/>
          </a:p>
          <a:p>
            <a:pPr>
              <a:defRPr/>
            </a:pPr>
            <a:endParaRPr lang="en-GB"/>
          </a:p>
          <a:p>
            <a:pPr>
              <a:defRPr/>
            </a:pPr>
            <a:endParaRPr lang="en-GB"/>
          </a:p>
        </p:txBody>
      </p:sp>
      <p:sp>
        <p:nvSpPr>
          <p:cNvPr id="6" name="Content Placeholder 4"/>
          <p:cNvSpPr txBox="1"/>
          <p:nvPr/>
        </p:nvSpPr>
        <p:spPr bwMode="auto">
          <a:xfrm>
            <a:off x="838200" y="639292"/>
            <a:ext cx="10515600" cy="5453533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179388" indent="-179388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9250" indent="-168275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2400">
                <a:solidFill>
                  <a:schemeClr val="tx1"/>
                </a:solidFill>
                <a:latin typeface="+mn-lt"/>
              </a:defRPr>
            </a:lvl2pPr>
            <a:lvl3pPr marL="538163" indent="-187325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2400">
                <a:solidFill>
                  <a:schemeClr val="tx1"/>
                </a:solidFill>
                <a:latin typeface="+mn-lt"/>
              </a:defRPr>
            </a:lvl3pPr>
            <a:lvl4pPr marL="717550" indent="-173038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2000">
                <a:solidFill>
                  <a:schemeClr val="tx1"/>
                </a:solidFill>
                <a:latin typeface="+mn-lt"/>
              </a:defRPr>
            </a:lvl4pPr>
            <a:lvl5pPr marL="908050" indent="-188913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1365250" indent="-188913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</a:defRPr>
            </a:lvl6pPr>
            <a:lvl7pPr marL="1822450" indent="-188913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</a:defRPr>
            </a:lvl7pPr>
            <a:lvl8pPr marL="2279650" indent="-188913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</a:defRPr>
            </a:lvl8pPr>
            <a:lvl9pPr marL="2736850" indent="-188913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None/>
              <a:defRPr/>
            </a:pPr>
            <a:r>
              <a:rPr lang="en-GB" sz="2000" dirty="0" err="1"/>
              <a:t>Grundelement</a:t>
            </a:r>
            <a:r>
              <a:rPr lang="en-GB" sz="2000" dirty="0"/>
              <a:t> </a:t>
            </a:r>
            <a:r>
              <a:rPr lang="en-GB" sz="2000" dirty="0" err="1"/>
              <a:t>hinzufügen</a:t>
            </a:r>
            <a:r>
              <a:rPr lang="en-GB" sz="2000" dirty="0"/>
              <a:t>: </a:t>
            </a:r>
            <a:r>
              <a:rPr lang="en-GB" sz="2000" dirty="0" err="1"/>
              <a:t>Achsenbeschriftung</a:t>
            </a:r>
            <a:r>
              <a:rPr lang="en-GB" sz="2000" dirty="0"/>
              <a:t> </a:t>
            </a:r>
            <a:r>
              <a:rPr lang="en-GB" sz="2000" u="sng" dirty="0">
                <a:hlinkClick r:id="rId2" tooltip="https://jsfiddle.net/d9gLekrp/"/>
              </a:rPr>
              <a:t>https://jsfiddle.net/d9gLekrp/</a:t>
            </a:r>
            <a:endParaRPr lang="en-GB" sz="2000" dirty="0"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en-GB" sz="2400" dirty="0"/>
          </a:p>
          <a:p>
            <a:pPr marL="0" indent="0">
              <a:buNone/>
              <a:defRPr/>
            </a:pPr>
            <a:r>
              <a:rPr lang="de-DE" sz="2000" dirty="0"/>
              <a:t>X-Achse hinzufügen</a:t>
            </a:r>
          </a:p>
          <a:p>
            <a:pPr marL="0" indent="0">
              <a:buNone/>
              <a:defRPr/>
            </a:pPr>
            <a:endParaRPr lang="de-DE" sz="2000" dirty="0"/>
          </a:p>
          <a:p>
            <a:pPr marL="0" indent="0">
              <a:buNone/>
              <a:defRPr/>
            </a:pPr>
            <a:r>
              <a:rPr lang="de-DE" sz="2000" dirty="0"/>
              <a:t>“</a:t>
            </a:r>
            <a:r>
              <a:rPr lang="de-DE" sz="2000" dirty="0" err="1"/>
              <a:t>transform</a:t>
            </a:r>
            <a:r>
              <a:rPr lang="de-DE" sz="2000" dirty="0"/>
              <a:t>”: Lineare Verschiebung. Positioniere das Element bei x=0 and y = …</a:t>
            </a:r>
          </a:p>
          <a:p>
            <a:pPr marL="0" indent="0">
              <a:buNone/>
              <a:defRPr/>
            </a:pPr>
            <a:r>
              <a:rPr lang="de-DE" sz="2000" dirty="0"/>
              <a:t>.Call(</a:t>
            </a:r>
            <a:r>
              <a:rPr lang="de-DE" sz="2000" dirty="0" err="1"/>
              <a:t>function</a:t>
            </a:r>
            <a:r>
              <a:rPr lang="de-DE" sz="2000" dirty="0"/>
              <a:t>): Rufe die Funktion auf das Element auf</a:t>
            </a:r>
          </a:p>
          <a:p>
            <a:pPr marL="0" indent="0">
              <a:buNone/>
              <a:defRPr/>
            </a:pPr>
            <a:r>
              <a:rPr lang="de-DE" sz="2000" dirty="0"/>
              <a:t>D3.axisBottom(</a:t>
            </a:r>
            <a:r>
              <a:rPr lang="de-DE" sz="2000" dirty="0" err="1"/>
              <a:t>scale_x</a:t>
            </a:r>
            <a:r>
              <a:rPr lang="de-DE" sz="2000" dirty="0"/>
              <a:t>): Erzeuge eine Funktion, die eine untere Achse erzeugt</a:t>
            </a:r>
          </a:p>
          <a:p>
            <a:pPr marL="0" indent="0">
              <a:buNone/>
              <a:defRPr/>
            </a:pPr>
            <a:r>
              <a:rPr lang="de-DE" sz="2000" dirty="0"/>
              <a:t>Y-Achse hinzufügen</a:t>
            </a:r>
          </a:p>
          <a:p>
            <a:pPr marL="0" indent="0">
              <a:buNone/>
              <a:defRPr/>
            </a:pPr>
            <a:endParaRPr lang="de-DE" sz="2000" dirty="0"/>
          </a:p>
          <a:p>
            <a:pPr marL="0" indent="0">
              <a:buNone/>
              <a:defRPr/>
            </a:pPr>
            <a:r>
              <a:rPr lang="de-DE" sz="2000" dirty="0"/>
              <a:t>D3.axisBottom(</a:t>
            </a:r>
            <a:r>
              <a:rPr lang="de-DE" sz="2000" dirty="0" err="1"/>
              <a:t>scale_y</a:t>
            </a:r>
            <a:r>
              <a:rPr lang="de-DE" sz="2000" dirty="0"/>
              <a:t>): Erzeuge eine Funktion, die die linke Achse erzeugt</a:t>
            </a:r>
          </a:p>
          <a:p>
            <a:pPr marL="0" indent="0">
              <a:buNone/>
              <a:defRPr/>
            </a:pPr>
            <a:endParaRPr lang="de-DE" sz="2000" dirty="0"/>
          </a:p>
        </p:txBody>
      </p:sp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AF463CED-26F9-4B75-87CA-547F77DB5A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33FA4B0-7731-EC49-88EA-B5E921ABE78A}" type="slidenum">
              <a:rPr lang="de-DE" smtClean="0"/>
              <a:pPr/>
              <a:t>32</a:t>
            </a:fld>
            <a:endParaRPr lang="de-DE" dirty="0"/>
          </a:p>
        </p:txBody>
      </p:sp>
      <p:pic>
        <p:nvPicPr>
          <p:cNvPr id="11" name="Picture 7">
            <a:extLst>
              <a:ext uri="{FF2B5EF4-FFF2-40B4-BE49-F238E27FC236}">
                <a16:creationId xmlns:a16="http://schemas.microsoft.com/office/drawing/2014/main" id="{333DDA6A-BDC4-4FE1-B697-FCF82457F7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3439449" y="1154113"/>
            <a:ext cx="6629400" cy="762000"/>
          </a:xfrm>
          <a:prstGeom prst="rect">
            <a:avLst/>
          </a:prstGeom>
        </p:spPr>
      </p:pic>
      <p:pic>
        <p:nvPicPr>
          <p:cNvPr id="7" name="Picture 10">
            <a:extLst>
              <a:ext uri="{FF2B5EF4-FFF2-40B4-BE49-F238E27FC236}">
                <a16:creationId xmlns:a16="http://schemas.microsoft.com/office/drawing/2014/main" id="{DC9D14E1-4E09-4ED9-A304-05157152FD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3439449" y="2881851"/>
            <a:ext cx="4978687" cy="633651"/>
          </a:xfrm>
          <a:prstGeom prst="rect">
            <a:avLst/>
          </a:prstGeom>
        </p:spPr>
      </p:pic>
      <p:pic>
        <p:nvPicPr>
          <p:cNvPr id="8" name="Picture 6">
            <a:extLst>
              <a:ext uri="{FF2B5EF4-FFF2-40B4-BE49-F238E27FC236}">
                <a16:creationId xmlns:a16="http://schemas.microsoft.com/office/drawing/2014/main" id="{892B626D-7D97-455D-9C01-E89BF95DBA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>
            <a:off x="3608393" y="4361472"/>
            <a:ext cx="4979318" cy="1731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716899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GB"/>
              <a:t>Mini-tutorial: D3 – Grundelemente</a:t>
            </a:r>
            <a:endParaRPr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  <a:p>
            <a:pPr lvl="1">
              <a:defRPr/>
            </a:pPr>
            <a:endParaRPr lang="en-GB"/>
          </a:p>
          <a:p>
            <a:pPr lvl="1">
              <a:defRPr/>
            </a:pPr>
            <a:endParaRPr lang="en-GB"/>
          </a:p>
          <a:p>
            <a:pPr>
              <a:defRPr/>
            </a:pPr>
            <a:endParaRPr lang="en-GB"/>
          </a:p>
          <a:p>
            <a:pPr>
              <a:defRPr/>
            </a:pPr>
            <a:endParaRPr lang="en-GB"/>
          </a:p>
          <a:p>
            <a:pPr>
              <a:defRPr/>
            </a:pPr>
            <a:endParaRPr lang="en-GB"/>
          </a:p>
          <a:p>
            <a:pPr>
              <a:defRPr/>
            </a:pPr>
            <a:endParaRPr lang="en-GB"/>
          </a:p>
        </p:txBody>
      </p:sp>
      <p:sp>
        <p:nvSpPr>
          <p:cNvPr id="6" name="Content Placeholder 4"/>
          <p:cNvSpPr txBox="1"/>
          <p:nvPr/>
        </p:nvSpPr>
        <p:spPr bwMode="auto">
          <a:xfrm>
            <a:off x="838200" y="639292"/>
            <a:ext cx="10515600" cy="5453533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179388" indent="-179388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9250" indent="-168275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2400">
                <a:solidFill>
                  <a:schemeClr val="tx1"/>
                </a:solidFill>
                <a:latin typeface="+mn-lt"/>
              </a:defRPr>
            </a:lvl2pPr>
            <a:lvl3pPr marL="538163" indent="-187325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2400">
                <a:solidFill>
                  <a:schemeClr val="tx1"/>
                </a:solidFill>
                <a:latin typeface="+mn-lt"/>
              </a:defRPr>
            </a:lvl3pPr>
            <a:lvl4pPr marL="717550" indent="-173038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2000">
                <a:solidFill>
                  <a:schemeClr val="tx1"/>
                </a:solidFill>
                <a:latin typeface="+mn-lt"/>
              </a:defRPr>
            </a:lvl4pPr>
            <a:lvl5pPr marL="908050" indent="-188913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1365250" indent="-188913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</a:defRPr>
            </a:lvl6pPr>
            <a:lvl7pPr marL="1822450" indent="-188913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</a:defRPr>
            </a:lvl7pPr>
            <a:lvl8pPr marL="2279650" indent="-188913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</a:defRPr>
            </a:lvl8pPr>
            <a:lvl9pPr marL="2736850" indent="-188913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None/>
              <a:defRPr/>
            </a:pPr>
            <a:r>
              <a:rPr lang="en-GB" sz="2000" dirty="0" err="1"/>
              <a:t>Grundelement</a:t>
            </a:r>
            <a:r>
              <a:rPr lang="en-GB" sz="2000" dirty="0"/>
              <a:t> </a:t>
            </a:r>
            <a:r>
              <a:rPr lang="en-GB" sz="2000" dirty="0" err="1"/>
              <a:t>hinzufügen</a:t>
            </a:r>
            <a:r>
              <a:rPr lang="en-GB" sz="2000" dirty="0"/>
              <a:t>: </a:t>
            </a:r>
            <a:r>
              <a:rPr lang="en-GB" sz="2000" dirty="0" err="1"/>
              <a:t>Achsenbeschriftung</a:t>
            </a:r>
            <a:r>
              <a:rPr lang="en-GB" sz="2000" dirty="0"/>
              <a:t> </a:t>
            </a:r>
            <a:r>
              <a:rPr lang="en-GB" sz="2000" u="sng" dirty="0">
                <a:hlinkClick r:id="rId2" tooltip="https://jsfiddle.net/6uanzvm4/"/>
              </a:rPr>
              <a:t>https://jsfiddle.net/6uanzvm4/</a:t>
            </a:r>
            <a:endParaRPr lang="en-GB" sz="2000" u="sng" dirty="0"/>
          </a:p>
          <a:p>
            <a:pPr marL="0" indent="0">
              <a:buNone/>
              <a:defRPr/>
            </a:pPr>
            <a:endParaRPr lang="en-GB" sz="2000" u="sng" dirty="0"/>
          </a:p>
          <a:p>
            <a:pPr marL="0" indent="0">
              <a:buNone/>
              <a:defRPr/>
            </a:pPr>
            <a:r>
              <a:rPr lang="en-GB" sz="2000" dirty="0" err="1"/>
              <a:t>Erneut</a:t>
            </a:r>
            <a:r>
              <a:rPr lang="en-GB" sz="2000" dirty="0"/>
              <a:t> </a:t>
            </a:r>
            <a:r>
              <a:rPr lang="en-GB" sz="2000" dirty="0" err="1"/>
              <a:t>eine</a:t>
            </a:r>
            <a:r>
              <a:rPr lang="en-GB" sz="2000" dirty="0"/>
              <a:t> </a:t>
            </a:r>
            <a:r>
              <a:rPr lang="en-GB" sz="2000" dirty="0" err="1"/>
              <a:t>Gruppierung</a:t>
            </a:r>
            <a:r>
              <a:rPr lang="en-GB" sz="2000" dirty="0"/>
              <a:t> </a:t>
            </a:r>
            <a:r>
              <a:rPr lang="en-GB" sz="2000" dirty="0" err="1"/>
              <a:t>hinzufügen</a:t>
            </a:r>
            <a:endParaRPr lang="en-GB" sz="2000" dirty="0"/>
          </a:p>
          <a:p>
            <a:pPr marL="0" indent="0">
              <a:buNone/>
              <a:defRPr/>
            </a:pPr>
            <a:r>
              <a:rPr lang="en-GB" sz="2000" dirty="0"/>
              <a:t> </a:t>
            </a:r>
            <a:endParaRPr lang="en-GB" sz="2400" dirty="0"/>
          </a:p>
          <a:p>
            <a:pPr marL="0" indent="0">
              <a:buNone/>
              <a:defRPr/>
            </a:pPr>
            <a:endParaRPr lang="de-DE" sz="2000" dirty="0"/>
          </a:p>
        </p:txBody>
      </p:sp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AF463CED-26F9-4B75-87CA-547F77DB5A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33FA4B0-7731-EC49-88EA-B5E921ABE78A}" type="slidenum">
              <a:rPr lang="de-DE" smtClean="0"/>
              <a:pPr/>
              <a:t>33</a:t>
            </a:fld>
            <a:endParaRPr lang="de-DE" dirty="0"/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42DCFE90-AE34-4BF9-92CE-ACE932ABCE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5507480" y="1295659"/>
            <a:ext cx="5572125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06994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GB"/>
              <a:t>Mini-tutorial: D3 – Grundelemente</a:t>
            </a:r>
            <a:endParaRPr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  <a:p>
            <a:pPr lvl="1">
              <a:defRPr/>
            </a:pPr>
            <a:endParaRPr lang="en-GB"/>
          </a:p>
          <a:p>
            <a:pPr lvl="1">
              <a:defRPr/>
            </a:pPr>
            <a:endParaRPr lang="en-GB"/>
          </a:p>
          <a:p>
            <a:pPr>
              <a:defRPr/>
            </a:pPr>
            <a:endParaRPr lang="en-GB"/>
          </a:p>
          <a:p>
            <a:pPr>
              <a:defRPr/>
            </a:pPr>
            <a:endParaRPr lang="en-GB"/>
          </a:p>
          <a:p>
            <a:pPr>
              <a:defRPr/>
            </a:pPr>
            <a:endParaRPr lang="en-GB"/>
          </a:p>
          <a:p>
            <a:pPr>
              <a:defRPr/>
            </a:pPr>
            <a:endParaRPr lang="en-GB"/>
          </a:p>
        </p:txBody>
      </p:sp>
      <p:sp>
        <p:nvSpPr>
          <p:cNvPr id="6" name="Content Placeholder 4"/>
          <p:cNvSpPr txBox="1"/>
          <p:nvPr/>
        </p:nvSpPr>
        <p:spPr bwMode="auto">
          <a:xfrm>
            <a:off x="838200" y="639292"/>
            <a:ext cx="10515600" cy="5453533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179388" indent="-179388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9250" indent="-168275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2400">
                <a:solidFill>
                  <a:schemeClr val="tx1"/>
                </a:solidFill>
                <a:latin typeface="+mn-lt"/>
              </a:defRPr>
            </a:lvl2pPr>
            <a:lvl3pPr marL="538163" indent="-187325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2400">
                <a:solidFill>
                  <a:schemeClr val="tx1"/>
                </a:solidFill>
                <a:latin typeface="+mn-lt"/>
              </a:defRPr>
            </a:lvl3pPr>
            <a:lvl4pPr marL="717550" indent="-173038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2000">
                <a:solidFill>
                  <a:schemeClr val="tx1"/>
                </a:solidFill>
                <a:latin typeface="+mn-lt"/>
              </a:defRPr>
            </a:lvl4pPr>
            <a:lvl5pPr marL="908050" indent="-188913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1365250" indent="-188913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</a:defRPr>
            </a:lvl6pPr>
            <a:lvl7pPr marL="1822450" indent="-188913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</a:defRPr>
            </a:lvl7pPr>
            <a:lvl8pPr marL="2279650" indent="-188913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</a:defRPr>
            </a:lvl8pPr>
            <a:lvl9pPr marL="2736850" indent="-188913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None/>
              <a:defRPr/>
            </a:pPr>
            <a:r>
              <a:rPr lang="en-GB" sz="2000" dirty="0" err="1"/>
              <a:t>Grundelement</a:t>
            </a:r>
            <a:r>
              <a:rPr lang="en-GB" sz="2000" dirty="0"/>
              <a:t> </a:t>
            </a:r>
            <a:r>
              <a:rPr lang="en-GB" sz="2000" dirty="0" err="1"/>
              <a:t>hinzufügen</a:t>
            </a:r>
            <a:r>
              <a:rPr lang="en-GB" sz="2000" dirty="0"/>
              <a:t>: </a:t>
            </a:r>
            <a:r>
              <a:rPr lang="en-GB" sz="2000" dirty="0" err="1"/>
              <a:t>Achsenbeschriftung</a:t>
            </a:r>
            <a:r>
              <a:rPr lang="en-GB" sz="2000" dirty="0"/>
              <a:t> </a:t>
            </a:r>
            <a:r>
              <a:rPr lang="en-GB" sz="2000" u="sng" dirty="0">
                <a:hlinkClick r:id="rId2" tooltip="https://jsfiddle.net/fcagosnu/"/>
              </a:rPr>
              <a:t>https://jsfiddle.net/fcagosnu/</a:t>
            </a:r>
            <a:endParaRPr lang="en-GB" sz="2000" u="sng" dirty="0"/>
          </a:p>
          <a:p>
            <a:pPr marL="0" indent="0">
              <a:buNone/>
              <a:defRPr/>
            </a:pPr>
            <a:endParaRPr lang="en-GB" sz="2000" u="sng" dirty="0"/>
          </a:p>
          <a:p>
            <a:pPr marL="0" indent="0">
              <a:buNone/>
              <a:defRPr/>
            </a:pPr>
            <a:r>
              <a:rPr lang="en-GB" sz="2000" dirty="0" err="1"/>
              <a:t>Erneut</a:t>
            </a:r>
            <a:r>
              <a:rPr lang="en-GB" sz="2000" dirty="0"/>
              <a:t> </a:t>
            </a:r>
            <a:r>
              <a:rPr lang="en-GB" sz="2000" dirty="0" err="1"/>
              <a:t>eine</a:t>
            </a:r>
            <a:r>
              <a:rPr lang="en-GB" sz="2000" dirty="0"/>
              <a:t> </a:t>
            </a:r>
            <a:r>
              <a:rPr lang="en-GB" sz="2000" dirty="0" err="1"/>
              <a:t>Gruppierung</a:t>
            </a:r>
            <a:r>
              <a:rPr lang="en-GB" sz="2000" dirty="0"/>
              <a:t> </a:t>
            </a:r>
            <a:r>
              <a:rPr lang="en-GB" sz="2000" dirty="0" err="1"/>
              <a:t>hinzufügen</a:t>
            </a:r>
            <a:endParaRPr lang="en-GB" sz="2000" dirty="0"/>
          </a:p>
          <a:p>
            <a:pPr marL="0" indent="0">
              <a:buNone/>
              <a:defRPr/>
            </a:pPr>
            <a:endParaRPr lang="en-GB" sz="2000" dirty="0"/>
          </a:p>
          <a:p>
            <a:pPr marL="0" indent="0">
              <a:buNone/>
              <a:defRPr/>
            </a:pPr>
            <a:r>
              <a:rPr lang="de-DE" sz="2000" dirty="0"/>
              <a:t>Achsenbenennung hinzufügen</a:t>
            </a:r>
          </a:p>
          <a:p>
            <a:pPr>
              <a:buFont typeface="Arial" panose="020B0604020202020204" pitchFamily="34" charset="0"/>
              <a:buChar char="•"/>
              <a:defRPr/>
            </a:pPr>
            <a:r>
              <a:rPr lang="de-DE" sz="2000" dirty="0"/>
              <a:t>Zwei Text-Elemente an die entsprechende Position hinzufügen mit der Beschriftung</a:t>
            </a:r>
          </a:p>
          <a:p>
            <a:pPr>
              <a:buFont typeface="Arial" panose="020B0604020202020204" pitchFamily="34" charset="0"/>
              <a:buChar char="•"/>
              <a:defRPr/>
            </a:pPr>
            <a:r>
              <a:rPr lang="de-DE" sz="2000" dirty="0"/>
              <a:t>Text-Element drehen</a:t>
            </a:r>
          </a:p>
          <a:p>
            <a:pPr marL="0" indent="0">
              <a:buNone/>
              <a:defRPr/>
            </a:pPr>
            <a:endParaRPr lang="en-GB" sz="2000" dirty="0"/>
          </a:p>
          <a:p>
            <a:pPr marL="0" indent="0">
              <a:buNone/>
              <a:defRPr/>
            </a:pPr>
            <a:r>
              <a:rPr lang="en-GB" sz="2000" dirty="0"/>
              <a:t> </a:t>
            </a:r>
            <a:endParaRPr lang="en-GB" sz="2400" dirty="0"/>
          </a:p>
          <a:p>
            <a:pPr marL="0" indent="0">
              <a:buNone/>
              <a:defRPr/>
            </a:pPr>
            <a:endParaRPr lang="de-DE" sz="2000" dirty="0"/>
          </a:p>
        </p:txBody>
      </p:sp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AF463CED-26F9-4B75-87CA-547F77DB5A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33FA4B0-7731-EC49-88EA-B5E921ABE78A}" type="slidenum">
              <a:rPr lang="de-DE" smtClean="0"/>
              <a:pPr/>
              <a:t>34</a:t>
            </a:fld>
            <a:endParaRPr lang="de-DE" dirty="0"/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42DCFE90-AE34-4BF9-92CE-ACE932ABCE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5507480" y="1295659"/>
            <a:ext cx="5572125" cy="342900"/>
          </a:xfrm>
          <a:prstGeom prst="rect">
            <a:avLst/>
          </a:prstGeom>
        </p:spPr>
      </p:pic>
      <p:pic>
        <p:nvPicPr>
          <p:cNvPr id="7" name="Picture 12">
            <a:extLst>
              <a:ext uri="{FF2B5EF4-FFF2-40B4-BE49-F238E27FC236}">
                <a16:creationId xmlns:a16="http://schemas.microsoft.com/office/drawing/2014/main" id="{F42ADD74-9C30-4068-90BB-E9DD7634BB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558196" y="4223159"/>
            <a:ext cx="4656255" cy="1631475"/>
          </a:xfrm>
          <a:prstGeom prst="rect">
            <a:avLst/>
          </a:prstGeom>
        </p:spPr>
      </p:pic>
      <p:pic>
        <p:nvPicPr>
          <p:cNvPr id="8" name="Picture 9">
            <a:extLst>
              <a:ext uri="{FF2B5EF4-FFF2-40B4-BE49-F238E27FC236}">
                <a16:creationId xmlns:a16="http://schemas.microsoft.com/office/drawing/2014/main" id="{8EF1E32C-348C-4CA4-A0AC-42F719C59F7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>
            <a:off x="5823021" y="2530110"/>
            <a:ext cx="5256584" cy="3386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793864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GB"/>
              <a:t>Mini-tutorial: D3 – Grundelemente</a:t>
            </a:r>
            <a:endParaRPr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  <a:p>
            <a:pPr lvl="1">
              <a:defRPr/>
            </a:pPr>
            <a:endParaRPr lang="en-GB"/>
          </a:p>
          <a:p>
            <a:pPr lvl="1">
              <a:defRPr/>
            </a:pPr>
            <a:endParaRPr lang="en-GB"/>
          </a:p>
          <a:p>
            <a:pPr>
              <a:defRPr/>
            </a:pPr>
            <a:endParaRPr lang="en-GB"/>
          </a:p>
          <a:p>
            <a:pPr>
              <a:defRPr/>
            </a:pPr>
            <a:endParaRPr lang="en-GB"/>
          </a:p>
          <a:p>
            <a:pPr>
              <a:defRPr/>
            </a:pPr>
            <a:endParaRPr lang="en-GB"/>
          </a:p>
          <a:p>
            <a:pPr>
              <a:defRPr/>
            </a:pPr>
            <a:endParaRPr lang="en-GB"/>
          </a:p>
        </p:txBody>
      </p:sp>
      <p:sp>
        <p:nvSpPr>
          <p:cNvPr id="6" name="Content Placeholder 4"/>
          <p:cNvSpPr txBox="1"/>
          <p:nvPr/>
        </p:nvSpPr>
        <p:spPr bwMode="auto">
          <a:xfrm>
            <a:off x="838200" y="639292"/>
            <a:ext cx="10515600" cy="5453533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179388" indent="-179388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9250" indent="-168275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2400">
                <a:solidFill>
                  <a:schemeClr val="tx1"/>
                </a:solidFill>
                <a:latin typeface="+mn-lt"/>
              </a:defRPr>
            </a:lvl2pPr>
            <a:lvl3pPr marL="538163" indent="-187325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2400">
                <a:solidFill>
                  <a:schemeClr val="tx1"/>
                </a:solidFill>
                <a:latin typeface="+mn-lt"/>
              </a:defRPr>
            </a:lvl3pPr>
            <a:lvl4pPr marL="717550" indent="-173038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2000">
                <a:solidFill>
                  <a:schemeClr val="tx1"/>
                </a:solidFill>
                <a:latin typeface="+mn-lt"/>
              </a:defRPr>
            </a:lvl4pPr>
            <a:lvl5pPr marL="908050" indent="-188913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1365250" indent="-188913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</a:defRPr>
            </a:lvl6pPr>
            <a:lvl7pPr marL="1822450" indent="-188913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</a:defRPr>
            </a:lvl7pPr>
            <a:lvl8pPr marL="2279650" indent="-188913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</a:defRPr>
            </a:lvl8pPr>
            <a:lvl9pPr marL="2736850" indent="-188913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None/>
              <a:defRPr/>
            </a:pPr>
            <a:r>
              <a:rPr lang="en-GB" sz="2000" dirty="0" err="1"/>
              <a:t>Grundelement</a:t>
            </a:r>
            <a:r>
              <a:rPr lang="en-GB" sz="2000" dirty="0"/>
              <a:t> </a:t>
            </a:r>
            <a:r>
              <a:rPr lang="en-GB" sz="2000" dirty="0" err="1"/>
              <a:t>hinzufügen</a:t>
            </a:r>
            <a:r>
              <a:rPr lang="en-GB" sz="2000" dirty="0"/>
              <a:t>: </a:t>
            </a:r>
            <a:r>
              <a:rPr lang="en-GB" sz="2000" dirty="0" err="1"/>
              <a:t>Achsenbeschriftung</a:t>
            </a:r>
            <a:r>
              <a:rPr lang="en-GB" sz="2000" dirty="0"/>
              <a:t> </a:t>
            </a:r>
            <a:r>
              <a:rPr lang="en-GB" sz="2000" u="sng" dirty="0">
                <a:hlinkClick r:id="rId2" tooltip="https://jsfiddle.net/fcagosnu/"/>
              </a:rPr>
              <a:t>https://jsfiddle.net/fcagosnu/</a:t>
            </a:r>
            <a:endParaRPr lang="en-GB" sz="2000" u="sng" dirty="0"/>
          </a:p>
          <a:p>
            <a:pPr marL="0" indent="0">
              <a:buNone/>
              <a:defRPr/>
            </a:pPr>
            <a:endParaRPr lang="en-GB" sz="2000" u="sng" dirty="0"/>
          </a:p>
          <a:p>
            <a:pPr marL="0" indent="0">
              <a:buNone/>
              <a:defRPr/>
            </a:pPr>
            <a:r>
              <a:rPr lang="en-GB" sz="2000" dirty="0" err="1"/>
              <a:t>Erneut</a:t>
            </a:r>
            <a:r>
              <a:rPr lang="en-GB" sz="2000" dirty="0"/>
              <a:t> </a:t>
            </a:r>
            <a:r>
              <a:rPr lang="en-GB" sz="2000" dirty="0" err="1"/>
              <a:t>eine</a:t>
            </a:r>
            <a:r>
              <a:rPr lang="en-GB" sz="2000" dirty="0"/>
              <a:t> </a:t>
            </a:r>
            <a:r>
              <a:rPr lang="en-GB" sz="2000" dirty="0" err="1"/>
              <a:t>Gruppierung</a:t>
            </a:r>
            <a:r>
              <a:rPr lang="en-GB" sz="2000" dirty="0"/>
              <a:t> </a:t>
            </a:r>
            <a:r>
              <a:rPr lang="en-GB" sz="2000" dirty="0" err="1"/>
              <a:t>hinzufügen</a:t>
            </a:r>
            <a:endParaRPr lang="en-GB" sz="2000" dirty="0"/>
          </a:p>
          <a:p>
            <a:pPr marL="0" indent="0">
              <a:buNone/>
              <a:defRPr/>
            </a:pPr>
            <a:endParaRPr lang="en-GB" sz="2000" dirty="0"/>
          </a:p>
          <a:p>
            <a:pPr marL="0" indent="0">
              <a:buNone/>
              <a:defRPr/>
            </a:pPr>
            <a:r>
              <a:rPr lang="de-DE" sz="2000" dirty="0"/>
              <a:t>Achsenbenennung hinzufügen</a:t>
            </a:r>
          </a:p>
          <a:p>
            <a:pPr>
              <a:buFont typeface="Arial" panose="020B0604020202020204" pitchFamily="34" charset="0"/>
              <a:buChar char="•"/>
              <a:defRPr/>
            </a:pPr>
            <a:r>
              <a:rPr lang="de-DE" sz="2000" dirty="0"/>
              <a:t>Zwei Text-Elemente an die entsprechende Position hinzufügen mit der Beschriftung</a:t>
            </a:r>
          </a:p>
          <a:p>
            <a:pPr>
              <a:buFont typeface="Arial" panose="020B0604020202020204" pitchFamily="34" charset="0"/>
              <a:buChar char="•"/>
              <a:defRPr/>
            </a:pPr>
            <a:r>
              <a:rPr lang="de-DE" sz="2000" dirty="0"/>
              <a:t>Text-Element drehen</a:t>
            </a:r>
          </a:p>
          <a:p>
            <a:pPr marL="0" indent="0">
              <a:buNone/>
              <a:defRPr/>
            </a:pPr>
            <a:endParaRPr lang="de-DE" sz="2000" dirty="0"/>
          </a:p>
          <a:p>
            <a:pPr marL="0" indent="0">
              <a:buNone/>
              <a:defRPr/>
            </a:pPr>
            <a:r>
              <a:rPr lang="de-DE" sz="2000" dirty="0"/>
              <a:t>Aufgabe: Füge der Visualisierung einen Titel hinzu.</a:t>
            </a:r>
          </a:p>
          <a:p>
            <a:pPr marL="0" indent="0">
              <a:buNone/>
              <a:defRPr/>
            </a:pPr>
            <a:endParaRPr lang="en-GB" sz="2000" dirty="0"/>
          </a:p>
          <a:p>
            <a:pPr marL="0" indent="0">
              <a:buNone/>
              <a:defRPr/>
            </a:pPr>
            <a:r>
              <a:rPr lang="en-GB" sz="2000" dirty="0"/>
              <a:t> </a:t>
            </a:r>
            <a:endParaRPr lang="en-GB" sz="2400" dirty="0"/>
          </a:p>
          <a:p>
            <a:pPr marL="0" indent="0">
              <a:buNone/>
              <a:defRPr/>
            </a:pPr>
            <a:endParaRPr lang="de-DE" sz="2000" dirty="0"/>
          </a:p>
        </p:txBody>
      </p:sp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AF463CED-26F9-4B75-87CA-547F77DB5A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33FA4B0-7731-EC49-88EA-B5E921ABE78A}" type="slidenum">
              <a:rPr lang="de-DE" smtClean="0"/>
              <a:pPr/>
              <a:t>35</a:t>
            </a:fld>
            <a:endParaRPr lang="de-DE" dirty="0"/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42DCFE90-AE34-4BF9-92CE-ACE932ABCE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5507480" y="1295659"/>
            <a:ext cx="5572125" cy="342900"/>
          </a:xfrm>
          <a:prstGeom prst="rect">
            <a:avLst/>
          </a:prstGeom>
        </p:spPr>
      </p:pic>
      <p:pic>
        <p:nvPicPr>
          <p:cNvPr id="7" name="Picture 12">
            <a:extLst>
              <a:ext uri="{FF2B5EF4-FFF2-40B4-BE49-F238E27FC236}">
                <a16:creationId xmlns:a16="http://schemas.microsoft.com/office/drawing/2014/main" id="{F42ADD74-9C30-4068-90BB-E9DD7634BB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558196" y="4223159"/>
            <a:ext cx="4656255" cy="1631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41353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GB"/>
              <a:t>Mini-tutorial: D3 – Grundelemente</a:t>
            </a:r>
            <a:endParaRPr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  <a:p>
            <a:pPr lvl="1">
              <a:defRPr/>
            </a:pPr>
            <a:endParaRPr lang="en-GB"/>
          </a:p>
          <a:p>
            <a:pPr lvl="1">
              <a:defRPr/>
            </a:pPr>
            <a:endParaRPr lang="en-GB"/>
          </a:p>
          <a:p>
            <a:pPr>
              <a:defRPr/>
            </a:pPr>
            <a:endParaRPr lang="en-GB"/>
          </a:p>
          <a:p>
            <a:pPr>
              <a:defRPr/>
            </a:pPr>
            <a:endParaRPr lang="en-GB"/>
          </a:p>
          <a:p>
            <a:pPr>
              <a:defRPr/>
            </a:pPr>
            <a:endParaRPr lang="en-GB"/>
          </a:p>
          <a:p>
            <a:pPr>
              <a:defRPr/>
            </a:pPr>
            <a:endParaRPr lang="en-GB"/>
          </a:p>
        </p:txBody>
      </p:sp>
      <p:sp>
        <p:nvSpPr>
          <p:cNvPr id="6" name="Content Placeholder 4"/>
          <p:cNvSpPr txBox="1"/>
          <p:nvPr/>
        </p:nvSpPr>
        <p:spPr bwMode="auto">
          <a:xfrm>
            <a:off x="838200" y="639292"/>
            <a:ext cx="10515600" cy="5453533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179388" indent="-179388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9250" indent="-168275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2400">
                <a:solidFill>
                  <a:schemeClr val="tx1"/>
                </a:solidFill>
                <a:latin typeface="+mn-lt"/>
              </a:defRPr>
            </a:lvl2pPr>
            <a:lvl3pPr marL="538163" indent="-187325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2400">
                <a:solidFill>
                  <a:schemeClr val="tx1"/>
                </a:solidFill>
                <a:latin typeface="+mn-lt"/>
              </a:defRPr>
            </a:lvl3pPr>
            <a:lvl4pPr marL="717550" indent="-173038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2000">
                <a:solidFill>
                  <a:schemeClr val="tx1"/>
                </a:solidFill>
                <a:latin typeface="+mn-lt"/>
              </a:defRPr>
            </a:lvl4pPr>
            <a:lvl5pPr marL="908050" indent="-188913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1365250" indent="-188913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</a:defRPr>
            </a:lvl6pPr>
            <a:lvl7pPr marL="1822450" indent="-188913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</a:defRPr>
            </a:lvl7pPr>
            <a:lvl8pPr marL="2279650" indent="-188913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</a:defRPr>
            </a:lvl8pPr>
            <a:lvl9pPr marL="2736850" indent="-188913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None/>
              <a:defRPr/>
            </a:pPr>
            <a:r>
              <a:rPr lang="en-GB" sz="2000" dirty="0" err="1"/>
              <a:t>Grundelement</a:t>
            </a:r>
            <a:r>
              <a:rPr lang="en-GB" sz="2000" dirty="0"/>
              <a:t> </a:t>
            </a:r>
            <a:r>
              <a:rPr lang="en-GB" sz="2000" dirty="0" err="1"/>
              <a:t>hinzufügen</a:t>
            </a:r>
            <a:r>
              <a:rPr lang="en-GB" sz="2000" dirty="0"/>
              <a:t>: </a:t>
            </a:r>
            <a:r>
              <a:rPr lang="en-GB" sz="2000" dirty="0" err="1"/>
              <a:t>Achsenbeschriftung</a:t>
            </a:r>
            <a:r>
              <a:rPr lang="en-GB" sz="2000" dirty="0"/>
              <a:t> </a:t>
            </a:r>
            <a:r>
              <a:rPr lang="en-GB" sz="2000" u="sng" dirty="0">
                <a:hlinkClick r:id="rId2" tooltip="https://jsfiddle.net/fcagosnu/"/>
              </a:rPr>
              <a:t>https://jsfiddle.net/fcagosnu/</a:t>
            </a:r>
            <a:endParaRPr lang="en-GB" sz="2000" u="sng" dirty="0"/>
          </a:p>
          <a:p>
            <a:pPr marL="0" indent="0">
              <a:buNone/>
              <a:defRPr/>
            </a:pPr>
            <a:endParaRPr lang="en-GB" sz="2000" u="sng" dirty="0"/>
          </a:p>
          <a:p>
            <a:pPr marL="0" indent="0">
              <a:buNone/>
              <a:defRPr/>
            </a:pPr>
            <a:r>
              <a:rPr lang="en-GB" sz="2000" dirty="0" err="1"/>
              <a:t>Erneut</a:t>
            </a:r>
            <a:r>
              <a:rPr lang="en-GB" sz="2000" dirty="0"/>
              <a:t> </a:t>
            </a:r>
            <a:r>
              <a:rPr lang="en-GB" sz="2000" dirty="0" err="1"/>
              <a:t>eine</a:t>
            </a:r>
            <a:r>
              <a:rPr lang="en-GB" sz="2000" dirty="0"/>
              <a:t> </a:t>
            </a:r>
            <a:r>
              <a:rPr lang="en-GB" sz="2000" dirty="0" err="1"/>
              <a:t>Gruppierung</a:t>
            </a:r>
            <a:r>
              <a:rPr lang="en-GB" sz="2000" dirty="0"/>
              <a:t> </a:t>
            </a:r>
            <a:r>
              <a:rPr lang="en-GB" sz="2000" dirty="0" err="1"/>
              <a:t>hinzufügen</a:t>
            </a:r>
            <a:endParaRPr lang="en-GB" sz="2000" dirty="0"/>
          </a:p>
          <a:p>
            <a:pPr marL="0" indent="0">
              <a:buNone/>
              <a:defRPr/>
            </a:pPr>
            <a:endParaRPr lang="en-GB" sz="2000" dirty="0"/>
          </a:p>
          <a:p>
            <a:pPr marL="0" indent="0">
              <a:buNone/>
              <a:defRPr/>
            </a:pPr>
            <a:r>
              <a:rPr lang="de-DE" sz="2000" dirty="0"/>
              <a:t>Achsenbenennung hinzufügen</a:t>
            </a:r>
          </a:p>
          <a:p>
            <a:pPr>
              <a:buFont typeface="Arial" panose="020B0604020202020204" pitchFamily="34" charset="0"/>
              <a:buChar char="•"/>
              <a:defRPr/>
            </a:pPr>
            <a:r>
              <a:rPr lang="de-DE" sz="2000" dirty="0"/>
              <a:t>Zwei Text-Elemente an die entsprechende Position hinzufügen mit der Beschriftung</a:t>
            </a:r>
          </a:p>
          <a:p>
            <a:pPr>
              <a:buFont typeface="Arial" panose="020B0604020202020204" pitchFamily="34" charset="0"/>
              <a:buChar char="•"/>
              <a:defRPr/>
            </a:pPr>
            <a:r>
              <a:rPr lang="de-DE" sz="2000" dirty="0"/>
              <a:t>Text-Element drehen</a:t>
            </a:r>
          </a:p>
          <a:p>
            <a:pPr marL="0" indent="0">
              <a:buNone/>
              <a:defRPr/>
            </a:pPr>
            <a:endParaRPr lang="de-DE" sz="2000" dirty="0"/>
          </a:p>
          <a:p>
            <a:pPr marL="0" indent="0">
              <a:buNone/>
              <a:defRPr/>
            </a:pPr>
            <a:r>
              <a:rPr lang="de-DE" sz="2000" dirty="0"/>
              <a:t>Aufgabe: Füge der Visualisierung einen Titel hinzu. </a:t>
            </a:r>
            <a:r>
              <a:rPr lang="de-DE" sz="2000" dirty="0">
                <a:hlinkClick r:id="rId3"/>
              </a:rPr>
              <a:t>https://jsfiddle.net/u3g9tarx/</a:t>
            </a:r>
            <a:endParaRPr lang="de-DE" sz="2000" dirty="0"/>
          </a:p>
          <a:p>
            <a:pPr marL="0" indent="0">
              <a:buNone/>
              <a:defRPr/>
            </a:pPr>
            <a:endParaRPr lang="de-DE" sz="2000" dirty="0"/>
          </a:p>
          <a:p>
            <a:pPr marL="0" indent="0">
              <a:buNone/>
              <a:defRPr/>
            </a:pPr>
            <a:endParaRPr lang="de-DE" sz="2000" dirty="0"/>
          </a:p>
          <a:p>
            <a:pPr marL="0" indent="0">
              <a:buNone/>
              <a:defRPr/>
            </a:pPr>
            <a:endParaRPr lang="en-GB" sz="2000" dirty="0"/>
          </a:p>
          <a:p>
            <a:pPr marL="0" indent="0">
              <a:buNone/>
              <a:defRPr/>
            </a:pPr>
            <a:r>
              <a:rPr lang="en-GB" sz="2000" dirty="0"/>
              <a:t> </a:t>
            </a:r>
            <a:endParaRPr lang="en-GB" sz="2400" dirty="0"/>
          </a:p>
          <a:p>
            <a:pPr marL="0" indent="0">
              <a:buNone/>
              <a:defRPr/>
            </a:pPr>
            <a:endParaRPr lang="de-DE" sz="2000" dirty="0"/>
          </a:p>
        </p:txBody>
      </p:sp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AF463CED-26F9-4B75-87CA-547F77DB5A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33FA4B0-7731-EC49-88EA-B5E921ABE78A}" type="slidenum">
              <a:rPr lang="de-DE" smtClean="0"/>
              <a:pPr/>
              <a:t>36</a:t>
            </a:fld>
            <a:endParaRPr lang="de-DE" dirty="0"/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42DCFE90-AE34-4BF9-92CE-ACE932ABCE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5507480" y="1295659"/>
            <a:ext cx="5572125" cy="342900"/>
          </a:xfrm>
          <a:prstGeom prst="rect">
            <a:avLst/>
          </a:prstGeom>
        </p:spPr>
      </p:pic>
      <p:pic>
        <p:nvPicPr>
          <p:cNvPr id="7" name="Picture 12">
            <a:extLst>
              <a:ext uri="{FF2B5EF4-FFF2-40B4-BE49-F238E27FC236}">
                <a16:creationId xmlns:a16="http://schemas.microsoft.com/office/drawing/2014/main" id="{F42ADD74-9C30-4068-90BB-E9DD7634BB3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>
            <a:off x="558196" y="4223159"/>
            <a:ext cx="4656255" cy="1631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06360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GB"/>
              <a:t>Mini-tutorial: D3 – Grundelemente</a:t>
            </a:r>
            <a:endParaRPr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  <a:p>
            <a:pPr lvl="1">
              <a:defRPr/>
            </a:pPr>
            <a:endParaRPr lang="en-GB"/>
          </a:p>
          <a:p>
            <a:pPr lvl="1">
              <a:defRPr/>
            </a:pPr>
            <a:endParaRPr lang="en-GB"/>
          </a:p>
          <a:p>
            <a:pPr>
              <a:defRPr/>
            </a:pPr>
            <a:endParaRPr lang="en-GB"/>
          </a:p>
          <a:p>
            <a:pPr>
              <a:defRPr/>
            </a:pPr>
            <a:endParaRPr lang="en-GB"/>
          </a:p>
          <a:p>
            <a:pPr>
              <a:defRPr/>
            </a:pPr>
            <a:endParaRPr lang="en-GB"/>
          </a:p>
          <a:p>
            <a:pPr>
              <a:defRPr/>
            </a:pPr>
            <a:endParaRPr lang="en-GB"/>
          </a:p>
        </p:txBody>
      </p:sp>
      <p:sp>
        <p:nvSpPr>
          <p:cNvPr id="6" name="Content Placeholder 4"/>
          <p:cNvSpPr txBox="1"/>
          <p:nvPr/>
        </p:nvSpPr>
        <p:spPr bwMode="auto">
          <a:xfrm>
            <a:off x="838200" y="639292"/>
            <a:ext cx="10515600" cy="5453533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179388" indent="-179388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9250" indent="-168275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2400">
                <a:solidFill>
                  <a:schemeClr val="tx1"/>
                </a:solidFill>
                <a:latin typeface="+mn-lt"/>
              </a:defRPr>
            </a:lvl2pPr>
            <a:lvl3pPr marL="538163" indent="-187325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2400">
                <a:solidFill>
                  <a:schemeClr val="tx1"/>
                </a:solidFill>
                <a:latin typeface="+mn-lt"/>
              </a:defRPr>
            </a:lvl3pPr>
            <a:lvl4pPr marL="717550" indent="-173038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2000">
                <a:solidFill>
                  <a:schemeClr val="tx1"/>
                </a:solidFill>
                <a:latin typeface="+mn-lt"/>
              </a:defRPr>
            </a:lvl4pPr>
            <a:lvl5pPr marL="908050" indent="-188913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1365250" indent="-188913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</a:defRPr>
            </a:lvl6pPr>
            <a:lvl7pPr marL="1822450" indent="-188913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</a:defRPr>
            </a:lvl7pPr>
            <a:lvl8pPr marL="2279650" indent="-188913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</a:defRPr>
            </a:lvl8pPr>
            <a:lvl9pPr marL="2736850" indent="-188913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None/>
              <a:defRPr/>
            </a:pPr>
            <a:r>
              <a:rPr lang="en-GB" sz="2000" dirty="0" err="1"/>
              <a:t>Grundelement</a:t>
            </a:r>
            <a:r>
              <a:rPr lang="en-GB" sz="2000" dirty="0"/>
              <a:t> </a:t>
            </a:r>
            <a:r>
              <a:rPr lang="en-GB" sz="2000" dirty="0" err="1"/>
              <a:t>hinzufügen</a:t>
            </a:r>
            <a:r>
              <a:rPr lang="en-GB" sz="2000" dirty="0"/>
              <a:t>: </a:t>
            </a:r>
            <a:r>
              <a:rPr lang="en-GB" sz="2000" dirty="0" err="1"/>
              <a:t>Achsenbeschriftung</a:t>
            </a:r>
            <a:r>
              <a:rPr lang="en-GB" sz="2000" dirty="0"/>
              <a:t> </a:t>
            </a:r>
            <a:r>
              <a:rPr lang="en-GB" sz="2000" u="sng" dirty="0">
                <a:hlinkClick r:id="rId2" tooltip="https://jsfiddle.net/fcagosnu/"/>
              </a:rPr>
              <a:t>https://jsfiddle.net/fcagosnu/</a:t>
            </a:r>
            <a:endParaRPr lang="en-GB" sz="2000" u="sng" dirty="0"/>
          </a:p>
          <a:p>
            <a:pPr marL="0" indent="0">
              <a:buNone/>
              <a:defRPr/>
            </a:pPr>
            <a:endParaRPr lang="en-GB" sz="2000" u="sng" dirty="0"/>
          </a:p>
          <a:p>
            <a:pPr marL="0" indent="0">
              <a:buNone/>
              <a:defRPr/>
            </a:pPr>
            <a:r>
              <a:rPr lang="en-GB" sz="2000" dirty="0" err="1"/>
              <a:t>Erneut</a:t>
            </a:r>
            <a:r>
              <a:rPr lang="en-GB" sz="2000" dirty="0"/>
              <a:t> </a:t>
            </a:r>
            <a:r>
              <a:rPr lang="en-GB" sz="2000" dirty="0" err="1"/>
              <a:t>eine</a:t>
            </a:r>
            <a:r>
              <a:rPr lang="en-GB" sz="2000" dirty="0"/>
              <a:t> </a:t>
            </a:r>
            <a:r>
              <a:rPr lang="en-GB" sz="2000" dirty="0" err="1"/>
              <a:t>Gruppierung</a:t>
            </a:r>
            <a:r>
              <a:rPr lang="en-GB" sz="2000" dirty="0"/>
              <a:t> </a:t>
            </a:r>
            <a:r>
              <a:rPr lang="en-GB" sz="2000" dirty="0" err="1"/>
              <a:t>hinzufügen</a:t>
            </a:r>
            <a:endParaRPr lang="en-GB" sz="2000" dirty="0"/>
          </a:p>
          <a:p>
            <a:pPr marL="0" indent="0">
              <a:buNone/>
              <a:defRPr/>
            </a:pPr>
            <a:endParaRPr lang="en-GB" sz="2000" dirty="0"/>
          </a:p>
          <a:p>
            <a:pPr marL="0" indent="0">
              <a:buNone/>
              <a:defRPr/>
            </a:pPr>
            <a:r>
              <a:rPr lang="de-DE" sz="2000" dirty="0"/>
              <a:t>Achsenbenennung hinzufügen</a:t>
            </a:r>
          </a:p>
          <a:p>
            <a:pPr>
              <a:buFont typeface="Arial" panose="020B0604020202020204" pitchFamily="34" charset="0"/>
              <a:buChar char="•"/>
              <a:defRPr/>
            </a:pPr>
            <a:r>
              <a:rPr lang="de-DE" sz="2000" dirty="0"/>
              <a:t>Zwei Text-Elemente an die entsprechende Position hinzufügen mit der Beschriftung</a:t>
            </a:r>
          </a:p>
          <a:p>
            <a:pPr>
              <a:buFont typeface="Arial" panose="020B0604020202020204" pitchFamily="34" charset="0"/>
              <a:buChar char="•"/>
              <a:defRPr/>
            </a:pPr>
            <a:r>
              <a:rPr lang="de-DE" sz="2000" dirty="0"/>
              <a:t>Text-Element drehen</a:t>
            </a:r>
          </a:p>
          <a:p>
            <a:pPr marL="0" indent="0">
              <a:buNone/>
              <a:defRPr/>
            </a:pPr>
            <a:endParaRPr lang="de-DE" sz="2000" dirty="0"/>
          </a:p>
          <a:p>
            <a:pPr marL="0" indent="0">
              <a:buNone/>
              <a:defRPr/>
            </a:pPr>
            <a:r>
              <a:rPr lang="de-DE" sz="2000" dirty="0"/>
              <a:t>Aufgabe: Füge der Visualisierung einen Titel hinzu. </a:t>
            </a:r>
            <a:r>
              <a:rPr lang="de-DE" sz="2000" dirty="0">
                <a:hlinkClick r:id="rId3"/>
              </a:rPr>
              <a:t>https://jsfiddle.net/u3g9tarx/</a:t>
            </a:r>
            <a:endParaRPr lang="de-DE" sz="2000" dirty="0"/>
          </a:p>
          <a:p>
            <a:pPr marL="0" indent="0">
              <a:buNone/>
              <a:defRPr/>
            </a:pPr>
            <a:r>
              <a:rPr lang="de-DE" sz="2000" dirty="0"/>
              <a:t>Aufgabe: Färbe die Balken ein. </a:t>
            </a:r>
          </a:p>
          <a:p>
            <a:pPr marL="0" indent="0">
              <a:buNone/>
              <a:defRPr/>
            </a:pPr>
            <a:endParaRPr lang="en-GB" sz="2000" dirty="0"/>
          </a:p>
          <a:p>
            <a:pPr marL="0" indent="0">
              <a:buNone/>
              <a:defRPr/>
            </a:pPr>
            <a:r>
              <a:rPr lang="en-GB" sz="2000" dirty="0"/>
              <a:t> </a:t>
            </a:r>
            <a:endParaRPr lang="en-GB" sz="2400" dirty="0"/>
          </a:p>
          <a:p>
            <a:pPr marL="0" indent="0">
              <a:buNone/>
              <a:defRPr/>
            </a:pPr>
            <a:endParaRPr lang="de-DE" sz="2000" dirty="0"/>
          </a:p>
        </p:txBody>
      </p:sp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AF463CED-26F9-4B75-87CA-547F77DB5A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33FA4B0-7731-EC49-88EA-B5E921ABE78A}" type="slidenum">
              <a:rPr lang="de-DE" smtClean="0"/>
              <a:pPr/>
              <a:t>37</a:t>
            </a:fld>
            <a:endParaRPr lang="de-DE" dirty="0"/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42DCFE90-AE34-4BF9-92CE-ACE932ABCE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5507480" y="1295659"/>
            <a:ext cx="5572125" cy="342900"/>
          </a:xfrm>
          <a:prstGeom prst="rect">
            <a:avLst/>
          </a:prstGeom>
        </p:spPr>
      </p:pic>
      <p:pic>
        <p:nvPicPr>
          <p:cNvPr id="7" name="Picture 12">
            <a:extLst>
              <a:ext uri="{FF2B5EF4-FFF2-40B4-BE49-F238E27FC236}">
                <a16:creationId xmlns:a16="http://schemas.microsoft.com/office/drawing/2014/main" id="{F42ADD74-9C30-4068-90BB-E9DD7634BB3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>
            <a:off x="558196" y="4223159"/>
            <a:ext cx="4656255" cy="1631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577910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GB"/>
              <a:t>Mini-tutorial: D3 – Grundelemente</a:t>
            </a:r>
            <a:endParaRPr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  <a:p>
            <a:pPr lvl="1">
              <a:defRPr/>
            </a:pPr>
            <a:endParaRPr lang="en-GB"/>
          </a:p>
          <a:p>
            <a:pPr lvl="1">
              <a:defRPr/>
            </a:pPr>
            <a:endParaRPr lang="en-GB"/>
          </a:p>
          <a:p>
            <a:pPr>
              <a:defRPr/>
            </a:pPr>
            <a:endParaRPr lang="en-GB"/>
          </a:p>
          <a:p>
            <a:pPr>
              <a:defRPr/>
            </a:pPr>
            <a:endParaRPr lang="en-GB"/>
          </a:p>
          <a:p>
            <a:pPr>
              <a:defRPr/>
            </a:pPr>
            <a:endParaRPr lang="en-GB"/>
          </a:p>
          <a:p>
            <a:pPr>
              <a:defRPr/>
            </a:pPr>
            <a:endParaRPr lang="en-GB"/>
          </a:p>
        </p:txBody>
      </p:sp>
      <p:sp>
        <p:nvSpPr>
          <p:cNvPr id="6" name="Content Placeholder 4"/>
          <p:cNvSpPr txBox="1"/>
          <p:nvPr/>
        </p:nvSpPr>
        <p:spPr bwMode="auto">
          <a:xfrm>
            <a:off x="838200" y="639292"/>
            <a:ext cx="10515600" cy="5453533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179388" indent="-179388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9250" indent="-168275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2400">
                <a:solidFill>
                  <a:schemeClr val="tx1"/>
                </a:solidFill>
                <a:latin typeface="+mn-lt"/>
              </a:defRPr>
            </a:lvl2pPr>
            <a:lvl3pPr marL="538163" indent="-187325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2400">
                <a:solidFill>
                  <a:schemeClr val="tx1"/>
                </a:solidFill>
                <a:latin typeface="+mn-lt"/>
              </a:defRPr>
            </a:lvl3pPr>
            <a:lvl4pPr marL="717550" indent="-173038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2000">
                <a:solidFill>
                  <a:schemeClr val="tx1"/>
                </a:solidFill>
                <a:latin typeface="+mn-lt"/>
              </a:defRPr>
            </a:lvl4pPr>
            <a:lvl5pPr marL="908050" indent="-188913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1365250" indent="-188913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</a:defRPr>
            </a:lvl6pPr>
            <a:lvl7pPr marL="1822450" indent="-188913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</a:defRPr>
            </a:lvl7pPr>
            <a:lvl8pPr marL="2279650" indent="-188913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</a:defRPr>
            </a:lvl8pPr>
            <a:lvl9pPr marL="2736850" indent="-188913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None/>
              <a:defRPr/>
            </a:pPr>
            <a:r>
              <a:rPr lang="en-GB" sz="2000" dirty="0" err="1"/>
              <a:t>Grundelement</a:t>
            </a:r>
            <a:r>
              <a:rPr lang="en-GB" sz="2000" dirty="0"/>
              <a:t> </a:t>
            </a:r>
            <a:r>
              <a:rPr lang="en-GB" sz="2000" dirty="0" err="1"/>
              <a:t>hinzufügen</a:t>
            </a:r>
            <a:r>
              <a:rPr lang="en-GB" sz="2000" dirty="0"/>
              <a:t>: </a:t>
            </a:r>
            <a:r>
              <a:rPr lang="en-GB" sz="2000" dirty="0" err="1"/>
              <a:t>Achsenbeschriftung</a:t>
            </a:r>
            <a:r>
              <a:rPr lang="en-GB" sz="2000" dirty="0"/>
              <a:t> </a:t>
            </a:r>
            <a:r>
              <a:rPr lang="en-GB" sz="2000" u="sng" dirty="0">
                <a:hlinkClick r:id="rId2" tooltip="https://jsfiddle.net/fcagosnu/"/>
              </a:rPr>
              <a:t>https://jsfiddle.net/fcagosnu/</a:t>
            </a:r>
            <a:endParaRPr lang="en-GB" sz="2000" u="sng" dirty="0"/>
          </a:p>
          <a:p>
            <a:pPr marL="0" indent="0">
              <a:buNone/>
              <a:defRPr/>
            </a:pPr>
            <a:endParaRPr lang="en-GB" sz="2000" u="sng" dirty="0"/>
          </a:p>
          <a:p>
            <a:pPr marL="0" indent="0">
              <a:buNone/>
              <a:defRPr/>
            </a:pPr>
            <a:r>
              <a:rPr lang="en-GB" sz="2000" dirty="0" err="1"/>
              <a:t>Erneut</a:t>
            </a:r>
            <a:r>
              <a:rPr lang="en-GB" sz="2000" dirty="0"/>
              <a:t> </a:t>
            </a:r>
            <a:r>
              <a:rPr lang="en-GB" sz="2000" dirty="0" err="1"/>
              <a:t>eine</a:t>
            </a:r>
            <a:r>
              <a:rPr lang="en-GB" sz="2000" dirty="0"/>
              <a:t> </a:t>
            </a:r>
            <a:r>
              <a:rPr lang="en-GB" sz="2000" dirty="0" err="1"/>
              <a:t>Gruppierung</a:t>
            </a:r>
            <a:r>
              <a:rPr lang="en-GB" sz="2000" dirty="0"/>
              <a:t> </a:t>
            </a:r>
            <a:r>
              <a:rPr lang="en-GB" sz="2000" dirty="0" err="1"/>
              <a:t>hinzufügen</a:t>
            </a:r>
            <a:endParaRPr lang="en-GB" sz="2000" dirty="0"/>
          </a:p>
          <a:p>
            <a:pPr marL="0" indent="0">
              <a:buNone/>
              <a:defRPr/>
            </a:pPr>
            <a:endParaRPr lang="en-GB" sz="2000" dirty="0"/>
          </a:p>
          <a:p>
            <a:pPr marL="0" indent="0">
              <a:buNone/>
              <a:defRPr/>
            </a:pPr>
            <a:r>
              <a:rPr lang="de-DE" sz="2000" dirty="0"/>
              <a:t>Achsenbenennung hinzufügen</a:t>
            </a:r>
          </a:p>
          <a:p>
            <a:pPr>
              <a:buFont typeface="Arial" panose="020B0604020202020204" pitchFamily="34" charset="0"/>
              <a:buChar char="•"/>
              <a:defRPr/>
            </a:pPr>
            <a:r>
              <a:rPr lang="de-DE" sz="2000" dirty="0"/>
              <a:t>Zwei Text-Elemente an die entsprechende Position hinzufügen mit der Beschriftung</a:t>
            </a:r>
          </a:p>
          <a:p>
            <a:pPr>
              <a:buFont typeface="Arial" panose="020B0604020202020204" pitchFamily="34" charset="0"/>
              <a:buChar char="•"/>
              <a:defRPr/>
            </a:pPr>
            <a:r>
              <a:rPr lang="de-DE" sz="2000" dirty="0"/>
              <a:t>Text-Element drehen</a:t>
            </a:r>
          </a:p>
          <a:p>
            <a:pPr marL="0" indent="0">
              <a:buNone/>
              <a:defRPr/>
            </a:pPr>
            <a:endParaRPr lang="de-DE" sz="2000" dirty="0"/>
          </a:p>
          <a:p>
            <a:pPr marL="0" indent="0">
              <a:buNone/>
              <a:defRPr/>
            </a:pPr>
            <a:r>
              <a:rPr lang="de-DE" sz="2000" dirty="0"/>
              <a:t>Aufgabe: Füge der Visualisierung einen Titel hinzu. </a:t>
            </a:r>
            <a:r>
              <a:rPr lang="de-DE" sz="2000" dirty="0">
                <a:hlinkClick r:id="rId3"/>
              </a:rPr>
              <a:t>https://jsfiddle.net/u3g9tarx/</a:t>
            </a:r>
            <a:endParaRPr lang="de-DE" sz="2000" dirty="0"/>
          </a:p>
          <a:p>
            <a:pPr marL="0" indent="0">
              <a:buNone/>
              <a:defRPr/>
            </a:pPr>
            <a:r>
              <a:rPr lang="de-DE" sz="2000" dirty="0"/>
              <a:t>Aufgabe: Färbe die Balken ein. </a:t>
            </a:r>
            <a:r>
              <a:rPr lang="de-DE" sz="2000" dirty="0">
                <a:hlinkClick r:id="rId4"/>
              </a:rPr>
              <a:t>https://jsfiddle.net/nd1wx0of/</a:t>
            </a:r>
            <a:endParaRPr lang="de-DE" sz="2000" dirty="0"/>
          </a:p>
          <a:p>
            <a:pPr marL="0" indent="0">
              <a:buNone/>
              <a:defRPr/>
            </a:pPr>
            <a:endParaRPr lang="de-DE" sz="2000" dirty="0"/>
          </a:p>
          <a:p>
            <a:pPr marL="0" indent="0">
              <a:buNone/>
              <a:defRPr/>
            </a:pPr>
            <a:endParaRPr lang="en-GB" sz="2000" dirty="0"/>
          </a:p>
          <a:p>
            <a:pPr marL="0" indent="0">
              <a:buNone/>
              <a:defRPr/>
            </a:pPr>
            <a:r>
              <a:rPr lang="en-GB" sz="2000" dirty="0"/>
              <a:t> </a:t>
            </a:r>
            <a:endParaRPr lang="en-GB" sz="2400" dirty="0"/>
          </a:p>
          <a:p>
            <a:pPr marL="0" indent="0">
              <a:buNone/>
              <a:defRPr/>
            </a:pPr>
            <a:endParaRPr lang="de-DE" sz="2000" dirty="0"/>
          </a:p>
        </p:txBody>
      </p:sp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AF463CED-26F9-4B75-87CA-547F77DB5A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33FA4B0-7731-EC49-88EA-B5E921ABE78A}" type="slidenum">
              <a:rPr lang="de-DE" smtClean="0"/>
              <a:pPr/>
              <a:t>38</a:t>
            </a:fld>
            <a:endParaRPr lang="de-DE" dirty="0"/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42DCFE90-AE34-4BF9-92CE-ACE932ABCEF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>
            <a:off x="5507480" y="1295659"/>
            <a:ext cx="5572125" cy="342900"/>
          </a:xfrm>
          <a:prstGeom prst="rect">
            <a:avLst/>
          </a:prstGeom>
        </p:spPr>
      </p:pic>
      <p:pic>
        <p:nvPicPr>
          <p:cNvPr id="7" name="Picture 12">
            <a:extLst>
              <a:ext uri="{FF2B5EF4-FFF2-40B4-BE49-F238E27FC236}">
                <a16:creationId xmlns:a16="http://schemas.microsoft.com/office/drawing/2014/main" id="{F42ADD74-9C30-4068-90BB-E9DD7634BB3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/>
        </p:blipFill>
        <p:spPr bwMode="auto">
          <a:xfrm>
            <a:off x="558196" y="4223159"/>
            <a:ext cx="4656255" cy="1631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126843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355795B-7469-4316-B6AA-FFA52AEECA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interaktivität</a:t>
            </a:r>
            <a:endParaRPr lang="de-DE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7CC8004-D27E-4F31-B6C9-3FC61FC663B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166589F-3F0C-40D5-A9BF-63175D91413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33FA4B0-7731-EC49-88EA-B5E921ABE78A}" type="slidenum">
              <a:rPr lang="de-DE" smtClean="0"/>
              <a:pPr/>
              <a:t>39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90330812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" name="Content Placeholder 4"/>
          <p:cNvSpPr txBox="1"/>
          <p:nvPr/>
        </p:nvSpPr>
        <p:spPr bwMode="auto">
          <a:xfrm>
            <a:off x="838200" y="639292"/>
            <a:ext cx="10515600" cy="5453533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179388" indent="-179388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9250" indent="-168275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2400">
                <a:solidFill>
                  <a:schemeClr val="tx1"/>
                </a:solidFill>
                <a:latin typeface="+mn-lt"/>
              </a:defRPr>
            </a:lvl2pPr>
            <a:lvl3pPr marL="538163" indent="-187325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2400">
                <a:solidFill>
                  <a:schemeClr val="tx1"/>
                </a:solidFill>
                <a:latin typeface="+mn-lt"/>
              </a:defRPr>
            </a:lvl3pPr>
            <a:lvl4pPr marL="717550" indent="-173038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2000">
                <a:solidFill>
                  <a:schemeClr val="tx1"/>
                </a:solidFill>
                <a:latin typeface="+mn-lt"/>
              </a:defRPr>
            </a:lvl4pPr>
            <a:lvl5pPr marL="908050" indent="-188913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1365250" indent="-188913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</a:defRPr>
            </a:lvl6pPr>
            <a:lvl7pPr marL="1822450" indent="-188913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</a:defRPr>
            </a:lvl7pPr>
            <a:lvl8pPr marL="2279650" indent="-188913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</a:defRPr>
            </a:lvl8pPr>
            <a:lvl9pPr marL="2736850" indent="-188913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GB" sz="2000" dirty="0" err="1"/>
              <a:t>Hinzufügen</a:t>
            </a:r>
            <a:r>
              <a:rPr lang="en-GB" sz="2000" dirty="0"/>
              <a:t> von </a:t>
            </a:r>
            <a:r>
              <a:rPr lang="en-GB" sz="2000" dirty="0" err="1"/>
              <a:t>Interaktivität</a:t>
            </a:r>
            <a:r>
              <a:rPr lang="en-GB" sz="2000" dirty="0"/>
              <a:t>: </a:t>
            </a:r>
            <a:r>
              <a:rPr lang="en-GB" sz="2000" dirty="0" err="1"/>
              <a:t>Datensatz</a:t>
            </a:r>
            <a:r>
              <a:rPr lang="en-GB" sz="2000" dirty="0"/>
              <a:t> </a:t>
            </a:r>
            <a:r>
              <a:rPr lang="en-GB" sz="2000" dirty="0" err="1"/>
              <a:t>wechseln</a:t>
            </a:r>
            <a:endParaRPr sz="2000" dirty="0"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en-GB" sz="2000" dirty="0"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GB" sz="2000" dirty="0" err="1"/>
              <a:t>Verknüpft</a:t>
            </a:r>
            <a:r>
              <a:rPr lang="en-GB" sz="2000" dirty="0"/>
              <a:t> </a:t>
            </a:r>
            <a:r>
              <a:rPr lang="en-GB" sz="2000" dirty="0" err="1"/>
              <a:t>mit</a:t>
            </a:r>
            <a:r>
              <a:rPr lang="en-GB" sz="2000" dirty="0"/>
              <a:t> .data()</a:t>
            </a:r>
            <a:endParaRPr sz="2000" dirty="0"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GB" sz="2000" dirty="0"/>
              <a:t>Wie </a:t>
            </a:r>
            <a:r>
              <a:rPr lang="en-GB" sz="2000" dirty="0" err="1"/>
              <a:t>aktualisieren</a:t>
            </a:r>
            <a:r>
              <a:rPr lang="en-GB" sz="2000" dirty="0"/>
              <a:t> </a:t>
            </a:r>
            <a:r>
              <a:rPr lang="en-GB" sz="2000" dirty="0" err="1"/>
              <a:t>wir</a:t>
            </a:r>
            <a:r>
              <a:rPr lang="en-GB" sz="2000" dirty="0"/>
              <a:t> die </a:t>
            </a:r>
            <a:r>
              <a:rPr lang="en-GB" sz="2000" dirty="0" err="1"/>
              <a:t>Visualisierung</a:t>
            </a:r>
            <a:r>
              <a:rPr lang="en-GB" sz="2000" dirty="0"/>
              <a:t> </a:t>
            </a:r>
            <a:r>
              <a:rPr lang="en-GB" sz="2000" dirty="0" err="1"/>
              <a:t>korrekt</a:t>
            </a:r>
            <a:r>
              <a:rPr lang="en-GB" sz="2000" dirty="0"/>
              <a:t>?</a:t>
            </a:r>
            <a:endParaRPr sz="2000" dirty="0"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en-GB" sz="2000" dirty="0">
              <a:solidFill>
                <a:srgbClr val="0070C0"/>
              </a:solidFill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en-GB" sz="2000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GB" dirty="0"/>
              <a:t>Mini-Tutorial: D3 – </a:t>
            </a:r>
            <a:r>
              <a:rPr lang="en-GB" dirty="0" err="1"/>
              <a:t>Interaktivität</a:t>
            </a:r>
            <a:endParaRPr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3509732" y="1261947"/>
            <a:ext cx="4333875" cy="314325"/>
          </a:xfrm>
          <a:prstGeom prst="rect">
            <a:avLst/>
          </a:prstGeom>
        </p:spPr>
      </p:pic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0A2BB294-48F2-4BF9-AC86-EDD299469D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33FA4B0-7731-EC49-88EA-B5E921ABE78A}" type="slidenum">
              <a:rPr lang="de-DE" smtClean="0"/>
              <a:pPr/>
              <a:t>40</a:t>
            </a:fld>
            <a:endParaRPr lang="de-DE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2482400" name="Content Placeholder 4"/>
          <p:cNvSpPr txBox="1"/>
          <p:nvPr/>
        </p:nvSpPr>
        <p:spPr bwMode="auto">
          <a:xfrm>
            <a:off x="838200" y="639290"/>
            <a:ext cx="10515600" cy="545353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179387" indent="-179387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9249" indent="-168274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2400">
                <a:solidFill>
                  <a:schemeClr val="tx1"/>
                </a:solidFill>
                <a:latin typeface="+mn-lt"/>
              </a:defRPr>
            </a:lvl2pPr>
            <a:lvl3pPr marL="538162" indent="-187324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2400">
                <a:solidFill>
                  <a:schemeClr val="tx1"/>
                </a:solidFill>
                <a:latin typeface="+mn-lt"/>
              </a:defRPr>
            </a:lvl3pPr>
            <a:lvl4pPr marL="717549" indent="-173037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2000">
                <a:solidFill>
                  <a:schemeClr val="tx1"/>
                </a:solidFill>
                <a:latin typeface="+mn-lt"/>
              </a:defRPr>
            </a:lvl4pPr>
            <a:lvl5pPr marL="908049" indent="-188912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1365249" indent="-188912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</a:defRPr>
            </a:lvl6pPr>
            <a:lvl7pPr marL="1822449" indent="-188912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</a:defRPr>
            </a:lvl7pPr>
            <a:lvl8pPr marL="2279649" indent="-188912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</a:defRPr>
            </a:lvl8pPr>
            <a:lvl9pPr marL="2736849" indent="-188912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sz="2000" dirty="0"/>
              <a:t>Was </a:t>
            </a:r>
            <a:r>
              <a:rPr sz="2000" dirty="0" err="1"/>
              <a:t>machen</a:t>
            </a:r>
            <a:r>
              <a:rPr sz="2000" dirty="0"/>
              <a:t> </a:t>
            </a:r>
            <a:r>
              <a:rPr sz="2000" b="0" dirty="0"/>
              <a:t>.data(...),</a:t>
            </a:r>
            <a:r>
              <a:rPr sz="2000" dirty="0"/>
              <a:t> .enter(), .merge(...) und .exit() </a:t>
            </a:r>
            <a:r>
              <a:rPr lang="en-US" sz="2000" dirty="0" err="1"/>
              <a:t>eigentlich</a:t>
            </a:r>
            <a:r>
              <a:rPr lang="en-US" sz="2000" dirty="0"/>
              <a:t> </a:t>
            </a:r>
            <a:r>
              <a:rPr lang="en-US" sz="2000" dirty="0" err="1"/>
              <a:t>genau</a:t>
            </a:r>
            <a:r>
              <a:rPr sz="2000" dirty="0"/>
              <a:t>?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en-GB" sz="2400" dirty="0"/>
          </a:p>
        </p:txBody>
      </p:sp>
      <p:sp>
        <p:nvSpPr>
          <p:cNvPr id="1751140071" name="Title 3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GB" sz="2800" dirty="0"/>
              <a:t>Mini-Tutorial: D3 – Manipulation </a:t>
            </a:r>
            <a:r>
              <a:rPr lang="en-GB" sz="2800" dirty="0" err="1"/>
              <a:t>mit</a:t>
            </a:r>
            <a:r>
              <a:rPr lang="en-GB" sz="2800" dirty="0"/>
              <a:t> </a:t>
            </a:r>
            <a:r>
              <a:rPr lang="en-GB" sz="2800" dirty="0" err="1"/>
              <a:t>verknüpften</a:t>
            </a:r>
            <a:r>
              <a:rPr lang="en-GB" sz="2800" dirty="0"/>
              <a:t> </a:t>
            </a:r>
            <a:r>
              <a:rPr lang="en-GB" sz="2800" dirty="0" err="1"/>
              <a:t>Daten</a:t>
            </a:r>
            <a:endParaRPr sz="2800" dirty="0"/>
          </a:p>
        </p:txBody>
      </p:sp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6BD5C037-325F-408D-B6F6-F9788B2B38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33FA4B0-7731-EC49-88EA-B5E921ABE78A}" type="slidenum">
              <a:rPr lang="de-DE" smtClean="0"/>
              <a:pPr/>
              <a:t>41</a:t>
            </a:fld>
            <a:endParaRPr lang="de-DE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2482400" name="Content Placeholder 4"/>
          <p:cNvSpPr txBox="1"/>
          <p:nvPr/>
        </p:nvSpPr>
        <p:spPr bwMode="auto">
          <a:xfrm>
            <a:off x="838200" y="639290"/>
            <a:ext cx="10515600" cy="545353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179387" indent="-179387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9249" indent="-168274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2400">
                <a:solidFill>
                  <a:schemeClr val="tx1"/>
                </a:solidFill>
                <a:latin typeface="+mn-lt"/>
              </a:defRPr>
            </a:lvl2pPr>
            <a:lvl3pPr marL="538162" indent="-187324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2400">
                <a:solidFill>
                  <a:schemeClr val="tx1"/>
                </a:solidFill>
                <a:latin typeface="+mn-lt"/>
              </a:defRPr>
            </a:lvl3pPr>
            <a:lvl4pPr marL="717549" indent="-173037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2000">
                <a:solidFill>
                  <a:schemeClr val="tx1"/>
                </a:solidFill>
                <a:latin typeface="+mn-lt"/>
              </a:defRPr>
            </a:lvl4pPr>
            <a:lvl5pPr marL="908049" indent="-188912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1365249" indent="-188912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</a:defRPr>
            </a:lvl6pPr>
            <a:lvl7pPr marL="1822449" indent="-188912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</a:defRPr>
            </a:lvl7pPr>
            <a:lvl8pPr marL="2279649" indent="-188912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</a:defRPr>
            </a:lvl8pPr>
            <a:lvl9pPr marL="2736849" indent="-188912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sz="2000" dirty="0"/>
              <a:t>Was </a:t>
            </a:r>
            <a:r>
              <a:rPr sz="2000" dirty="0" err="1"/>
              <a:t>machen</a:t>
            </a:r>
            <a:r>
              <a:rPr sz="2000" dirty="0"/>
              <a:t> </a:t>
            </a:r>
            <a:r>
              <a:rPr sz="2000" b="0" dirty="0"/>
              <a:t>.data(...),</a:t>
            </a:r>
            <a:r>
              <a:rPr sz="2000" dirty="0"/>
              <a:t> .enter(), .merge(...) und .exit() </a:t>
            </a:r>
            <a:r>
              <a:rPr lang="en-US" sz="2000" dirty="0" err="1"/>
              <a:t>eigentlich</a:t>
            </a:r>
            <a:r>
              <a:rPr lang="en-US" sz="2000" dirty="0"/>
              <a:t> </a:t>
            </a:r>
            <a:r>
              <a:rPr lang="en-US" sz="2000" dirty="0" err="1"/>
              <a:t>genau</a:t>
            </a:r>
            <a:r>
              <a:rPr sz="2000" dirty="0"/>
              <a:t>?</a:t>
            </a:r>
            <a:endParaRPr lang="de-DE" sz="2000" dirty="0"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de-DE" sz="2000" dirty="0"/>
          </a:p>
          <a:p>
            <a:pPr marL="0" indent="0">
              <a:buNone/>
              <a:defRPr/>
            </a:pPr>
            <a:r>
              <a:rPr lang="de-DE" sz="2000" dirty="0"/>
              <a:t>Allgemeinen: die Attribute der Elemente einer Auswahl können manipuliert werden:</a:t>
            </a:r>
          </a:p>
          <a:p>
            <a:pPr marL="0" indent="0">
              <a:buNone/>
              <a:defRPr/>
            </a:pPr>
            <a:endParaRPr lang="de-DE" sz="2000" dirty="0"/>
          </a:p>
          <a:p>
            <a:pPr marL="457200" indent="-457200">
              <a:buFont typeface="+mj-lt"/>
              <a:buAutoNum type="arabicPeriod"/>
              <a:defRPr/>
            </a:pPr>
            <a:r>
              <a:rPr lang="de-DE" sz="2000" dirty="0"/>
              <a:t>Auswählen aller Elemente mit dem Klassennamen „</a:t>
            </a:r>
            <a:r>
              <a:rPr lang="de-DE" sz="2000" dirty="0" err="1"/>
              <a:t>data_points</a:t>
            </a:r>
            <a:r>
              <a:rPr lang="de-DE" sz="2000" dirty="0"/>
              <a:t>“</a:t>
            </a:r>
          </a:p>
          <a:p>
            <a:pPr marL="457200" indent="-457200">
              <a:buFont typeface="+mj-lt"/>
              <a:buAutoNum type="arabicPeriod"/>
              <a:defRPr/>
            </a:pPr>
            <a:endParaRPr lang="de-DE" sz="2000" dirty="0"/>
          </a:p>
          <a:p>
            <a:pPr marL="457200" indent="-457200">
              <a:buFont typeface="+mj-lt"/>
              <a:buAutoNum type="arabicPeriod"/>
              <a:defRPr/>
            </a:pPr>
            <a:endParaRPr lang="de-DE" sz="2000" dirty="0"/>
          </a:p>
          <a:p>
            <a:pPr marL="457200" indent="-457200">
              <a:buFont typeface="+mj-lt"/>
              <a:buAutoNum type="arabicPeriod"/>
              <a:defRPr/>
            </a:pPr>
            <a:endParaRPr lang="de-DE" sz="2000" dirty="0"/>
          </a:p>
          <a:p>
            <a:pPr marL="457200" indent="-457200">
              <a:buFont typeface="+mj-lt"/>
              <a:buAutoNum type="arabicPeriod"/>
              <a:defRPr/>
            </a:pPr>
            <a:endParaRPr lang="de-DE" sz="2000" dirty="0"/>
          </a:p>
          <a:p>
            <a:pPr marL="457200" indent="-457200">
              <a:buFont typeface="+mj-lt"/>
              <a:buAutoNum type="arabicPeriod"/>
              <a:defRPr/>
            </a:pPr>
            <a:endParaRPr lang="de-DE" sz="2000" dirty="0"/>
          </a:p>
          <a:p>
            <a:pPr marL="457200" indent="-457200">
              <a:buFont typeface="+mj-lt"/>
              <a:buAutoNum type="arabicPeriod"/>
              <a:defRPr/>
            </a:pPr>
            <a:r>
              <a:rPr lang="de-DE" sz="2000" dirty="0"/>
              <a:t>Setzen von Attributen jedes Elements der Auswahl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2000" dirty="0"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en-GB" sz="2400" dirty="0"/>
          </a:p>
        </p:txBody>
      </p:sp>
      <p:sp>
        <p:nvSpPr>
          <p:cNvPr id="1751140071" name="Title 3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GB" sz="2800" dirty="0"/>
              <a:t>Mini-Tutorial: D3 – Manipulation </a:t>
            </a:r>
            <a:r>
              <a:rPr lang="en-GB" sz="2800" dirty="0" err="1"/>
              <a:t>mit</a:t>
            </a:r>
            <a:r>
              <a:rPr lang="en-GB" sz="2800" dirty="0"/>
              <a:t> </a:t>
            </a:r>
            <a:r>
              <a:rPr lang="en-GB" sz="2800" dirty="0" err="1"/>
              <a:t>verknüpften</a:t>
            </a:r>
            <a:r>
              <a:rPr lang="en-GB" sz="2800" dirty="0"/>
              <a:t> </a:t>
            </a:r>
            <a:r>
              <a:rPr lang="en-GB" sz="2800" dirty="0" err="1"/>
              <a:t>Daten</a:t>
            </a:r>
            <a:endParaRPr sz="2800" dirty="0"/>
          </a:p>
        </p:txBody>
      </p:sp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6BD5C037-325F-408D-B6F6-F9788B2B38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33FA4B0-7731-EC49-88EA-B5E921ABE78A}" type="slidenum">
              <a:rPr lang="de-DE" smtClean="0"/>
              <a:pPr/>
              <a:t>42</a:t>
            </a:fld>
            <a:endParaRPr lang="de-DE" dirty="0"/>
          </a:p>
        </p:txBody>
      </p:sp>
      <p:pic>
        <p:nvPicPr>
          <p:cNvPr id="5" name="Picture 46926340">
            <a:extLst>
              <a:ext uri="{FF2B5EF4-FFF2-40B4-BE49-F238E27FC236}">
                <a16:creationId xmlns:a16="http://schemas.microsoft.com/office/drawing/2014/main" id="{79E19E7C-7ECE-43EF-8C73-A6B8E1D923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838200" y="2269502"/>
            <a:ext cx="7096124" cy="380999"/>
          </a:xfrm>
          <a:prstGeom prst="rect">
            <a:avLst/>
          </a:prstGeom>
        </p:spPr>
      </p:pic>
      <p:pic>
        <p:nvPicPr>
          <p:cNvPr id="6" name="Picture 926413877">
            <a:extLst>
              <a:ext uri="{FF2B5EF4-FFF2-40B4-BE49-F238E27FC236}">
                <a16:creationId xmlns:a16="http://schemas.microsoft.com/office/drawing/2014/main" id="{E3DE52A8-40E9-4F5A-8EC6-F67A080EA4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838200" y="4164977"/>
            <a:ext cx="6038849" cy="371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140867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2482400" name="Content Placeholder 4"/>
          <p:cNvSpPr txBox="1"/>
          <p:nvPr/>
        </p:nvSpPr>
        <p:spPr bwMode="auto">
          <a:xfrm>
            <a:off x="838200" y="639290"/>
            <a:ext cx="10515600" cy="545353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179387" indent="-179387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9249" indent="-168274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2400">
                <a:solidFill>
                  <a:schemeClr val="tx1"/>
                </a:solidFill>
                <a:latin typeface="+mn-lt"/>
              </a:defRPr>
            </a:lvl2pPr>
            <a:lvl3pPr marL="538162" indent="-187324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2400">
                <a:solidFill>
                  <a:schemeClr val="tx1"/>
                </a:solidFill>
                <a:latin typeface="+mn-lt"/>
              </a:defRPr>
            </a:lvl3pPr>
            <a:lvl4pPr marL="717549" indent="-173037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2000">
                <a:solidFill>
                  <a:schemeClr val="tx1"/>
                </a:solidFill>
                <a:latin typeface="+mn-lt"/>
              </a:defRPr>
            </a:lvl4pPr>
            <a:lvl5pPr marL="908049" indent="-188912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1365249" indent="-188912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</a:defRPr>
            </a:lvl6pPr>
            <a:lvl7pPr marL="1822449" indent="-188912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</a:defRPr>
            </a:lvl7pPr>
            <a:lvl8pPr marL="2279649" indent="-188912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</a:defRPr>
            </a:lvl8pPr>
            <a:lvl9pPr marL="2736849" indent="-188912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sz="2000" dirty="0"/>
              <a:t>Was </a:t>
            </a:r>
            <a:r>
              <a:rPr sz="2000" dirty="0" err="1"/>
              <a:t>machen</a:t>
            </a:r>
            <a:r>
              <a:rPr sz="2000" dirty="0"/>
              <a:t> </a:t>
            </a:r>
            <a:r>
              <a:rPr sz="2000" b="1" dirty="0"/>
              <a:t>.data(...)</a:t>
            </a:r>
            <a:r>
              <a:rPr sz="2000" b="0" dirty="0"/>
              <a:t>,</a:t>
            </a:r>
            <a:r>
              <a:rPr sz="2000" dirty="0"/>
              <a:t> .enter(), .merge(...) und .exit() </a:t>
            </a:r>
            <a:r>
              <a:rPr lang="en-US" sz="2000" dirty="0" err="1"/>
              <a:t>eigentlich</a:t>
            </a:r>
            <a:r>
              <a:rPr lang="en-US" sz="2000" dirty="0"/>
              <a:t> </a:t>
            </a:r>
            <a:r>
              <a:rPr lang="en-US" sz="2000" dirty="0" err="1"/>
              <a:t>genau</a:t>
            </a:r>
            <a:r>
              <a:rPr sz="2000" dirty="0"/>
              <a:t>?</a:t>
            </a:r>
            <a:endParaRPr lang="de-DE" sz="2000" dirty="0"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de-DE" sz="2000" dirty="0"/>
          </a:p>
          <a:p>
            <a:pPr marL="0" indent="0">
              <a:buNone/>
              <a:defRPr/>
            </a:pPr>
            <a:r>
              <a:rPr lang="de-DE" sz="2000" dirty="0"/>
              <a:t>.</a:t>
            </a:r>
            <a:r>
              <a:rPr lang="de-DE" sz="2000" dirty="0" err="1"/>
              <a:t>data</a:t>
            </a:r>
            <a:r>
              <a:rPr lang="de-DE" sz="2000" dirty="0"/>
              <a:t>(...) verknüpft Daten zur Auswahl:</a:t>
            </a:r>
          </a:p>
          <a:p>
            <a:pPr marL="0" indent="0">
              <a:buNone/>
              <a:defRPr/>
            </a:pPr>
            <a:endParaRPr lang="de-DE" sz="2000" dirty="0"/>
          </a:p>
          <a:p>
            <a:pPr marL="0" indent="0">
              <a:buNone/>
              <a:defRPr/>
            </a:pPr>
            <a:r>
              <a:rPr lang="de-DE" sz="2000" dirty="0"/>
              <a:t>Das kann man sich wie zwei Array vorstellen: “</a:t>
            </a:r>
            <a:r>
              <a:rPr lang="de-DE" sz="2000" dirty="0" err="1"/>
              <a:t>Selection</a:t>
            </a:r>
            <a:r>
              <a:rPr lang="de-DE" sz="2000" dirty="0"/>
              <a:t>” und “Bound </a:t>
            </a:r>
            <a:r>
              <a:rPr lang="de-DE" sz="2000" dirty="0" err="1"/>
              <a:t>data</a:t>
            </a:r>
            <a:r>
              <a:rPr lang="de-DE" sz="2000" dirty="0"/>
              <a:t>”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de-DE" sz="2000" dirty="0"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de-DE" sz="2000" dirty="0"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de-DE" sz="2000" dirty="0"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de-DE" sz="2000" dirty="0"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de-DE" sz="2000" dirty="0"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de-DE" sz="2000" dirty="0"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de-DE" sz="2000" dirty="0"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de-DE" sz="2000" dirty="0"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de-DE" sz="2000" dirty="0"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de-DE" sz="2000" dirty="0"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de-DE" sz="2000" dirty="0"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de-DE" sz="2000" dirty="0"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de-DE" sz="2000" dirty="0"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de-DE" sz="2000" dirty="0"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de-DE" sz="2000" dirty="0"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de-DE" sz="2000" dirty="0"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de-DE" sz="2000" dirty="0"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2000" dirty="0"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en-GB" sz="2400" dirty="0"/>
          </a:p>
        </p:txBody>
      </p:sp>
      <p:sp>
        <p:nvSpPr>
          <p:cNvPr id="1751140071" name="Title 3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GB" sz="2800" dirty="0"/>
              <a:t>Mini-Tutorial: D3 – Manipulation </a:t>
            </a:r>
            <a:r>
              <a:rPr lang="en-GB" sz="2800" dirty="0" err="1"/>
              <a:t>mit</a:t>
            </a:r>
            <a:r>
              <a:rPr lang="en-GB" sz="2800" dirty="0"/>
              <a:t> </a:t>
            </a:r>
            <a:r>
              <a:rPr lang="en-GB" sz="2800" dirty="0" err="1"/>
              <a:t>verknüpften</a:t>
            </a:r>
            <a:r>
              <a:rPr lang="en-GB" sz="2800" dirty="0"/>
              <a:t> </a:t>
            </a:r>
            <a:r>
              <a:rPr lang="en-GB" sz="2800" dirty="0" err="1"/>
              <a:t>Daten</a:t>
            </a:r>
            <a:endParaRPr sz="2800" dirty="0"/>
          </a:p>
        </p:txBody>
      </p:sp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6BD5C037-325F-408D-B6F6-F9788B2B38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33FA4B0-7731-EC49-88EA-B5E921ABE78A}" type="slidenum">
              <a:rPr lang="de-DE" smtClean="0"/>
              <a:pPr/>
              <a:t>43</a:t>
            </a:fld>
            <a:endParaRPr lang="de-DE" dirty="0"/>
          </a:p>
        </p:txBody>
      </p:sp>
      <p:pic>
        <p:nvPicPr>
          <p:cNvPr id="7" name="Picture 1781989390">
            <a:extLst>
              <a:ext uri="{FF2B5EF4-FFF2-40B4-BE49-F238E27FC236}">
                <a16:creationId xmlns:a16="http://schemas.microsoft.com/office/drawing/2014/main" id="{51C0D90C-3473-4C1C-A278-076C05E207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1328738" y="2371725"/>
            <a:ext cx="9534523" cy="2114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32011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2482400" name="Content Placeholder 4"/>
          <p:cNvSpPr txBox="1"/>
          <p:nvPr/>
        </p:nvSpPr>
        <p:spPr bwMode="auto">
          <a:xfrm>
            <a:off x="838200" y="639290"/>
            <a:ext cx="10515600" cy="545353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179387" indent="-179387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9249" indent="-168274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2400">
                <a:solidFill>
                  <a:schemeClr val="tx1"/>
                </a:solidFill>
                <a:latin typeface="+mn-lt"/>
              </a:defRPr>
            </a:lvl2pPr>
            <a:lvl3pPr marL="538162" indent="-187324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2400">
                <a:solidFill>
                  <a:schemeClr val="tx1"/>
                </a:solidFill>
                <a:latin typeface="+mn-lt"/>
              </a:defRPr>
            </a:lvl3pPr>
            <a:lvl4pPr marL="717549" indent="-173037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2000">
                <a:solidFill>
                  <a:schemeClr val="tx1"/>
                </a:solidFill>
                <a:latin typeface="+mn-lt"/>
              </a:defRPr>
            </a:lvl4pPr>
            <a:lvl5pPr marL="908049" indent="-188912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1365249" indent="-188912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</a:defRPr>
            </a:lvl6pPr>
            <a:lvl7pPr marL="1822449" indent="-188912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</a:defRPr>
            </a:lvl7pPr>
            <a:lvl8pPr marL="2279649" indent="-188912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</a:defRPr>
            </a:lvl8pPr>
            <a:lvl9pPr marL="2736849" indent="-188912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sz="2000" dirty="0"/>
              <a:t>Was </a:t>
            </a:r>
            <a:r>
              <a:rPr sz="2000" dirty="0" err="1"/>
              <a:t>machen</a:t>
            </a:r>
            <a:r>
              <a:rPr sz="2000" dirty="0"/>
              <a:t> </a:t>
            </a:r>
            <a:r>
              <a:rPr sz="2000" b="1" dirty="0"/>
              <a:t>.data(...)</a:t>
            </a:r>
            <a:r>
              <a:rPr sz="2000" b="0" dirty="0"/>
              <a:t>,</a:t>
            </a:r>
            <a:r>
              <a:rPr sz="2000" dirty="0"/>
              <a:t> .enter(), .merge(...) und .exit() </a:t>
            </a:r>
            <a:r>
              <a:rPr lang="en-US" sz="2000" dirty="0" err="1"/>
              <a:t>eigentlich</a:t>
            </a:r>
            <a:r>
              <a:rPr lang="en-US" sz="2000" dirty="0"/>
              <a:t> </a:t>
            </a:r>
            <a:r>
              <a:rPr lang="en-US" sz="2000" dirty="0" err="1"/>
              <a:t>genau</a:t>
            </a:r>
            <a:r>
              <a:rPr sz="2000" dirty="0"/>
              <a:t>?</a:t>
            </a:r>
            <a:endParaRPr lang="de-DE" sz="2000" dirty="0"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de-DE" sz="2000" dirty="0"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de-DE" sz="2000" dirty="0"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de-DE" sz="2000" dirty="0"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de-DE" sz="2000" dirty="0"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de-DE" sz="2000" dirty="0"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de-DE" sz="2000" dirty="0"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de-DE" sz="2000" dirty="0"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de-DE" sz="2000" dirty="0"/>
          </a:p>
          <a:p>
            <a:pPr marL="0" indent="0">
              <a:buNone/>
              <a:defRPr/>
            </a:pPr>
            <a:r>
              <a:rPr lang="de-DE" sz="2000" dirty="0"/>
              <a:t>Manipulation kann nun anhand der verknüpften Daten vorgenommen werden:</a:t>
            </a:r>
          </a:p>
          <a:p>
            <a:pPr marL="0" indent="0">
              <a:buNone/>
              <a:defRPr/>
            </a:pPr>
            <a:r>
              <a:rPr lang="de-DE" sz="2000" dirty="0"/>
              <a:t>Element i der Auswahl ist verknüpft mit Datenpunkt i der verknüpften Daten als Funktionsparameter</a:t>
            </a:r>
          </a:p>
          <a:p>
            <a:pPr marL="0" indent="0">
              <a:buNone/>
              <a:defRPr/>
            </a:pPr>
            <a:endParaRPr lang="de-DE" sz="2000" dirty="0"/>
          </a:p>
          <a:p>
            <a:pPr marL="0" indent="0">
              <a:buNone/>
              <a:defRPr/>
            </a:pPr>
            <a:r>
              <a:rPr lang="de-DE" sz="2000" dirty="0"/>
              <a:t>Das bedeutet </a:t>
            </a:r>
            <a:r>
              <a:rPr lang="de-DE" sz="2000" dirty="0" err="1"/>
              <a:t>rect</a:t>
            </a:r>
            <a:r>
              <a:rPr lang="de-DE" sz="2000" dirty="0"/>
              <a:t> Nummer 3 (Iterator = 2)</a:t>
            </a:r>
            <a:br>
              <a:rPr lang="de-DE" sz="2000" dirty="0"/>
            </a:br>
            <a:r>
              <a:rPr lang="de-DE" sz="2000" dirty="0"/>
              <a:t>hat die folgenden Inputparameter:</a:t>
            </a:r>
          </a:p>
          <a:p>
            <a:pPr>
              <a:buFont typeface="Arial" panose="020B0604020202020204" pitchFamily="34" charset="0"/>
              <a:buChar char="•"/>
              <a:defRPr/>
            </a:pPr>
            <a:r>
              <a:rPr lang="de-DE" sz="2000" dirty="0"/>
              <a:t>d = { </a:t>
            </a:r>
            <a:r>
              <a:rPr lang="de-DE" sz="2000" dirty="0" err="1"/>
              <a:t>city</a:t>
            </a:r>
            <a:r>
              <a:rPr lang="de-DE" sz="2000" dirty="0"/>
              <a:t>: “Munich”, ... }</a:t>
            </a:r>
          </a:p>
          <a:p>
            <a:pPr>
              <a:buFont typeface="Arial" panose="020B0604020202020204" pitchFamily="34" charset="0"/>
              <a:buChar char="•"/>
              <a:defRPr/>
            </a:pPr>
            <a:r>
              <a:rPr lang="de-DE" sz="2000" dirty="0"/>
              <a:t>i = 2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de-DE" sz="2000" dirty="0"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de-DE" sz="2000" dirty="0"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de-DE" sz="2000" dirty="0"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de-DE" sz="2000" dirty="0"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de-DE" sz="2000" dirty="0"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de-DE" sz="2000" dirty="0"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de-DE" sz="2000" dirty="0"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de-DE" sz="2000" dirty="0"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de-DE" sz="2000" dirty="0"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de-DE" sz="2000" dirty="0"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2000" dirty="0"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en-GB" sz="2400" dirty="0"/>
          </a:p>
        </p:txBody>
      </p:sp>
      <p:sp>
        <p:nvSpPr>
          <p:cNvPr id="1751140071" name="Title 3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GB" sz="2800" dirty="0"/>
              <a:t>Mini-Tutorial: D3 – Manipulation </a:t>
            </a:r>
            <a:r>
              <a:rPr lang="en-GB" sz="2800" dirty="0" err="1"/>
              <a:t>mit</a:t>
            </a:r>
            <a:r>
              <a:rPr lang="en-GB" sz="2800" dirty="0"/>
              <a:t> </a:t>
            </a:r>
            <a:r>
              <a:rPr lang="en-GB" sz="2800" dirty="0" err="1"/>
              <a:t>verknüpften</a:t>
            </a:r>
            <a:r>
              <a:rPr lang="en-GB" sz="2800" dirty="0"/>
              <a:t> </a:t>
            </a:r>
            <a:r>
              <a:rPr lang="en-GB" sz="2800" dirty="0" err="1"/>
              <a:t>Daten</a:t>
            </a:r>
            <a:endParaRPr sz="2800" dirty="0"/>
          </a:p>
        </p:txBody>
      </p:sp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6BD5C037-325F-408D-B6F6-F9788B2B38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33FA4B0-7731-EC49-88EA-B5E921ABE78A}" type="slidenum">
              <a:rPr lang="de-DE" smtClean="0"/>
              <a:pPr/>
              <a:t>44</a:t>
            </a:fld>
            <a:endParaRPr lang="de-DE" dirty="0"/>
          </a:p>
        </p:txBody>
      </p:sp>
      <p:pic>
        <p:nvPicPr>
          <p:cNvPr id="7" name="Picture 1781989390">
            <a:extLst>
              <a:ext uri="{FF2B5EF4-FFF2-40B4-BE49-F238E27FC236}">
                <a16:creationId xmlns:a16="http://schemas.microsoft.com/office/drawing/2014/main" id="{51C0D90C-3473-4C1C-A278-076C05E207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1328738" y="1251507"/>
            <a:ext cx="9534523" cy="2114550"/>
          </a:xfrm>
          <a:prstGeom prst="rect">
            <a:avLst/>
          </a:prstGeom>
        </p:spPr>
      </p:pic>
      <p:pic>
        <p:nvPicPr>
          <p:cNvPr id="8" name="Picture 1752215090">
            <a:extLst>
              <a:ext uri="{FF2B5EF4-FFF2-40B4-BE49-F238E27FC236}">
                <a16:creationId xmlns:a16="http://schemas.microsoft.com/office/drawing/2014/main" id="{5F2142E7-61DD-4415-9688-1FB90410CB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6179113" y="4616372"/>
            <a:ext cx="5462025" cy="1476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71968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2482400" name="Content Placeholder 4"/>
          <p:cNvSpPr txBox="1"/>
          <p:nvPr/>
        </p:nvSpPr>
        <p:spPr bwMode="auto">
          <a:xfrm>
            <a:off x="838200" y="639290"/>
            <a:ext cx="10515600" cy="545353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179387" indent="-179387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9249" indent="-168274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2400">
                <a:solidFill>
                  <a:schemeClr val="tx1"/>
                </a:solidFill>
                <a:latin typeface="+mn-lt"/>
              </a:defRPr>
            </a:lvl2pPr>
            <a:lvl3pPr marL="538162" indent="-187324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2400">
                <a:solidFill>
                  <a:schemeClr val="tx1"/>
                </a:solidFill>
                <a:latin typeface="+mn-lt"/>
              </a:defRPr>
            </a:lvl3pPr>
            <a:lvl4pPr marL="717549" indent="-173037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2000">
                <a:solidFill>
                  <a:schemeClr val="tx1"/>
                </a:solidFill>
                <a:latin typeface="+mn-lt"/>
              </a:defRPr>
            </a:lvl4pPr>
            <a:lvl5pPr marL="908049" indent="-188912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1365249" indent="-188912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</a:defRPr>
            </a:lvl6pPr>
            <a:lvl7pPr marL="1822449" indent="-188912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</a:defRPr>
            </a:lvl7pPr>
            <a:lvl8pPr marL="2279649" indent="-188912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</a:defRPr>
            </a:lvl8pPr>
            <a:lvl9pPr marL="2736849" indent="-188912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sz="2000" dirty="0"/>
              <a:t>Was </a:t>
            </a:r>
            <a:r>
              <a:rPr sz="2000" dirty="0" err="1"/>
              <a:t>machen</a:t>
            </a:r>
            <a:r>
              <a:rPr sz="2000" dirty="0"/>
              <a:t> </a:t>
            </a:r>
            <a:r>
              <a:rPr sz="2000" b="1" dirty="0"/>
              <a:t>.data(...)</a:t>
            </a:r>
            <a:r>
              <a:rPr sz="2000" b="0" dirty="0"/>
              <a:t>,</a:t>
            </a:r>
            <a:r>
              <a:rPr sz="2000" dirty="0"/>
              <a:t> .enter(), .merge(...) und .exit() </a:t>
            </a:r>
            <a:r>
              <a:rPr lang="en-US" sz="2000" dirty="0" err="1"/>
              <a:t>eigentlich</a:t>
            </a:r>
            <a:r>
              <a:rPr lang="en-US" sz="2000" dirty="0"/>
              <a:t> </a:t>
            </a:r>
            <a:r>
              <a:rPr lang="en-US" sz="2000" dirty="0" err="1"/>
              <a:t>genau</a:t>
            </a:r>
            <a:r>
              <a:rPr sz="2000" dirty="0"/>
              <a:t>?</a:t>
            </a:r>
            <a:endParaRPr lang="de-DE" sz="2000" dirty="0"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de-DE" sz="2000" dirty="0"/>
          </a:p>
          <a:p>
            <a:pPr marL="0" indent="0">
              <a:buNone/>
              <a:defRPr/>
            </a:pPr>
            <a:r>
              <a:rPr lang="de-DE" sz="2000" dirty="0"/>
              <a:t>Was passiert, wenn die Auswahl kleiner oder größer ist als die Anzahl an verknüpften Datenpunkten?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de-DE" sz="2000" dirty="0"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de-DE" sz="2000" dirty="0"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de-DE" sz="2000" dirty="0"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de-DE" sz="2000" dirty="0"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de-DE" sz="2000" dirty="0"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de-DE" sz="2000" dirty="0"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de-DE" sz="2000" dirty="0"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de-DE" sz="2000" dirty="0"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de-DE" sz="2000" dirty="0"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2000" dirty="0"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en-GB" sz="2400" dirty="0"/>
          </a:p>
        </p:txBody>
      </p:sp>
      <p:sp>
        <p:nvSpPr>
          <p:cNvPr id="1751140071" name="Title 3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GB" sz="2800" dirty="0"/>
              <a:t>Mini-Tutorial: D3 – Manipulation </a:t>
            </a:r>
            <a:r>
              <a:rPr lang="en-GB" sz="2800" dirty="0" err="1"/>
              <a:t>mit</a:t>
            </a:r>
            <a:r>
              <a:rPr lang="en-GB" sz="2800" dirty="0"/>
              <a:t> </a:t>
            </a:r>
            <a:r>
              <a:rPr lang="en-GB" sz="2800" dirty="0" err="1"/>
              <a:t>verknüpften</a:t>
            </a:r>
            <a:r>
              <a:rPr lang="en-GB" sz="2800" dirty="0"/>
              <a:t> </a:t>
            </a:r>
            <a:r>
              <a:rPr lang="en-GB" sz="2800" dirty="0" err="1"/>
              <a:t>Daten</a:t>
            </a:r>
            <a:endParaRPr sz="2800" dirty="0"/>
          </a:p>
        </p:txBody>
      </p:sp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6BD5C037-325F-408D-B6F6-F9788B2B38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33FA4B0-7731-EC49-88EA-B5E921ABE78A}" type="slidenum">
              <a:rPr lang="de-DE" smtClean="0"/>
              <a:pPr/>
              <a:t>45</a:t>
            </a:fld>
            <a:endParaRPr lang="de-DE" dirty="0"/>
          </a:p>
        </p:txBody>
      </p:sp>
      <p:pic>
        <p:nvPicPr>
          <p:cNvPr id="9" name="Picture 221897283">
            <a:extLst>
              <a:ext uri="{FF2B5EF4-FFF2-40B4-BE49-F238E27FC236}">
                <a16:creationId xmlns:a16="http://schemas.microsoft.com/office/drawing/2014/main" id="{3A3FC78F-8200-4F79-95AF-85211F2BB7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1830543" y="1914411"/>
            <a:ext cx="8530914" cy="1856027"/>
          </a:xfrm>
          <a:prstGeom prst="rect">
            <a:avLst/>
          </a:prstGeom>
        </p:spPr>
      </p:pic>
      <p:pic>
        <p:nvPicPr>
          <p:cNvPr id="10" name="Picture 1636585958">
            <a:extLst>
              <a:ext uri="{FF2B5EF4-FFF2-40B4-BE49-F238E27FC236}">
                <a16:creationId xmlns:a16="http://schemas.microsoft.com/office/drawing/2014/main" id="{81FACBCD-596D-43F6-8E73-46051B758D7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7769"/>
          <a:stretch/>
        </p:blipFill>
        <p:spPr bwMode="auto">
          <a:xfrm>
            <a:off x="1830543" y="4188987"/>
            <a:ext cx="8530914" cy="2029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73459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2482400" name="Content Placeholder 4"/>
          <p:cNvSpPr txBox="1"/>
          <p:nvPr/>
        </p:nvSpPr>
        <p:spPr bwMode="auto">
          <a:xfrm>
            <a:off x="838200" y="639290"/>
            <a:ext cx="10515600" cy="545353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179387" indent="-179387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9249" indent="-168274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2400">
                <a:solidFill>
                  <a:schemeClr val="tx1"/>
                </a:solidFill>
                <a:latin typeface="+mn-lt"/>
              </a:defRPr>
            </a:lvl2pPr>
            <a:lvl3pPr marL="538162" indent="-187324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2400">
                <a:solidFill>
                  <a:schemeClr val="tx1"/>
                </a:solidFill>
                <a:latin typeface="+mn-lt"/>
              </a:defRPr>
            </a:lvl3pPr>
            <a:lvl4pPr marL="717549" indent="-173037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2000">
                <a:solidFill>
                  <a:schemeClr val="tx1"/>
                </a:solidFill>
                <a:latin typeface="+mn-lt"/>
              </a:defRPr>
            </a:lvl4pPr>
            <a:lvl5pPr marL="908049" indent="-188912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1365249" indent="-188912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</a:defRPr>
            </a:lvl6pPr>
            <a:lvl7pPr marL="1822449" indent="-188912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</a:defRPr>
            </a:lvl7pPr>
            <a:lvl8pPr marL="2279649" indent="-188912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</a:defRPr>
            </a:lvl8pPr>
            <a:lvl9pPr marL="2736849" indent="-188912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sz="2000" dirty="0"/>
              <a:t>Was </a:t>
            </a:r>
            <a:r>
              <a:rPr sz="2000" dirty="0" err="1"/>
              <a:t>machen</a:t>
            </a:r>
            <a:r>
              <a:rPr sz="2000" dirty="0"/>
              <a:t> </a:t>
            </a:r>
            <a:r>
              <a:rPr sz="2000" b="1" dirty="0"/>
              <a:t>.data(...)</a:t>
            </a:r>
            <a:r>
              <a:rPr sz="2000" b="0" dirty="0"/>
              <a:t>,</a:t>
            </a:r>
            <a:r>
              <a:rPr sz="2000" dirty="0"/>
              <a:t> .enter(), .merge(...) und .exit() </a:t>
            </a:r>
            <a:r>
              <a:rPr lang="en-US" sz="2000" dirty="0" err="1"/>
              <a:t>eigentlich</a:t>
            </a:r>
            <a:r>
              <a:rPr lang="en-US" sz="2000" dirty="0"/>
              <a:t> </a:t>
            </a:r>
            <a:r>
              <a:rPr lang="en-US" sz="2000" dirty="0" err="1"/>
              <a:t>genau</a:t>
            </a:r>
            <a:r>
              <a:rPr sz="2000" dirty="0"/>
              <a:t>?</a:t>
            </a:r>
            <a:endParaRPr lang="de-DE" sz="2000" dirty="0"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de-DE" sz="2000" dirty="0"/>
          </a:p>
          <a:p>
            <a:pPr marL="0" indent="0">
              <a:buNone/>
              <a:defRPr/>
            </a:pPr>
            <a:r>
              <a:rPr lang="de-DE" sz="2000" dirty="0"/>
              <a:t>Was passiert, wenn die Auswahl kleiner oder größer ist als die Anzahl an verknüpften Datenpunkten?</a:t>
            </a:r>
          </a:p>
          <a:p>
            <a:pPr marL="0" indent="0">
              <a:buNone/>
              <a:defRPr/>
            </a:pPr>
            <a:r>
              <a:rPr lang="de-DE" sz="2000" dirty="0"/>
              <a:t>Auswahl ist kleiner:</a:t>
            </a:r>
          </a:p>
          <a:p>
            <a:pPr marL="0" indent="0">
              <a:buNone/>
              <a:defRPr/>
            </a:pPr>
            <a:endParaRPr lang="de-DE" sz="2000" dirty="0"/>
          </a:p>
          <a:p>
            <a:pPr marL="0" indent="0">
              <a:buNone/>
              <a:defRPr/>
            </a:pPr>
            <a:endParaRPr lang="de-DE" sz="2000" dirty="0"/>
          </a:p>
          <a:p>
            <a:pPr marL="0" indent="0">
              <a:buNone/>
              <a:defRPr/>
            </a:pPr>
            <a:endParaRPr lang="de-DE" sz="2000" dirty="0"/>
          </a:p>
          <a:p>
            <a:pPr marL="0" indent="0">
              <a:buNone/>
              <a:defRPr/>
            </a:pPr>
            <a:endParaRPr lang="de-DE" sz="2000" dirty="0"/>
          </a:p>
          <a:p>
            <a:pPr marL="0" indent="0">
              <a:buNone/>
              <a:defRPr/>
            </a:pPr>
            <a:endParaRPr lang="de-DE" sz="2000" dirty="0"/>
          </a:p>
          <a:p>
            <a:pPr marL="0" indent="0">
              <a:buNone/>
              <a:defRPr/>
            </a:pPr>
            <a:endParaRPr lang="de-DE" sz="2000" dirty="0"/>
          </a:p>
          <a:p>
            <a:pPr marL="0" indent="0">
              <a:buNone/>
              <a:defRPr/>
            </a:pPr>
            <a:endParaRPr lang="de-DE" sz="2000" dirty="0"/>
          </a:p>
          <a:p>
            <a:pPr>
              <a:buFont typeface="Arial" panose="020B0604020202020204" pitchFamily="34" charset="0"/>
              <a:buChar char="•"/>
              <a:defRPr/>
            </a:pPr>
            <a:r>
              <a:rPr lang="de-DE" sz="2000" dirty="0"/>
              <a:t>Die mit Daten verknüpften Elemente werden manipuliert (hier 2 Elemente)</a:t>
            </a:r>
          </a:p>
          <a:p>
            <a:pPr>
              <a:buFont typeface="Arial" panose="020B0604020202020204" pitchFamily="34" charset="0"/>
              <a:buChar char="•"/>
              <a:defRPr/>
            </a:pPr>
            <a:r>
              <a:rPr lang="de-DE" sz="2000" dirty="0"/>
              <a:t>Datenpunkte, die mit keinem Element verknüpft sind, werden ignoriert</a:t>
            </a:r>
          </a:p>
          <a:p>
            <a:pPr marL="0" indent="0">
              <a:buNone/>
              <a:defRPr/>
            </a:pPr>
            <a:endParaRPr lang="de-DE" sz="2000" dirty="0"/>
          </a:p>
          <a:p>
            <a:pPr marL="0" indent="0">
              <a:buNone/>
              <a:defRPr/>
            </a:pPr>
            <a:r>
              <a:rPr lang="de-DE" sz="2000" dirty="0">
                <a:sym typeface="Wingdings" panose="05000000000000000000" pitchFamily="2" charset="2"/>
              </a:rPr>
              <a:t> </a:t>
            </a:r>
            <a:r>
              <a:rPr lang="de-DE" sz="2000" dirty="0"/>
              <a:t>Dieses Problem kann mit .</a:t>
            </a:r>
            <a:r>
              <a:rPr lang="de-DE" sz="2000" dirty="0" err="1"/>
              <a:t>enter</a:t>
            </a:r>
            <a:r>
              <a:rPr lang="de-DE" sz="2000" dirty="0"/>
              <a:t>() und .</a:t>
            </a:r>
            <a:r>
              <a:rPr lang="de-DE" sz="2000" dirty="0" err="1"/>
              <a:t>merge</a:t>
            </a:r>
            <a:r>
              <a:rPr lang="de-DE" sz="2000" dirty="0"/>
              <a:t>(...) gelöst werden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de-DE" sz="2000" dirty="0"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de-DE" sz="2000" dirty="0"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de-DE" sz="2000" dirty="0"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de-DE" sz="2000" dirty="0"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de-DE" sz="2000" dirty="0"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de-DE" sz="2000" dirty="0"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de-DE" sz="2000" dirty="0"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de-DE" sz="2000" dirty="0"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2000" dirty="0"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en-GB" sz="2400" dirty="0"/>
          </a:p>
        </p:txBody>
      </p:sp>
      <p:sp>
        <p:nvSpPr>
          <p:cNvPr id="1751140071" name="Title 3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GB" sz="2800" dirty="0"/>
              <a:t>Mini-Tutorial: D3 – Manipulation </a:t>
            </a:r>
            <a:r>
              <a:rPr lang="en-GB" sz="2800" dirty="0" err="1"/>
              <a:t>mit</a:t>
            </a:r>
            <a:r>
              <a:rPr lang="en-GB" sz="2800" dirty="0"/>
              <a:t> </a:t>
            </a:r>
            <a:r>
              <a:rPr lang="en-GB" sz="2800" dirty="0" err="1"/>
              <a:t>verknüpften</a:t>
            </a:r>
            <a:r>
              <a:rPr lang="en-GB" sz="2800" dirty="0"/>
              <a:t> </a:t>
            </a:r>
            <a:r>
              <a:rPr lang="en-GB" sz="2800" dirty="0" err="1"/>
              <a:t>Daten</a:t>
            </a:r>
            <a:endParaRPr sz="2800" dirty="0"/>
          </a:p>
        </p:txBody>
      </p:sp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6BD5C037-325F-408D-B6F6-F9788B2B38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33FA4B0-7731-EC49-88EA-B5E921ABE78A}" type="slidenum">
              <a:rPr lang="de-DE" smtClean="0"/>
              <a:pPr/>
              <a:t>46</a:t>
            </a:fld>
            <a:endParaRPr lang="de-DE" dirty="0"/>
          </a:p>
        </p:txBody>
      </p:sp>
      <p:pic>
        <p:nvPicPr>
          <p:cNvPr id="7" name="Picture 1760237473">
            <a:extLst>
              <a:ext uri="{FF2B5EF4-FFF2-40B4-BE49-F238E27FC236}">
                <a16:creationId xmlns:a16="http://schemas.microsoft.com/office/drawing/2014/main" id="{FA74C287-79EF-43E3-B0D6-743572D3DD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1323975" y="2261844"/>
            <a:ext cx="9544050" cy="2076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391262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2482400" name="Content Placeholder 4"/>
          <p:cNvSpPr txBox="1"/>
          <p:nvPr/>
        </p:nvSpPr>
        <p:spPr bwMode="auto">
          <a:xfrm>
            <a:off x="838200" y="639290"/>
            <a:ext cx="10515600" cy="545353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179387" indent="-179387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9249" indent="-168274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2400">
                <a:solidFill>
                  <a:schemeClr val="tx1"/>
                </a:solidFill>
                <a:latin typeface="+mn-lt"/>
              </a:defRPr>
            </a:lvl2pPr>
            <a:lvl3pPr marL="538162" indent="-187324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2400">
                <a:solidFill>
                  <a:schemeClr val="tx1"/>
                </a:solidFill>
                <a:latin typeface="+mn-lt"/>
              </a:defRPr>
            </a:lvl3pPr>
            <a:lvl4pPr marL="717549" indent="-173037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2000">
                <a:solidFill>
                  <a:schemeClr val="tx1"/>
                </a:solidFill>
                <a:latin typeface="+mn-lt"/>
              </a:defRPr>
            </a:lvl4pPr>
            <a:lvl5pPr marL="908049" indent="-188912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1365249" indent="-188912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</a:defRPr>
            </a:lvl6pPr>
            <a:lvl7pPr marL="1822449" indent="-188912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</a:defRPr>
            </a:lvl7pPr>
            <a:lvl8pPr marL="2279649" indent="-188912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</a:defRPr>
            </a:lvl8pPr>
            <a:lvl9pPr marL="2736849" indent="-188912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sz="2000" dirty="0"/>
              <a:t>Was </a:t>
            </a:r>
            <a:r>
              <a:rPr sz="2000" dirty="0" err="1"/>
              <a:t>machen</a:t>
            </a:r>
            <a:r>
              <a:rPr sz="2000" dirty="0"/>
              <a:t> .data(...), </a:t>
            </a:r>
            <a:r>
              <a:rPr sz="2000" b="1" dirty="0"/>
              <a:t>.enter()</a:t>
            </a:r>
            <a:r>
              <a:rPr sz="2000" dirty="0"/>
              <a:t>, .merge(...) und .exit() </a:t>
            </a:r>
            <a:r>
              <a:rPr lang="en-US" sz="2000" dirty="0" err="1"/>
              <a:t>eigentlich</a:t>
            </a:r>
            <a:r>
              <a:rPr lang="en-US" sz="2000" dirty="0"/>
              <a:t> </a:t>
            </a:r>
            <a:r>
              <a:rPr lang="en-US" sz="2000" dirty="0" err="1"/>
              <a:t>genau</a:t>
            </a:r>
            <a:r>
              <a:rPr sz="2000" dirty="0"/>
              <a:t>?</a:t>
            </a:r>
            <a:endParaRPr lang="de-DE" sz="2000" dirty="0"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de-DE" sz="2000" dirty="0"/>
          </a:p>
          <a:p>
            <a:pPr marL="0" indent="0">
              <a:buNone/>
              <a:defRPr/>
            </a:pPr>
            <a:r>
              <a:rPr lang="de-DE" sz="2000" dirty="0" err="1"/>
              <a:t>selection.enter</a:t>
            </a:r>
            <a:r>
              <a:rPr lang="de-DE" sz="2000" dirty="0"/>
              <a:t>():</a:t>
            </a:r>
            <a:br>
              <a:rPr lang="de-DE" sz="2000" dirty="0"/>
            </a:br>
            <a:r>
              <a:rPr lang="de-DE" sz="2000" dirty="0"/>
              <a:t>“für jeden Datenpunkt ohne Verknüpfung zu einem Element, mach das folgende...”</a:t>
            </a:r>
          </a:p>
          <a:p>
            <a:pPr marL="0" indent="0">
              <a:buNone/>
              <a:defRPr/>
            </a:pPr>
            <a:r>
              <a:rPr lang="de-DE" sz="2000" dirty="0"/>
              <a:t>Füge neues </a:t>
            </a:r>
            <a:r>
              <a:rPr lang="de-DE" sz="2000" dirty="0" err="1"/>
              <a:t>rect</a:t>
            </a:r>
            <a:r>
              <a:rPr lang="de-DE" sz="2000" dirty="0"/>
              <a:t> mit Klassennamen “bar” hinzu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de-DE" sz="2000" dirty="0"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de-DE" sz="2000" dirty="0"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de-DE" sz="2000" dirty="0"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de-DE" sz="2000" dirty="0"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de-DE" sz="2000" dirty="0"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de-DE" sz="2000" dirty="0"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de-DE" sz="2000" dirty="0"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de-DE" sz="2000" dirty="0"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de-DE" sz="2000" dirty="0"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2000" dirty="0"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en-GB" sz="2400" dirty="0"/>
          </a:p>
        </p:txBody>
      </p:sp>
      <p:sp>
        <p:nvSpPr>
          <p:cNvPr id="1751140071" name="Title 3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GB" sz="2800" dirty="0"/>
              <a:t>Mini-Tutorial: D3 – Manipulation </a:t>
            </a:r>
            <a:r>
              <a:rPr lang="en-GB" sz="2800" dirty="0" err="1"/>
              <a:t>mit</a:t>
            </a:r>
            <a:r>
              <a:rPr lang="en-GB" sz="2800" dirty="0"/>
              <a:t> </a:t>
            </a:r>
            <a:r>
              <a:rPr lang="en-GB" sz="2800" dirty="0" err="1"/>
              <a:t>verknüpften</a:t>
            </a:r>
            <a:r>
              <a:rPr lang="en-GB" sz="2800" dirty="0"/>
              <a:t> </a:t>
            </a:r>
            <a:r>
              <a:rPr lang="en-GB" sz="2800" dirty="0" err="1"/>
              <a:t>Daten</a:t>
            </a:r>
            <a:endParaRPr sz="2800" dirty="0"/>
          </a:p>
        </p:txBody>
      </p:sp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6BD5C037-325F-408D-B6F6-F9788B2B38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33FA4B0-7731-EC49-88EA-B5E921ABE78A}" type="slidenum">
              <a:rPr lang="de-DE" smtClean="0"/>
              <a:pPr/>
              <a:t>47</a:t>
            </a:fld>
            <a:endParaRPr lang="de-DE" dirty="0"/>
          </a:p>
        </p:txBody>
      </p:sp>
      <p:pic>
        <p:nvPicPr>
          <p:cNvPr id="6" name="Picture 1036558273">
            <a:extLst>
              <a:ext uri="{FF2B5EF4-FFF2-40B4-BE49-F238E27FC236}">
                <a16:creationId xmlns:a16="http://schemas.microsoft.com/office/drawing/2014/main" id="{876E900E-7F20-46D6-8325-CE8F3A798C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1309687" y="3429000"/>
            <a:ext cx="9572625" cy="1981199"/>
          </a:xfrm>
          <a:prstGeom prst="rect">
            <a:avLst/>
          </a:prstGeom>
        </p:spPr>
      </p:pic>
      <p:pic>
        <p:nvPicPr>
          <p:cNvPr id="8" name="Picture 1609268737">
            <a:extLst>
              <a:ext uri="{FF2B5EF4-FFF2-40B4-BE49-F238E27FC236}">
                <a16:creationId xmlns:a16="http://schemas.microsoft.com/office/drawing/2014/main" id="{330826B7-24A0-4B8F-B353-7F78935CEF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6553197" y="1942215"/>
            <a:ext cx="3095624" cy="904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312244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2482400" name="Content Placeholder 4"/>
          <p:cNvSpPr txBox="1"/>
          <p:nvPr/>
        </p:nvSpPr>
        <p:spPr bwMode="auto">
          <a:xfrm>
            <a:off x="838200" y="639290"/>
            <a:ext cx="10515600" cy="545353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179387" indent="-179387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9249" indent="-168274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2400">
                <a:solidFill>
                  <a:schemeClr val="tx1"/>
                </a:solidFill>
                <a:latin typeface="+mn-lt"/>
              </a:defRPr>
            </a:lvl2pPr>
            <a:lvl3pPr marL="538162" indent="-187324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2400">
                <a:solidFill>
                  <a:schemeClr val="tx1"/>
                </a:solidFill>
                <a:latin typeface="+mn-lt"/>
              </a:defRPr>
            </a:lvl3pPr>
            <a:lvl4pPr marL="717549" indent="-173037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2000">
                <a:solidFill>
                  <a:schemeClr val="tx1"/>
                </a:solidFill>
                <a:latin typeface="+mn-lt"/>
              </a:defRPr>
            </a:lvl4pPr>
            <a:lvl5pPr marL="908049" indent="-188912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1365249" indent="-188912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</a:defRPr>
            </a:lvl6pPr>
            <a:lvl7pPr marL="1822449" indent="-188912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</a:defRPr>
            </a:lvl7pPr>
            <a:lvl8pPr marL="2279649" indent="-188912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</a:defRPr>
            </a:lvl8pPr>
            <a:lvl9pPr marL="2736849" indent="-188912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sz="2000" dirty="0"/>
              <a:t>Was </a:t>
            </a:r>
            <a:r>
              <a:rPr sz="2000" dirty="0" err="1"/>
              <a:t>machen</a:t>
            </a:r>
            <a:r>
              <a:rPr sz="2000" dirty="0"/>
              <a:t> .data(...), .enter(), </a:t>
            </a:r>
            <a:r>
              <a:rPr sz="2000" b="1" dirty="0"/>
              <a:t>.merge(...) </a:t>
            </a:r>
            <a:r>
              <a:rPr sz="2000" dirty="0"/>
              <a:t>und .exit() </a:t>
            </a:r>
            <a:r>
              <a:rPr lang="en-US" sz="2000" dirty="0" err="1"/>
              <a:t>eigentlich</a:t>
            </a:r>
            <a:r>
              <a:rPr lang="en-US" sz="2000" dirty="0"/>
              <a:t> </a:t>
            </a:r>
            <a:r>
              <a:rPr lang="en-US" sz="2000" dirty="0" err="1"/>
              <a:t>genau</a:t>
            </a:r>
            <a:r>
              <a:rPr sz="2000" dirty="0"/>
              <a:t>?</a:t>
            </a:r>
            <a:endParaRPr lang="de-DE" sz="2000" dirty="0"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de-DE" sz="2000" dirty="0"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de-DE" sz="2000" dirty="0"/>
          </a:p>
          <a:p>
            <a:pPr marL="0" indent="0">
              <a:buNone/>
              <a:defRPr/>
            </a:pPr>
            <a:r>
              <a:rPr lang="de-DE" sz="2000" dirty="0"/>
              <a:t>Auswahl selbst enthält diese neuen Elemente noch nicht nach dem .</a:t>
            </a:r>
            <a:r>
              <a:rPr lang="de-DE" sz="2000" dirty="0" err="1"/>
              <a:t>enter</a:t>
            </a:r>
            <a:r>
              <a:rPr lang="de-DE" sz="2000" dirty="0"/>
              <a:t>()</a:t>
            </a:r>
            <a:br>
              <a:rPr lang="de-DE" sz="2000" dirty="0"/>
            </a:br>
            <a:r>
              <a:rPr lang="de-DE" sz="2000" dirty="0">
                <a:sym typeface="Wingdings" panose="05000000000000000000" pitchFamily="2" charset="2"/>
              </a:rPr>
              <a:t> </a:t>
            </a:r>
            <a:r>
              <a:rPr lang="de-DE" sz="2000" dirty="0"/>
              <a:t>Diese müssen in die vorherige Auswahl mit .</a:t>
            </a:r>
            <a:r>
              <a:rPr lang="de-DE" sz="2000" dirty="0" err="1"/>
              <a:t>merge</a:t>
            </a:r>
            <a:r>
              <a:rPr lang="de-DE" sz="2000" dirty="0"/>
              <a:t>(...) vereint werden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de-DE" sz="2000" dirty="0"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de-DE" sz="2000" dirty="0"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de-DE" sz="2000" dirty="0"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de-DE" sz="2000" dirty="0"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de-DE" sz="2000" dirty="0"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de-DE" sz="2000" dirty="0"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2000" dirty="0"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en-GB" sz="2400" dirty="0"/>
          </a:p>
        </p:txBody>
      </p:sp>
      <p:sp>
        <p:nvSpPr>
          <p:cNvPr id="1751140071" name="Title 3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GB" sz="2800" dirty="0"/>
              <a:t>Mini-Tutorial: D3 – Manipulation </a:t>
            </a:r>
            <a:r>
              <a:rPr lang="en-GB" sz="2800" dirty="0" err="1"/>
              <a:t>mit</a:t>
            </a:r>
            <a:r>
              <a:rPr lang="en-GB" sz="2800" dirty="0"/>
              <a:t> </a:t>
            </a:r>
            <a:r>
              <a:rPr lang="en-GB" sz="2800" dirty="0" err="1"/>
              <a:t>verknüpften</a:t>
            </a:r>
            <a:r>
              <a:rPr lang="en-GB" sz="2800" dirty="0"/>
              <a:t> </a:t>
            </a:r>
            <a:r>
              <a:rPr lang="en-GB" sz="2800" dirty="0" err="1"/>
              <a:t>Daten</a:t>
            </a:r>
            <a:endParaRPr sz="2800" dirty="0"/>
          </a:p>
        </p:txBody>
      </p:sp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6BD5C037-325F-408D-B6F6-F9788B2B38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33FA4B0-7731-EC49-88EA-B5E921ABE78A}" type="slidenum">
              <a:rPr lang="de-DE" smtClean="0"/>
              <a:pPr/>
              <a:t>48</a:t>
            </a:fld>
            <a:endParaRPr lang="de-DE" dirty="0"/>
          </a:p>
        </p:txBody>
      </p:sp>
      <p:pic>
        <p:nvPicPr>
          <p:cNvPr id="7" name="Picture 821227488">
            <a:extLst>
              <a:ext uri="{FF2B5EF4-FFF2-40B4-BE49-F238E27FC236}">
                <a16:creationId xmlns:a16="http://schemas.microsoft.com/office/drawing/2014/main" id="{08D611CB-85B8-484D-8BD6-35C857EE64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4206098" y="2398105"/>
            <a:ext cx="7435040" cy="1538794"/>
          </a:xfrm>
          <a:prstGeom prst="rect">
            <a:avLst/>
          </a:prstGeom>
        </p:spPr>
      </p:pic>
      <p:pic>
        <p:nvPicPr>
          <p:cNvPr id="9" name="Picture 796071844">
            <a:extLst>
              <a:ext uri="{FF2B5EF4-FFF2-40B4-BE49-F238E27FC236}">
                <a16:creationId xmlns:a16="http://schemas.microsoft.com/office/drawing/2014/main" id="{36507986-ABBB-4A14-97D3-7DD4D01C0F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485808" y="3586602"/>
            <a:ext cx="2600325" cy="1152524"/>
          </a:xfrm>
          <a:prstGeom prst="rect">
            <a:avLst/>
          </a:prstGeom>
        </p:spPr>
      </p:pic>
      <p:pic>
        <p:nvPicPr>
          <p:cNvPr id="10" name="Picture 867679034">
            <a:extLst>
              <a:ext uri="{FF2B5EF4-FFF2-40B4-BE49-F238E27FC236}">
                <a16:creationId xmlns:a16="http://schemas.microsoft.com/office/drawing/2014/main" id="{C4F15181-147D-482E-80B2-819E93F1D6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4274975" y="4308148"/>
            <a:ext cx="7182986" cy="1593030"/>
          </a:xfrm>
          <a:prstGeom prst="rect">
            <a:avLst/>
          </a:prstGeom>
        </p:spPr>
      </p:pic>
      <p:cxnSp>
        <p:nvCxnSpPr>
          <p:cNvPr id="11" name="Connector: Curved 1">
            <a:extLst>
              <a:ext uri="{FF2B5EF4-FFF2-40B4-BE49-F238E27FC236}">
                <a16:creationId xmlns:a16="http://schemas.microsoft.com/office/drawing/2014/main" id="{8FBC38D2-F5B7-4F48-B5FD-D04B16267E87}"/>
              </a:ext>
            </a:extLst>
          </p:cNvPr>
          <p:cNvCxnSpPr>
            <a:cxnSpLocks/>
          </p:cNvCxnSpPr>
          <p:nvPr/>
        </p:nvCxnSpPr>
        <p:spPr bwMode="auto">
          <a:xfrm>
            <a:off x="4153711" y="3415154"/>
            <a:ext cx="104774" cy="1600199"/>
          </a:xfrm>
          <a:prstGeom prst="curvedConnector3">
            <a:avLst>
              <a:gd name="adj1" fmla="val -937500"/>
            </a:avLst>
          </a:prstGeom>
          <a:ln w="76199" cap="flat" cmpd="sng" algn="ctr">
            <a:solidFill>
              <a:schemeClr val="tx1"/>
            </a:solidFill>
            <a:prstDash val="solid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663868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2482400" name="Content Placeholder 4"/>
          <p:cNvSpPr txBox="1"/>
          <p:nvPr/>
        </p:nvSpPr>
        <p:spPr bwMode="auto">
          <a:xfrm>
            <a:off x="838200" y="639290"/>
            <a:ext cx="10515600" cy="545353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179387" indent="-179387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9249" indent="-168274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2400">
                <a:solidFill>
                  <a:schemeClr val="tx1"/>
                </a:solidFill>
                <a:latin typeface="+mn-lt"/>
              </a:defRPr>
            </a:lvl2pPr>
            <a:lvl3pPr marL="538162" indent="-187324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2400">
                <a:solidFill>
                  <a:schemeClr val="tx1"/>
                </a:solidFill>
                <a:latin typeface="+mn-lt"/>
              </a:defRPr>
            </a:lvl3pPr>
            <a:lvl4pPr marL="717549" indent="-173037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2000">
                <a:solidFill>
                  <a:schemeClr val="tx1"/>
                </a:solidFill>
                <a:latin typeface="+mn-lt"/>
              </a:defRPr>
            </a:lvl4pPr>
            <a:lvl5pPr marL="908049" indent="-188912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1365249" indent="-188912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</a:defRPr>
            </a:lvl6pPr>
            <a:lvl7pPr marL="1822449" indent="-188912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</a:defRPr>
            </a:lvl7pPr>
            <a:lvl8pPr marL="2279649" indent="-188912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</a:defRPr>
            </a:lvl8pPr>
            <a:lvl9pPr marL="2736849" indent="-188912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sz="2000" dirty="0"/>
              <a:t>Was </a:t>
            </a:r>
            <a:r>
              <a:rPr sz="2000" dirty="0" err="1"/>
              <a:t>machen</a:t>
            </a:r>
            <a:r>
              <a:rPr sz="2000" dirty="0"/>
              <a:t> </a:t>
            </a:r>
            <a:r>
              <a:rPr sz="2000" b="1" dirty="0"/>
              <a:t>.data(...)</a:t>
            </a:r>
            <a:r>
              <a:rPr sz="2000" dirty="0"/>
              <a:t>, .enter(), .merge(...) und .exit() </a:t>
            </a:r>
            <a:r>
              <a:rPr lang="en-US" sz="2000" dirty="0" err="1"/>
              <a:t>eigentlich</a:t>
            </a:r>
            <a:r>
              <a:rPr lang="en-US" sz="2000" dirty="0"/>
              <a:t> </a:t>
            </a:r>
            <a:r>
              <a:rPr lang="en-US" sz="2000" dirty="0" err="1"/>
              <a:t>genau</a:t>
            </a:r>
            <a:r>
              <a:rPr sz="2000" dirty="0"/>
              <a:t>?</a:t>
            </a:r>
            <a:endParaRPr lang="de-DE" sz="2000" dirty="0"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de-DE" sz="2000" dirty="0"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de-DE" sz="2000" dirty="0"/>
          </a:p>
          <a:p>
            <a:pPr marL="0" indent="0">
              <a:buNone/>
              <a:defRPr/>
            </a:pPr>
            <a:r>
              <a:rPr lang="de-DE" sz="2000" dirty="0"/>
              <a:t>Was passiert, wenn die Auswahl kleiner oder größer ist als die Anzahl an verknüpften Datenpunkten?</a:t>
            </a:r>
          </a:p>
          <a:p>
            <a:pPr marL="0" indent="0">
              <a:buNone/>
              <a:defRPr/>
            </a:pPr>
            <a:r>
              <a:rPr lang="de-DE" sz="2000" dirty="0"/>
              <a:t>Auswahl ist größer:</a:t>
            </a:r>
          </a:p>
          <a:p>
            <a:pPr marL="0" indent="0">
              <a:buNone/>
              <a:defRPr/>
            </a:pPr>
            <a:endParaRPr lang="de-DE" sz="2000" dirty="0"/>
          </a:p>
          <a:p>
            <a:pPr marL="0" indent="0">
              <a:buNone/>
              <a:defRPr/>
            </a:pPr>
            <a:endParaRPr lang="de-DE" sz="2000" dirty="0"/>
          </a:p>
          <a:p>
            <a:pPr marL="0" indent="0">
              <a:buNone/>
              <a:defRPr/>
            </a:pPr>
            <a:endParaRPr lang="de-DE" sz="2000" dirty="0"/>
          </a:p>
          <a:p>
            <a:pPr marL="0" indent="0">
              <a:buNone/>
              <a:defRPr/>
            </a:pPr>
            <a:endParaRPr lang="de-DE" sz="2000" dirty="0"/>
          </a:p>
          <a:p>
            <a:pPr marL="0" indent="0">
              <a:buNone/>
              <a:defRPr/>
            </a:pPr>
            <a:endParaRPr lang="de-DE" sz="2000" dirty="0"/>
          </a:p>
          <a:p>
            <a:pPr marL="0" indent="0">
              <a:buNone/>
              <a:defRPr/>
            </a:pPr>
            <a:endParaRPr lang="de-DE" sz="2000" dirty="0"/>
          </a:p>
          <a:p>
            <a:pPr marL="0" indent="0">
              <a:buNone/>
              <a:defRPr/>
            </a:pPr>
            <a:endParaRPr lang="de-DE" sz="2000" dirty="0"/>
          </a:p>
          <a:p>
            <a:pPr>
              <a:buFont typeface="Arial" panose="020B0604020202020204" pitchFamily="34" charset="0"/>
              <a:buChar char="•"/>
              <a:defRPr/>
            </a:pPr>
            <a:r>
              <a:rPr lang="de-DE" sz="2000" dirty="0"/>
              <a:t>Nur mit zu den Daten verknüpften Elemente werden manipuliert!</a:t>
            </a:r>
          </a:p>
          <a:p>
            <a:pPr>
              <a:buFont typeface="Arial" panose="020B0604020202020204" pitchFamily="34" charset="0"/>
              <a:buChar char="•"/>
              <a:defRPr/>
            </a:pPr>
            <a:r>
              <a:rPr lang="de-DE" sz="2000" dirty="0"/>
              <a:t>Die übrigen Elemente der Auswahl bleiben wie sie sind</a:t>
            </a:r>
          </a:p>
          <a:p>
            <a:pPr marL="0" indent="0">
              <a:buNone/>
              <a:defRPr/>
            </a:pPr>
            <a:endParaRPr lang="de-DE" sz="2000" dirty="0"/>
          </a:p>
          <a:p>
            <a:pPr marL="0" indent="0">
              <a:buNone/>
              <a:defRPr/>
            </a:pPr>
            <a:r>
              <a:rPr lang="de-DE" sz="2000" dirty="0">
                <a:sym typeface="Wingdings" panose="05000000000000000000" pitchFamily="2" charset="2"/>
              </a:rPr>
              <a:t> </a:t>
            </a:r>
            <a:r>
              <a:rPr lang="de-DE" sz="2000" dirty="0"/>
              <a:t>Dieses Problem kann mit .</a:t>
            </a:r>
            <a:r>
              <a:rPr lang="de-DE" sz="2000" dirty="0" err="1"/>
              <a:t>exit</a:t>
            </a:r>
            <a:r>
              <a:rPr lang="de-DE" sz="2000" dirty="0"/>
              <a:t>() gelöst werden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de-DE" sz="2000" dirty="0"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de-DE" sz="2000" dirty="0"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2000" dirty="0"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en-GB" sz="2400" dirty="0"/>
          </a:p>
        </p:txBody>
      </p:sp>
      <p:sp>
        <p:nvSpPr>
          <p:cNvPr id="1751140071" name="Title 3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GB" sz="2800" dirty="0"/>
              <a:t>Mini-Tutorial: D3 – Manipulation </a:t>
            </a:r>
            <a:r>
              <a:rPr lang="en-GB" sz="2800" dirty="0" err="1"/>
              <a:t>mit</a:t>
            </a:r>
            <a:r>
              <a:rPr lang="en-GB" sz="2800" dirty="0"/>
              <a:t> </a:t>
            </a:r>
            <a:r>
              <a:rPr lang="en-GB" sz="2800" dirty="0" err="1"/>
              <a:t>verknüpften</a:t>
            </a:r>
            <a:r>
              <a:rPr lang="en-GB" sz="2800" dirty="0"/>
              <a:t> </a:t>
            </a:r>
            <a:r>
              <a:rPr lang="en-GB" sz="2800" dirty="0" err="1"/>
              <a:t>Daten</a:t>
            </a:r>
            <a:endParaRPr sz="2800" dirty="0"/>
          </a:p>
        </p:txBody>
      </p:sp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6BD5C037-325F-408D-B6F6-F9788B2B38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33FA4B0-7731-EC49-88EA-B5E921ABE78A}" type="slidenum">
              <a:rPr lang="de-DE" smtClean="0"/>
              <a:pPr/>
              <a:t>49</a:t>
            </a:fld>
            <a:endParaRPr lang="de-DE" dirty="0"/>
          </a:p>
        </p:txBody>
      </p:sp>
      <p:pic>
        <p:nvPicPr>
          <p:cNvPr id="12" name="Picture 1437688774">
            <a:extLst>
              <a:ext uri="{FF2B5EF4-FFF2-40B4-BE49-F238E27FC236}">
                <a16:creationId xmlns:a16="http://schemas.microsoft.com/office/drawing/2014/main" id="{84987E56-AC21-4C1C-94B4-80CADE3C26C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8872"/>
          <a:stretch/>
        </p:blipFill>
        <p:spPr bwMode="auto">
          <a:xfrm>
            <a:off x="1536913" y="2512902"/>
            <a:ext cx="8973973" cy="2106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410122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2482400" name="Content Placeholder 4"/>
          <p:cNvSpPr txBox="1"/>
          <p:nvPr/>
        </p:nvSpPr>
        <p:spPr bwMode="auto">
          <a:xfrm>
            <a:off x="838200" y="639290"/>
            <a:ext cx="10515600" cy="545353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179387" indent="-179387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9249" indent="-168274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2400">
                <a:solidFill>
                  <a:schemeClr val="tx1"/>
                </a:solidFill>
                <a:latin typeface="+mn-lt"/>
              </a:defRPr>
            </a:lvl2pPr>
            <a:lvl3pPr marL="538162" indent="-187324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2400">
                <a:solidFill>
                  <a:schemeClr val="tx1"/>
                </a:solidFill>
                <a:latin typeface="+mn-lt"/>
              </a:defRPr>
            </a:lvl3pPr>
            <a:lvl4pPr marL="717549" indent="-173037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2000">
                <a:solidFill>
                  <a:schemeClr val="tx1"/>
                </a:solidFill>
                <a:latin typeface="+mn-lt"/>
              </a:defRPr>
            </a:lvl4pPr>
            <a:lvl5pPr marL="908049" indent="-188912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1365249" indent="-188912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</a:defRPr>
            </a:lvl6pPr>
            <a:lvl7pPr marL="1822449" indent="-188912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</a:defRPr>
            </a:lvl7pPr>
            <a:lvl8pPr marL="2279649" indent="-188912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</a:defRPr>
            </a:lvl8pPr>
            <a:lvl9pPr marL="2736849" indent="-188912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sz="2000" dirty="0"/>
              <a:t>Was </a:t>
            </a:r>
            <a:r>
              <a:rPr sz="2000" dirty="0" err="1"/>
              <a:t>machen</a:t>
            </a:r>
            <a:r>
              <a:rPr sz="2000" dirty="0"/>
              <a:t> .data(...), .enter(), .merge(...) und </a:t>
            </a:r>
            <a:r>
              <a:rPr sz="2000" b="1" dirty="0"/>
              <a:t>.exit() </a:t>
            </a:r>
            <a:r>
              <a:rPr lang="en-US" sz="2000" dirty="0" err="1"/>
              <a:t>eigentlich</a:t>
            </a:r>
            <a:r>
              <a:rPr lang="en-US" sz="2000" dirty="0"/>
              <a:t> </a:t>
            </a:r>
            <a:r>
              <a:rPr lang="en-US" sz="2000" dirty="0" err="1"/>
              <a:t>genau</a:t>
            </a:r>
            <a:r>
              <a:rPr sz="2000" dirty="0"/>
              <a:t>?</a:t>
            </a:r>
            <a:endParaRPr lang="de-DE" sz="2000" dirty="0"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de-DE" sz="2000" dirty="0"/>
          </a:p>
          <a:p>
            <a:pPr marL="0" indent="0">
              <a:buNone/>
              <a:defRPr/>
            </a:pPr>
            <a:r>
              <a:rPr lang="de-DE" sz="2000" dirty="0"/>
              <a:t>Wie können wir die Anzahl der Elemente in der Auswahl reduzieren?</a:t>
            </a:r>
          </a:p>
          <a:p>
            <a:pPr>
              <a:buFont typeface="Arial" panose="020B0604020202020204" pitchFamily="34" charset="0"/>
              <a:buChar char="•"/>
              <a:defRPr/>
            </a:pPr>
            <a:r>
              <a:rPr lang="de-DE" sz="2000" dirty="0" err="1"/>
              <a:t>selection.exit</a:t>
            </a:r>
            <a:r>
              <a:rPr lang="de-DE" sz="2000" dirty="0"/>
              <a:t>(): “für jedes Elemente ohne Verknüpfung zu den Daten, mache folgendes...”</a:t>
            </a:r>
          </a:p>
          <a:p>
            <a:pPr>
              <a:buFont typeface="Arial" panose="020B0604020202020204" pitchFamily="34" charset="0"/>
              <a:buChar char="•"/>
              <a:defRPr/>
            </a:pPr>
            <a:r>
              <a:rPr lang="de-DE" sz="2000" dirty="0"/>
              <a:t>Entferne übrige Elemente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2000" dirty="0"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en-GB" sz="2400" dirty="0"/>
          </a:p>
        </p:txBody>
      </p:sp>
      <p:sp>
        <p:nvSpPr>
          <p:cNvPr id="1751140071" name="Title 3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GB" sz="2800" dirty="0"/>
              <a:t>Mini-Tutorial: D3 – Manipulation </a:t>
            </a:r>
            <a:r>
              <a:rPr lang="en-GB" sz="2800" dirty="0" err="1"/>
              <a:t>mit</a:t>
            </a:r>
            <a:r>
              <a:rPr lang="en-GB" sz="2800" dirty="0"/>
              <a:t> </a:t>
            </a:r>
            <a:r>
              <a:rPr lang="en-GB" sz="2800" dirty="0" err="1"/>
              <a:t>verknüpften</a:t>
            </a:r>
            <a:r>
              <a:rPr lang="en-GB" sz="2800" dirty="0"/>
              <a:t> </a:t>
            </a:r>
            <a:r>
              <a:rPr lang="en-GB" sz="2800" dirty="0" err="1"/>
              <a:t>Daten</a:t>
            </a:r>
            <a:endParaRPr sz="2800" dirty="0"/>
          </a:p>
        </p:txBody>
      </p:sp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6BD5C037-325F-408D-B6F6-F9788B2B38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33FA4B0-7731-EC49-88EA-B5E921ABE78A}" type="slidenum">
              <a:rPr lang="de-DE" smtClean="0"/>
              <a:pPr/>
              <a:t>50</a:t>
            </a:fld>
            <a:endParaRPr lang="de-DE" dirty="0"/>
          </a:p>
        </p:txBody>
      </p:sp>
      <p:pic>
        <p:nvPicPr>
          <p:cNvPr id="6" name="Picture 126961969">
            <a:extLst>
              <a:ext uri="{FF2B5EF4-FFF2-40B4-BE49-F238E27FC236}">
                <a16:creationId xmlns:a16="http://schemas.microsoft.com/office/drawing/2014/main" id="{CA3264C0-F90D-4D7A-8749-5C7D02419A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4194829" y="2157853"/>
            <a:ext cx="2076449" cy="352424"/>
          </a:xfrm>
          <a:prstGeom prst="rect">
            <a:avLst/>
          </a:prstGeom>
        </p:spPr>
      </p:pic>
      <p:pic>
        <p:nvPicPr>
          <p:cNvPr id="7" name="Picture 1386523413">
            <a:extLst>
              <a:ext uri="{FF2B5EF4-FFF2-40B4-BE49-F238E27FC236}">
                <a16:creationId xmlns:a16="http://schemas.microsoft.com/office/drawing/2014/main" id="{057F54D0-D976-48FC-9F07-4E19EC2FFE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395412" y="2986709"/>
            <a:ext cx="9401175" cy="2705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710079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2482400" name="Content Placeholder 4"/>
          <p:cNvSpPr txBox="1"/>
          <p:nvPr/>
        </p:nvSpPr>
        <p:spPr bwMode="auto">
          <a:xfrm>
            <a:off x="838200" y="639290"/>
            <a:ext cx="10515600" cy="545353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179387" indent="-179387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9249" indent="-168274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2400">
                <a:solidFill>
                  <a:schemeClr val="tx1"/>
                </a:solidFill>
                <a:latin typeface="+mn-lt"/>
              </a:defRPr>
            </a:lvl2pPr>
            <a:lvl3pPr marL="538162" indent="-187324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2400">
                <a:solidFill>
                  <a:schemeClr val="tx1"/>
                </a:solidFill>
                <a:latin typeface="+mn-lt"/>
              </a:defRPr>
            </a:lvl3pPr>
            <a:lvl4pPr marL="717549" indent="-173037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2000">
                <a:solidFill>
                  <a:schemeClr val="tx1"/>
                </a:solidFill>
                <a:latin typeface="+mn-lt"/>
              </a:defRPr>
            </a:lvl4pPr>
            <a:lvl5pPr marL="908049" indent="-188912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1365249" indent="-188912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</a:defRPr>
            </a:lvl6pPr>
            <a:lvl7pPr marL="1822449" indent="-188912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</a:defRPr>
            </a:lvl7pPr>
            <a:lvl8pPr marL="2279649" indent="-188912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</a:defRPr>
            </a:lvl8pPr>
            <a:lvl9pPr marL="2736849" indent="-188912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sz="2000" dirty="0"/>
              <a:t>Was </a:t>
            </a:r>
            <a:r>
              <a:rPr sz="2000" dirty="0" err="1"/>
              <a:t>machen</a:t>
            </a:r>
            <a:r>
              <a:rPr sz="2000" dirty="0"/>
              <a:t> .data(...), .enter(), .merge(...) und .exit() </a:t>
            </a:r>
            <a:r>
              <a:rPr lang="en-US" sz="2000" dirty="0" err="1"/>
              <a:t>eigentlich</a:t>
            </a:r>
            <a:r>
              <a:rPr lang="en-US" sz="2000" dirty="0"/>
              <a:t> </a:t>
            </a:r>
            <a:r>
              <a:rPr lang="en-US" sz="2000" dirty="0" err="1"/>
              <a:t>genau</a:t>
            </a:r>
            <a:r>
              <a:rPr sz="2000" dirty="0"/>
              <a:t>?</a:t>
            </a:r>
            <a:endParaRPr lang="de-DE" sz="2000" dirty="0"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de-DE" sz="2000" dirty="0"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2000" dirty="0"/>
          </a:p>
          <a:p>
            <a:pPr>
              <a:buFont typeface="Arial" panose="020B0604020202020204" pitchFamily="34" charset="0"/>
              <a:buChar char="•"/>
              <a:defRPr/>
            </a:pPr>
            <a:r>
              <a:rPr lang="de-DE" sz="2000" dirty="0"/>
              <a:t> .</a:t>
            </a:r>
            <a:r>
              <a:rPr lang="de-DE" sz="2000" dirty="0" err="1"/>
              <a:t>data</a:t>
            </a:r>
            <a:r>
              <a:rPr lang="de-DE" sz="2000" dirty="0"/>
              <a:t>(...) verknüpft die Daten zur Auswahl</a:t>
            </a:r>
          </a:p>
          <a:p>
            <a:pPr>
              <a:buFont typeface="Arial" panose="020B0604020202020204" pitchFamily="34" charset="0"/>
              <a:buChar char="•"/>
              <a:defRPr/>
            </a:pPr>
            <a:r>
              <a:rPr lang="de-DE" sz="2000" dirty="0"/>
              <a:t>.</a:t>
            </a:r>
            <a:r>
              <a:rPr lang="de-DE" sz="2000" dirty="0" err="1"/>
              <a:t>enter</a:t>
            </a:r>
            <a:r>
              <a:rPr lang="de-DE" sz="2000" dirty="0"/>
              <a:t>() lässt uns für überschüssige Datenpunkte Elemente hinzufügen</a:t>
            </a:r>
          </a:p>
          <a:p>
            <a:pPr>
              <a:buFont typeface="Arial" panose="020B0604020202020204" pitchFamily="34" charset="0"/>
              <a:buChar char="•"/>
              <a:defRPr/>
            </a:pPr>
            <a:r>
              <a:rPr lang="de-DE" sz="2000" dirty="0"/>
              <a:t>.</a:t>
            </a:r>
            <a:r>
              <a:rPr lang="de-DE" sz="2000" dirty="0" err="1"/>
              <a:t>merge</a:t>
            </a:r>
            <a:r>
              <a:rPr lang="de-DE" sz="2000" dirty="0"/>
              <a:t>(...) lässt uns die bisherige Auswahl mit neu hinzugefügten Elementen vereinen, um „alte“ und „neue“ Elemente gleichermaßen zu manipulieren</a:t>
            </a:r>
          </a:p>
          <a:p>
            <a:pPr>
              <a:buFont typeface="Arial" panose="020B0604020202020204" pitchFamily="34" charset="0"/>
              <a:buChar char="•"/>
              <a:defRPr/>
            </a:pPr>
            <a:r>
              <a:rPr lang="de-DE" sz="2000" dirty="0"/>
              <a:t>.</a:t>
            </a:r>
            <a:r>
              <a:rPr lang="de-DE" sz="2000" dirty="0" err="1"/>
              <a:t>exit</a:t>
            </a:r>
            <a:r>
              <a:rPr lang="de-DE" sz="2000" dirty="0"/>
              <a:t>() lässt und Elemente manipulieren/entfernen, die zu keinem Datenpunkt verknüpft sind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en-GB" sz="2400" dirty="0"/>
          </a:p>
        </p:txBody>
      </p:sp>
      <p:sp>
        <p:nvSpPr>
          <p:cNvPr id="1751140071" name="Title 3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GB" sz="2800" dirty="0"/>
              <a:t>Mini-Tutorial: D3 – Manipulation </a:t>
            </a:r>
            <a:r>
              <a:rPr lang="en-GB" sz="2800" dirty="0" err="1"/>
              <a:t>mit</a:t>
            </a:r>
            <a:r>
              <a:rPr lang="en-GB" sz="2800" dirty="0"/>
              <a:t> </a:t>
            </a:r>
            <a:r>
              <a:rPr lang="en-GB" sz="2800" dirty="0" err="1"/>
              <a:t>verknüpften</a:t>
            </a:r>
            <a:r>
              <a:rPr lang="en-GB" sz="2800" dirty="0"/>
              <a:t> </a:t>
            </a:r>
            <a:r>
              <a:rPr lang="en-GB" sz="2800" dirty="0" err="1"/>
              <a:t>Daten</a:t>
            </a:r>
            <a:endParaRPr sz="2800" dirty="0"/>
          </a:p>
        </p:txBody>
      </p:sp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6BD5C037-325F-408D-B6F6-F9788B2B38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33FA4B0-7731-EC49-88EA-B5E921ABE78A}" type="slidenum">
              <a:rPr lang="de-DE" smtClean="0"/>
              <a:pPr/>
              <a:t>51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42899123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420E606-C357-47D0-AA81-824C6EBA7A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sz="2000" dirty="0"/>
              <a:t>Hinzufügen von Interaktivität: Datensatz wechseln</a:t>
            </a:r>
          </a:p>
          <a:p>
            <a:pPr marL="0" indent="0">
              <a:buNone/>
            </a:pPr>
            <a:endParaRPr lang="de-DE" sz="2000" dirty="0"/>
          </a:p>
          <a:p>
            <a:pPr marL="0" indent="0">
              <a:buNone/>
            </a:pPr>
            <a:r>
              <a:rPr lang="de-DE" sz="2000" dirty="0"/>
              <a:t>Verknüpft mit .</a:t>
            </a:r>
            <a:r>
              <a:rPr lang="de-DE" sz="2000" dirty="0" err="1"/>
              <a:t>data</a:t>
            </a:r>
            <a:r>
              <a:rPr lang="de-DE" sz="2000" dirty="0"/>
              <a:t>()</a:t>
            </a:r>
          </a:p>
          <a:p>
            <a:pPr marL="0" indent="0">
              <a:buNone/>
            </a:pPr>
            <a:r>
              <a:rPr lang="de-DE" sz="2000" dirty="0"/>
              <a:t>Wie aktualisieren wir die Visualisierung korrekt?</a:t>
            </a:r>
          </a:p>
          <a:p>
            <a:pPr marL="0" indent="0">
              <a:buNone/>
            </a:pP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6E17AD7-C907-428C-BC3D-7A85A59320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33FA4B0-7731-EC49-88EA-B5E921ABE78A}" type="slidenum">
              <a:rPr lang="de-DE" smtClean="0"/>
              <a:pPr/>
              <a:t>52</a:t>
            </a:fld>
            <a:endParaRPr lang="de-DE" dirty="0"/>
          </a:p>
        </p:txBody>
      </p:sp>
      <p:sp>
        <p:nvSpPr>
          <p:cNvPr id="5" name="Title 3">
            <a:extLst>
              <a:ext uri="{FF2B5EF4-FFF2-40B4-BE49-F238E27FC236}">
                <a16:creationId xmlns:a16="http://schemas.microsoft.com/office/drawing/2014/main" id="{8CA279C6-3606-44BB-87D8-86B11F566B2B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838200" y="59502"/>
            <a:ext cx="10515600" cy="562032"/>
          </a:xfrm>
        </p:spPr>
        <p:txBody>
          <a:bodyPr/>
          <a:lstStyle/>
          <a:p>
            <a:pPr>
              <a:defRPr/>
            </a:pPr>
            <a:r>
              <a:rPr lang="en-GB" dirty="0"/>
              <a:t>Mini-Tutorial: D3 – </a:t>
            </a:r>
            <a:r>
              <a:rPr lang="en-GB" dirty="0" err="1"/>
              <a:t>Interaktivität</a:t>
            </a:r>
            <a:endParaRPr dirty="0"/>
          </a:p>
        </p:txBody>
      </p:sp>
      <p:pic>
        <p:nvPicPr>
          <p:cNvPr id="6" name="Picture 4">
            <a:extLst>
              <a:ext uri="{FF2B5EF4-FFF2-40B4-BE49-F238E27FC236}">
                <a16:creationId xmlns:a16="http://schemas.microsoft.com/office/drawing/2014/main" id="{7E0F2AB9-15C3-415C-8CF1-2DF6364A2F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3443744" y="1601788"/>
            <a:ext cx="4333875" cy="314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554210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1612535" name="Content Placeholder 4"/>
          <p:cNvSpPr txBox="1"/>
          <p:nvPr/>
        </p:nvSpPr>
        <p:spPr bwMode="auto">
          <a:xfrm>
            <a:off x="838200" y="639291"/>
            <a:ext cx="10515600" cy="621042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179387" indent="-179387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9249" indent="-168274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2400">
                <a:solidFill>
                  <a:schemeClr val="tx1"/>
                </a:solidFill>
                <a:latin typeface="+mn-lt"/>
              </a:defRPr>
            </a:lvl2pPr>
            <a:lvl3pPr marL="538162" indent="-187324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2400">
                <a:solidFill>
                  <a:schemeClr val="tx1"/>
                </a:solidFill>
                <a:latin typeface="+mn-lt"/>
              </a:defRPr>
            </a:lvl3pPr>
            <a:lvl4pPr marL="717549" indent="-173037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2000">
                <a:solidFill>
                  <a:schemeClr val="tx1"/>
                </a:solidFill>
                <a:latin typeface="+mn-lt"/>
              </a:defRPr>
            </a:lvl4pPr>
            <a:lvl5pPr marL="908049" indent="-188912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1365249" indent="-188912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</a:defRPr>
            </a:lvl6pPr>
            <a:lvl7pPr marL="1822449" indent="-188912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</a:defRPr>
            </a:lvl7pPr>
            <a:lvl8pPr marL="2279649" indent="-188912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</a:defRPr>
            </a:lvl8pPr>
            <a:lvl9pPr marL="2736849" indent="-188912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GB" sz="2000" b="0" i="0" u="none" strike="noStrike" cap="none" spc="0" dirty="0" err="1">
                <a:solidFill>
                  <a:schemeClr val="tx1"/>
                </a:solidFill>
                <a:latin typeface="+mj-lt"/>
                <a:ea typeface="Arial"/>
                <a:cs typeface="Arial"/>
              </a:rPr>
              <a:t>Hinzufügen</a:t>
            </a:r>
            <a:r>
              <a:rPr lang="en-GB" sz="2000" b="0" i="0" u="none" strike="noStrike" cap="none" spc="0" dirty="0">
                <a:solidFill>
                  <a:schemeClr val="tx1"/>
                </a:solidFill>
                <a:latin typeface="+mj-lt"/>
                <a:ea typeface="Arial"/>
                <a:cs typeface="Arial"/>
              </a:rPr>
              <a:t> von </a:t>
            </a:r>
            <a:r>
              <a:rPr lang="en-GB" sz="2000" b="0" i="0" u="none" strike="noStrike" cap="none" spc="0" dirty="0" err="1">
                <a:solidFill>
                  <a:schemeClr val="tx1"/>
                </a:solidFill>
                <a:latin typeface="+mj-lt"/>
                <a:ea typeface="Arial"/>
                <a:cs typeface="Arial"/>
              </a:rPr>
              <a:t>Interaktivität</a:t>
            </a:r>
            <a:r>
              <a:rPr lang="en-GB" sz="2000" b="0" i="0" u="none" strike="noStrike" cap="none" spc="0" dirty="0">
                <a:solidFill>
                  <a:schemeClr val="tx1"/>
                </a:solidFill>
                <a:latin typeface="+mj-lt"/>
                <a:ea typeface="Arial"/>
                <a:cs typeface="Arial"/>
              </a:rPr>
              <a:t>: </a:t>
            </a:r>
            <a:r>
              <a:rPr lang="en-GB" sz="2000" b="0" i="0" u="none" strike="noStrike" cap="none" spc="0" dirty="0" err="1">
                <a:solidFill>
                  <a:schemeClr val="tx1"/>
                </a:solidFill>
                <a:latin typeface="+mj-lt"/>
                <a:ea typeface="Arial"/>
                <a:cs typeface="Arial"/>
              </a:rPr>
              <a:t>Datensatz</a:t>
            </a:r>
            <a:r>
              <a:rPr lang="en-GB" sz="2000" b="0" i="0" u="none" strike="noStrike" cap="none" spc="0" dirty="0">
                <a:solidFill>
                  <a:schemeClr val="tx1"/>
                </a:solidFill>
                <a:latin typeface="+mj-lt"/>
                <a:ea typeface="Arial"/>
                <a:cs typeface="Arial"/>
              </a:rPr>
              <a:t> </a:t>
            </a:r>
            <a:r>
              <a:rPr lang="en-GB" sz="2000" b="0" i="0" u="none" strike="noStrike" cap="none" spc="0" dirty="0" err="1">
                <a:solidFill>
                  <a:schemeClr val="tx1"/>
                </a:solidFill>
                <a:latin typeface="+mj-lt"/>
                <a:ea typeface="Arial"/>
                <a:cs typeface="Arial"/>
              </a:rPr>
              <a:t>wechseln</a:t>
            </a:r>
            <a:br>
              <a:rPr lang="en-GB" sz="2000" dirty="0">
                <a:latin typeface="+mj-lt"/>
              </a:rPr>
            </a:br>
            <a:r>
              <a:rPr lang="en-GB" sz="2000" dirty="0">
                <a:latin typeface="+mj-lt"/>
              </a:rPr>
              <a:t>Um </a:t>
            </a:r>
            <a:r>
              <a:rPr lang="en-GB" sz="2000" dirty="0" err="1">
                <a:latin typeface="+mj-lt"/>
              </a:rPr>
              <a:t>zwischen</a:t>
            </a:r>
            <a:r>
              <a:rPr lang="en-GB" sz="2000" dirty="0">
                <a:latin typeface="+mj-lt"/>
              </a:rPr>
              <a:t> den </a:t>
            </a:r>
            <a:r>
              <a:rPr lang="en-GB" sz="2000" dirty="0" err="1">
                <a:latin typeface="+mj-lt"/>
              </a:rPr>
              <a:t>Datensätzen</a:t>
            </a:r>
            <a:r>
              <a:rPr lang="en-GB" sz="2000" dirty="0">
                <a:latin typeface="+mj-lt"/>
              </a:rPr>
              <a:t> </a:t>
            </a:r>
            <a:r>
              <a:rPr lang="en-GB" sz="2000" dirty="0" err="1">
                <a:latin typeface="+mj-lt"/>
              </a:rPr>
              <a:t>zu</a:t>
            </a:r>
            <a:r>
              <a:rPr lang="en-GB" sz="2000" dirty="0">
                <a:latin typeface="+mj-lt"/>
              </a:rPr>
              <a:t> </a:t>
            </a:r>
            <a:r>
              <a:rPr lang="en-GB" sz="2000" dirty="0" err="1">
                <a:latin typeface="+mj-lt"/>
              </a:rPr>
              <a:t>wechseln</a:t>
            </a:r>
            <a:r>
              <a:rPr lang="en-GB" sz="2000" dirty="0">
                <a:latin typeface="+mj-lt"/>
              </a:rPr>
              <a:t>, </a:t>
            </a:r>
            <a:r>
              <a:rPr lang="en-GB" sz="2000" dirty="0" err="1">
                <a:latin typeface="+mj-lt"/>
              </a:rPr>
              <a:t>sind</a:t>
            </a:r>
            <a:r>
              <a:rPr lang="en-GB" sz="2000" dirty="0">
                <a:latin typeface="+mj-lt"/>
              </a:rPr>
              <a:t> </a:t>
            </a:r>
            <a:r>
              <a:rPr lang="en-GB" sz="2000" dirty="0" err="1">
                <a:latin typeface="+mj-lt"/>
              </a:rPr>
              <a:t>zwei</a:t>
            </a:r>
            <a:r>
              <a:rPr lang="en-GB" sz="2000" dirty="0">
                <a:latin typeface="+mj-lt"/>
              </a:rPr>
              <a:t> </a:t>
            </a:r>
            <a:r>
              <a:rPr lang="en-GB" sz="2000" dirty="0" err="1">
                <a:latin typeface="+mj-lt"/>
              </a:rPr>
              <a:t>weitere</a:t>
            </a:r>
            <a:r>
              <a:rPr lang="en-GB" sz="2000" dirty="0">
                <a:latin typeface="+mj-lt"/>
              </a:rPr>
              <a:t> </a:t>
            </a:r>
            <a:r>
              <a:rPr lang="en-GB" sz="2000" dirty="0" err="1">
                <a:latin typeface="+mj-lt"/>
              </a:rPr>
              <a:t>Zeilen</a:t>
            </a:r>
            <a:r>
              <a:rPr lang="en-GB" sz="2000" dirty="0">
                <a:latin typeface="+mj-lt"/>
              </a:rPr>
              <a:t> </a:t>
            </a:r>
            <a:r>
              <a:rPr lang="en-GB" sz="2000" dirty="0" err="1">
                <a:latin typeface="+mj-lt"/>
              </a:rPr>
              <a:t>nötig</a:t>
            </a:r>
            <a:r>
              <a:rPr lang="en-GB" sz="2000" dirty="0">
                <a:latin typeface="+mj-lt"/>
              </a:rPr>
              <a:t>:</a:t>
            </a:r>
            <a:br>
              <a:rPr lang="en-GB" sz="2000" dirty="0">
                <a:latin typeface="+mj-lt"/>
              </a:rPr>
            </a:br>
            <a:endParaRPr lang="en-GB" sz="2000" dirty="0">
              <a:latin typeface="+mj-lt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en-GB" sz="2000" dirty="0">
              <a:latin typeface="+mj-lt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en-GB" sz="2000" dirty="0">
              <a:latin typeface="+mj-lt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en-GB" sz="2000" dirty="0">
              <a:latin typeface="+mj-lt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GB" sz="2000" dirty="0">
                <a:latin typeface="+mj-lt"/>
              </a:rPr>
              <a:t>Enter(): </a:t>
            </a:r>
            <a:r>
              <a:rPr lang="en-GB" sz="2000" dirty="0" err="1">
                <a:latin typeface="+mj-lt"/>
              </a:rPr>
              <a:t>Erzeuge</a:t>
            </a:r>
            <a:r>
              <a:rPr lang="en-GB" sz="2000" dirty="0">
                <a:latin typeface="+mj-lt"/>
              </a:rPr>
              <a:t> .bar </a:t>
            </a:r>
            <a:r>
              <a:rPr lang="en-GB" sz="2000" dirty="0" err="1">
                <a:latin typeface="+mj-lt"/>
              </a:rPr>
              <a:t>Elemente</a:t>
            </a:r>
            <a:r>
              <a:rPr lang="en-GB" sz="2000" dirty="0">
                <a:latin typeface="+mj-lt"/>
              </a:rPr>
              <a:t> </a:t>
            </a:r>
            <a:r>
              <a:rPr lang="en-GB" sz="2000" dirty="0" err="1">
                <a:latin typeface="+mj-lt"/>
              </a:rPr>
              <a:t>für</a:t>
            </a:r>
            <a:r>
              <a:rPr lang="en-GB" sz="2000" dirty="0">
                <a:latin typeface="+mj-lt"/>
              </a:rPr>
              <a:t> </a:t>
            </a:r>
            <a:r>
              <a:rPr lang="en-GB" sz="2000" dirty="0" err="1">
                <a:latin typeface="+mj-lt"/>
              </a:rPr>
              <a:t>alle</a:t>
            </a:r>
            <a:r>
              <a:rPr lang="en-GB" sz="2000" dirty="0">
                <a:latin typeface="+mj-lt"/>
              </a:rPr>
              <a:t> </a:t>
            </a:r>
            <a:r>
              <a:rPr lang="en-GB" sz="2000" dirty="0" err="1">
                <a:latin typeface="+mj-lt"/>
              </a:rPr>
              <a:t>Datenpunkte</a:t>
            </a:r>
            <a:r>
              <a:rPr lang="en-GB" sz="2000" dirty="0">
                <a:latin typeface="+mj-lt"/>
              </a:rPr>
              <a:t>, die </a:t>
            </a:r>
            <a:r>
              <a:rPr lang="en-GB" sz="2000" dirty="0" err="1">
                <a:latin typeface="+mj-lt"/>
              </a:rPr>
              <a:t>noch</a:t>
            </a:r>
            <a:r>
              <a:rPr lang="en-GB" sz="2000" dirty="0">
                <a:latin typeface="+mj-lt"/>
              </a:rPr>
              <a:t> </a:t>
            </a:r>
            <a:r>
              <a:rPr lang="en-GB" sz="2000" dirty="0" err="1">
                <a:latin typeface="+mj-lt"/>
              </a:rPr>
              <a:t>nicht</a:t>
            </a:r>
            <a:r>
              <a:rPr lang="en-GB" sz="2000" dirty="0">
                <a:latin typeface="+mj-lt"/>
              </a:rPr>
              <a:t> </a:t>
            </a:r>
            <a:r>
              <a:rPr lang="en-GB" sz="2000" dirty="0" err="1">
                <a:latin typeface="+mj-lt"/>
              </a:rPr>
              <a:t>existiert</a:t>
            </a:r>
            <a:r>
              <a:rPr lang="en-GB" sz="2000" dirty="0">
                <a:latin typeface="+mj-lt"/>
              </a:rPr>
              <a:t> </a:t>
            </a:r>
            <a:r>
              <a:rPr lang="en-GB" sz="2000" dirty="0" err="1">
                <a:latin typeface="+mj-lt"/>
              </a:rPr>
              <a:t>haben</a:t>
            </a:r>
            <a:endParaRPr sz="2000" dirty="0">
              <a:latin typeface="+mj-lt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GB" sz="2000" dirty="0">
                <a:latin typeface="+mj-lt"/>
              </a:rPr>
              <a:t>merge(bars): </a:t>
            </a:r>
            <a:r>
              <a:rPr lang="en-GB" sz="2000" dirty="0" err="1">
                <a:latin typeface="+mj-lt"/>
              </a:rPr>
              <a:t>Wähle</a:t>
            </a:r>
            <a:r>
              <a:rPr lang="en-GB" sz="2000" dirty="0">
                <a:latin typeface="+mj-lt"/>
              </a:rPr>
              <a:t> </a:t>
            </a:r>
            <a:r>
              <a:rPr lang="en-GB" sz="2000" dirty="0" err="1">
                <a:latin typeface="+mj-lt"/>
              </a:rPr>
              <a:t>alle</a:t>
            </a:r>
            <a:r>
              <a:rPr lang="en-GB" sz="2000" dirty="0">
                <a:latin typeface="+mj-lt"/>
              </a:rPr>
              <a:t> .bar </a:t>
            </a:r>
            <a:r>
              <a:rPr lang="en-GB" sz="2000" dirty="0" err="1">
                <a:latin typeface="+mj-lt"/>
              </a:rPr>
              <a:t>Elemente</a:t>
            </a:r>
            <a:r>
              <a:rPr lang="en-GB" sz="2000" dirty="0">
                <a:latin typeface="+mj-lt"/>
              </a:rPr>
              <a:t>, </a:t>
            </a:r>
            <a:r>
              <a:rPr lang="en-GB" sz="2000" dirty="0" err="1">
                <a:latin typeface="+mj-lt"/>
              </a:rPr>
              <a:t>auch</a:t>
            </a:r>
            <a:r>
              <a:rPr lang="en-GB" sz="2000" dirty="0">
                <a:latin typeface="+mj-lt"/>
              </a:rPr>
              <a:t> die </a:t>
            </a:r>
            <a:r>
              <a:rPr lang="en-GB" sz="2000" dirty="0" err="1">
                <a:latin typeface="+mj-lt"/>
              </a:rPr>
              <a:t>bereits</a:t>
            </a:r>
            <a:r>
              <a:rPr lang="en-GB" sz="2000" dirty="0">
                <a:latin typeface="+mj-lt"/>
              </a:rPr>
              <a:t> </a:t>
            </a:r>
            <a:r>
              <a:rPr lang="en-GB" sz="2000" dirty="0" err="1">
                <a:latin typeface="+mj-lt"/>
              </a:rPr>
              <a:t>existiert</a:t>
            </a:r>
            <a:r>
              <a:rPr lang="en-GB" sz="2000" dirty="0">
                <a:latin typeface="+mj-lt"/>
              </a:rPr>
              <a:t> </a:t>
            </a:r>
            <a:r>
              <a:rPr lang="en-GB" sz="2000" dirty="0" err="1">
                <a:latin typeface="+mj-lt"/>
              </a:rPr>
              <a:t>hatten</a:t>
            </a:r>
            <a:endParaRPr sz="2000" dirty="0">
              <a:latin typeface="+mj-lt"/>
            </a:endParaRPr>
          </a:p>
          <a:p>
            <a:pPr lvl="1">
              <a:buFont typeface="Arial" panose="020B0604020202020204" pitchFamily="34" charset="0"/>
              <a:buChar char="•"/>
              <a:defRPr/>
            </a:pPr>
            <a:r>
              <a:rPr lang="en-GB" sz="2000" dirty="0" err="1">
                <a:latin typeface="+mj-lt"/>
              </a:rPr>
              <a:t>Für</a:t>
            </a:r>
            <a:r>
              <a:rPr lang="en-GB" sz="2000" dirty="0">
                <a:latin typeface="+mj-lt"/>
              </a:rPr>
              <a:t> den Fall, </a:t>
            </a:r>
            <a:r>
              <a:rPr lang="en-GB" sz="2000" dirty="0" err="1">
                <a:latin typeface="+mj-lt"/>
              </a:rPr>
              <a:t>dass</a:t>
            </a:r>
            <a:r>
              <a:rPr lang="en-GB" sz="2000" dirty="0">
                <a:latin typeface="+mj-lt"/>
              </a:rPr>
              <a:t> </a:t>
            </a:r>
            <a:r>
              <a:rPr lang="en-GB" sz="2000" dirty="0" err="1">
                <a:latin typeface="+mj-lt"/>
              </a:rPr>
              <a:t>nicht</a:t>
            </a:r>
            <a:r>
              <a:rPr lang="en-GB" sz="2000" dirty="0">
                <a:latin typeface="+mj-lt"/>
              </a:rPr>
              <a:t> der </a:t>
            </a:r>
            <a:r>
              <a:rPr lang="en-GB" sz="2000" dirty="0" err="1">
                <a:latin typeface="+mj-lt"/>
              </a:rPr>
              <a:t>ganze</a:t>
            </a:r>
            <a:r>
              <a:rPr lang="en-GB" sz="2000" dirty="0">
                <a:latin typeface="+mj-lt"/>
              </a:rPr>
              <a:t> </a:t>
            </a:r>
            <a:r>
              <a:rPr lang="en-GB" sz="2000" dirty="0" err="1">
                <a:latin typeface="+mj-lt"/>
              </a:rPr>
              <a:t>Datensatz</a:t>
            </a:r>
            <a:r>
              <a:rPr lang="en-GB" sz="2000" dirty="0">
                <a:latin typeface="+mj-lt"/>
              </a:rPr>
              <a:t> neu </a:t>
            </a:r>
            <a:r>
              <a:rPr lang="en-GB" sz="2000" dirty="0" err="1">
                <a:latin typeface="+mj-lt"/>
              </a:rPr>
              <a:t>ist</a:t>
            </a:r>
            <a:endParaRPr sz="2000" dirty="0">
              <a:latin typeface="+mj-lt"/>
            </a:endParaRPr>
          </a:p>
          <a:p>
            <a:pPr marL="11113" indent="0">
              <a:buNone/>
              <a:defRPr/>
            </a:pPr>
            <a:endParaRPr lang="de-DE" sz="2000" dirty="0">
              <a:latin typeface="+mj-lt"/>
            </a:endParaRPr>
          </a:p>
          <a:p>
            <a:pPr marL="11113" indent="0">
              <a:buNone/>
              <a:defRPr/>
            </a:pPr>
            <a:endParaRPr lang="en-US" sz="2000" dirty="0">
              <a:latin typeface="+mj-lt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en-GB" sz="2000" dirty="0">
              <a:latin typeface="+mj-lt"/>
            </a:endParaRPr>
          </a:p>
        </p:txBody>
      </p:sp>
      <p:pic>
        <p:nvPicPr>
          <p:cNvPr id="1543242984" name="Picture 8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924089" y="1312311"/>
            <a:ext cx="3167769" cy="1207603"/>
          </a:xfrm>
          <a:prstGeom prst="rect">
            <a:avLst/>
          </a:prstGeom>
        </p:spPr>
      </p:pic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8DC747D3-83DD-4F77-85DF-0758E470CE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33FA4B0-7731-EC49-88EA-B5E921ABE78A}" type="slidenum">
              <a:rPr lang="de-DE" smtClean="0"/>
              <a:pPr/>
              <a:t>53</a:t>
            </a:fld>
            <a:endParaRPr lang="de-DE" dirty="0"/>
          </a:p>
        </p:txBody>
      </p:sp>
      <p:sp>
        <p:nvSpPr>
          <p:cNvPr id="12" name="Title 3">
            <a:extLst>
              <a:ext uri="{FF2B5EF4-FFF2-40B4-BE49-F238E27FC236}">
                <a16:creationId xmlns:a16="http://schemas.microsoft.com/office/drawing/2014/main" id="{A21235F5-3918-435F-8723-E46E3FF43199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838200" y="59502"/>
            <a:ext cx="10515600" cy="562032"/>
          </a:xfrm>
        </p:spPr>
        <p:txBody>
          <a:bodyPr/>
          <a:lstStyle/>
          <a:p>
            <a:pPr>
              <a:defRPr/>
            </a:pPr>
            <a:r>
              <a:rPr lang="en-GB" dirty="0"/>
              <a:t>Mini-Tutorial: D3 – </a:t>
            </a:r>
            <a:r>
              <a:rPr lang="en-GB" dirty="0" err="1"/>
              <a:t>Interaktivität</a:t>
            </a:r>
            <a:endParaRPr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1612535" name="Content Placeholder 4"/>
          <p:cNvSpPr txBox="1"/>
          <p:nvPr/>
        </p:nvSpPr>
        <p:spPr bwMode="auto">
          <a:xfrm>
            <a:off x="838200" y="639291"/>
            <a:ext cx="10515600" cy="621042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179387" indent="-179387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9249" indent="-168274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2400">
                <a:solidFill>
                  <a:schemeClr val="tx1"/>
                </a:solidFill>
                <a:latin typeface="+mn-lt"/>
              </a:defRPr>
            </a:lvl2pPr>
            <a:lvl3pPr marL="538162" indent="-187324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2400">
                <a:solidFill>
                  <a:schemeClr val="tx1"/>
                </a:solidFill>
                <a:latin typeface="+mn-lt"/>
              </a:defRPr>
            </a:lvl3pPr>
            <a:lvl4pPr marL="717549" indent="-173037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2000">
                <a:solidFill>
                  <a:schemeClr val="tx1"/>
                </a:solidFill>
                <a:latin typeface="+mn-lt"/>
              </a:defRPr>
            </a:lvl4pPr>
            <a:lvl5pPr marL="908049" indent="-188912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1365249" indent="-188912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</a:defRPr>
            </a:lvl6pPr>
            <a:lvl7pPr marL="1822449" indent="-188912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</a:defRPr>
            </a:lvl7pPr>
            <a:lvl8pPr marL="2279649" indent="-188912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</a:defRPr>
            </a:lvl8pPr>
            <a:lvl9pPr marL="2736849" indent="-188912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GB" sz="2000" b="0" i="0" u="none" strike="noStrike" cap="none" spc="0" dirty="0" err="1">
                <a:solidFill>
                  <a:schemeClr val="tx1"/>
                </a:solidFill>
                <a:latin typeface="+mj-lt"/>
                <a:ea typeface="Arial"/>
                <a:cs typeface="Arial"/>
              </a:rPr>
              <a:t>Hinzufügen</a:t>
            </a:r>
            <a:r>
              <a:rPr lang="en-GB" sz="2000" b="0" i="0" u="none" strike="noStrike" cap="none" spc="0" dirty="0">
                <a:solidFill>
                  <a:schemeClr val="tx1"/>
                </a:solidFill>
                <a:latin typeface="+mj-lt"/>
                <a:ea typeface="Arial"/>
                <a:cs typeface="Arial"/>
              </a:rPr>
              <a:t> von </a:t>
            </a:r>
            <a:r>
              <a:rPr lang="en-GB" sz="2000" b="0" i="0" u="none" strike="noStrike" cap="none" spc="0" dirty="0" err="1">
                <a:solidFill>
                  <a:schemeClr val="tx1"/>
                </a:solidFill>
                <a:latin typeface="+mj-lt"/>
                <a:ea typeface="Arial"/>
                <a:cs typeface="Arial"/>
              </a:rPr>
              <a:t>Interaktivität</a:t>
            </a:r>
            <a:r>
              <a:rPr lang="en-GB" sz="2000" b="0" i="0" u="none" strike="noStrike" cap="none" spc="0" dirty="0">
                <a:solidFill>
                  <a:schemeClr val="tx1"/>
                </a:solidFill>
                <a:latin typeface="+mj-lt"/>
                <a:ea typeface="Arial"/>
                <a:cs typeface="Arial"/>
              </a:rPr>
              <a:t>: </a:t>
            </a:r>
            <a:r>
              <a:rPr lang="en-GB" sz="2000" b="0" i="0" u="none" strike="noStrike" cap="none" spc="0" dirty="0" err="1">
                <a:solidFill>
                  <a:schemeClr val="tx1"/>
                </a:solidFill>
                <a:latin typeface="+mj-lt"/>
                <a:ea typeface="Arial"/>
                <a:cs typeface="Arial"/>
              </a:rPr>
              <a:t>Datensatz</a:t>
            </a:r>
            <a:r>
              <a:rPr lang="en-GB" sz="2000" b="0" i="0" u="none" strike="noStrike" cap="none" spc="0" dirty="0">
                <a:solidFill>
                  <a:schemeClr val="tx1"/>
                </a:solidFill>
                <a:latin typeface="+mj-lt"/>
                <a:ea typeface="Arial"/>
                <a:cs typeface="Arial"/>
              </a:rPr>
              <a:t> </a:t>
            </a:r>
            <a:r>
              <a:rPr lang="en-GB" sz="2000" b="0" i="0" u="none" strike="noStrike" cap="none" spc="0" dirty="0" err="1">
                <a:solidFill>
                  <a:schemeClr val="tx1"/>
                </a:solidFill>
                <a:latin typeface="+mj-lt"/>
                <a:ea typeface="Arial"/>
                <a:cs typeface="Arial"/>
              </a:rPr>
              <a:t>wechseln</a:t>
            </a:r>
            <a:br>
              <a:rPr lang="en-GB" sz="2000" dirty="0">
                <a:latin typeface="+mj-lt"/>
              </a:rPr>
            </a:br>
            <a:r>
              <a:rPr lang="en-GB" sz="2000" dirty="0">
                <a:latin typeface="+mj-lt"/>
              </a:rPr>
              <a:t>Um </a:t>
            </a:r>
            <a:r>
              <a:rPr lang="en-GB" sz="2000" dirty="0" err="1">
                <a:latin typeface="+mj-lt"/>
              </a:rPr>
              <a:t>zwischen</a:t>
            </a:r>
            <a:r>
              <a:rPr lang="en-GB" sz="2000" dirty="0">
                <a:latin typeface="+mj-lt"/>
              </a:rPr>
              <a:t> den </a:t>
            </a:r>
            <a:r>
              <a:rPr lang="en-GB" sz="2000" dirty="0" err="1">
                <a:latin typeface="+mj-lt"/>
              </a:rPr>
              <a:t>Datensätzen</a:t>
            </a:r>
            <a:r>
              <a:rPr lang="en-GB" sz="2000" dirty="0">
                <a:latin typeface="+mj-lt"/>
              </a:rPr>
              <a:t> </a:t>
            </a:r>
            <a:r>
              <a:rPr lang="en-GB" sz="2000" dirty="0" err="1">
                <a:latin typeface="+mj-lt"/>
              </a:rPr>
              <a:t>zu</a:t>
            </a:r>
            <a:r>
              <a:rPr lang="en-GB" sz="2000" dirty="0">
                <a:latin typeface="+mj-lt"/>
              </a:rPr>
              <a:t> </a:t>
            </a:r>
            <a:r>
              <a:rPr lang="en-GB" sz="2000" dirty="0" err="1">
                <a:latin typeface="+mj-lt"/>
              </a:rPr>
              <a:t>wechseln</a:t>
            </a:r>
            <a:r>
              <a:rPr lang="en-GB" sz="2000" dirty="0">
                <a:latin typeface="+mj-lt"/>
              </a:rPr>
              <a:t>, </a:t>
            </a:r>
            <a:r>
              <a:rPr lang="en-GB" sz="2000" dirty="0" err="1">
                <a:latin typeface="+mj-lt"/>
              </a:rPr>
              <a:t>sind</a:t>
            </a:r>
            <a:r>
              <a:rPr lang="en-GB" sz="2000" dirty="0">
                <a:latin typeface="+mj-lt"/>
              </a:rPr>
              <a:t> </a:t>
            </a:r>
            <a:r>
              <a:rPr lang="en-GB" sz="2000" dirty="0" err="1">
                <a:latin typeface="+mj-lt"/>
              </a:rPr>
              <a:t>zwei</a:t>
            </a:r>
            <a:r>
              <a:rPr lang="en-GB" sz="2000" dirty="0">
                <a:latin typeface="+mj-lt"/>
              </a:rPr>
              <a:t> </a:t>
            </a:r>
            <a:r>
              <a:rPr lang="en-GB" sz="2000" dirty="0" err="1">
                <a:latin typeface="+mj-lt"/>
              </a:rPr>
              <a:t>weitere</a:t>
            </a:r>
            <a:r>
              <a:rPr lang="en-GB" sz="2000" dirty="0">
                <a:latin typeface="+mj-lt"/>
              </a:rPr>
              <a:t> </a:t>
            </a:r>
            <a:r>
              <a:rPr lang="en-GB" sz="2000" dirty="0" err="1">
                <a:latin typeface="+mj-lt"/>
              </a:rPr>
              <a:t>Zeilen</a:t>
            </a:r>
            <a:r>
              <a:rPr lang="en-GB" sz="2000" dirty="0">
                <a:latin typeface="+mj-lt"/>
              </a:rPr>
              <a:t> </a:t>
            </a:r>
            <a:r>
              <a:rPr lang="en-GB" sz="2000" dirty="0" err="1">
                <a:latin typeface="+mj-lt"/>
              </a:rPr>
              <a:t>nötig</a:t>
            </a:r>
            <a:r>
              <a:rPr lang="en-GB" sz="2000" dirty="0">
                <a:latin typeface="+mj-lt"/>
              </a:rPr>
              <a:t>:</a:t>
            </a:r>
            <a:br>
              <a:rPr lang="en-GB" sz="2000" dirty="0">
                <a:latin typeface="+mj-lt"/>
              </a:rPr>
            </a:br>
            <a:endParaRPr lang="en-GB" sz="2000" dirty="0">
              <a:latin typeface="+mj-lt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en-GB" sz="2000" dirty="0">
              <a:latin typeface="+mj-lt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en-GB" sz="2000" dirty="0">
              <a:latin typeface="+mj-lt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en-GB" sz="2000" dirty="0">
              <a:latin typeface="+mj-lt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GB" sz="2000" dirty="0">
                <a:latin typeface="+mj-lt"/>
              </a:rPr>
              <a:t>Enter(): </a:t>
            </a:r>
            <a:r>
              <a:rPr lang="en-GB" sz="2000" dirty="0" err="1">
                <a:latin typeface="+mj-lt"/>
              </a:rPr>
              <a:t>Erzeuge</a:t>
            </a:r>
            <a:r>
              <a:rPr lang="en-GB" sz="2000" dirty="0">
                <a:latin typeface="+mj-lt"/>
              </a:rPr>
              <a:t> .bar </a:t>
            </a:r>
            <a:r>
              <a:rPr lang="en-GB" sz="2000" dirty="0" err="1">
                <a:latin typeface="+mj-lt"/>
              </a:rPr>
              <a:t>Elemente</a:t>
            </a:r>
            <a:r>
              <a:rPr lang="en-GB" sz="2000" dirty="0">
                <a:latin typeface="+mj-lt"/>
              </a:rPr>
              <a:t> </a:t>
            </a:r>
            <a:r>
              <a:rPr lang="en-GB" sz="2000" dirty="0" err="1">
                <a:latin typeface="+mj-lt"/>
              </a:rPr>
              <a:t>für</a:t>
            </a:r>
            <a:r>
              <a:rPr lang="en-GB" sz="2000" dirty="0">
                <a:latin typeface="+mj-lt"/>
              </a:rPr>
              <a:t> </a:t>
            </a:r>
            <a:r>
              <a:rPr lang="en-GB" sz="2000" dirty="0" err="1">
                <a:latin typeface="+mj-lt"/>
              </a:rPr>
              <a:t>alle</a:t>
            </a:r>
            <a:r>
              <a:rPr lang="en-GB" sz="2000" dirty="0">
                <a:latin typeface="+mj-lt"/>
              </a:rPr>
              <a:t> </a:t>
            </a:r>
            <a:r>
              <a:rPr lang="en-GB" sz="2000" dirty="0" err="1">
                <a:latin typeface="+mj-lt"/>
              </a:rPr>
              <a:t>Datenpunkte</a:t>
            </a:r>
            <a:r>
              <a:rPr lang="en-GB" sz="2000" dirty="0">
                <a:latin typeface="+mj-lt"/>
              </a:rPr>
              <a:t>, die </a:t>
            </a:r>
            <a:r>
              <a:rPr lang="en-GB" sz="2000" dirty="0" err="1">
                <a:latin typeface="+mj-lt"/>
              </a:rPr>
              <a:t>noch</a:t>
            </a:r>
            <a:r>
              <a:rPr lang="en-GB" sz="2000" dirty="0">
                <a:latin typeface="+mj-lt"/>
              </a:rPr>
              <a:t> </a:t>
            </a:r>
            <a:r>
              <a:rPr lang="en-GB" sz="2000" dirty="0" err="1">
                <a:latin typeface="+mj-lt"/>
              </a:rPr>
              <a:t>nicht</a:t>
            </a:r>
            <a:r>
              <a:rPr lang="en-GB" sz="2000" dirty="0">
                <a:latin typeface="+mj-lt"/>
              </a:rPr>
              <a:t> </a:t>
            </a:r>
            <a:r>
              <a:rPr lang="en-GB" sz="2000" dirty="0" err="1">
                <a:latin typeface="+mj-lt"/>
              </a:rPr>
              <a:t>existiert</a:t>
            </a:r>
            <a:r>
              <a:rPr lang="en-GB" sz="2000" dirty="0">
                <a:latin typeface="+mj-lt"/>
              </a:rPr>
              <a:t> </a:t>
            </a:r>
            <a:r>
              <a:rPr lang="en-GB" sz="2000" dirty="0" err="1">
                <a:latin typeface="+mj-lt"/>
              </a:rPr>
              <a:t>haben</a:t>
            </a:r>
            <a:endParaRPr sz="2000" dirty="0">
              <a:latin typeface="+mj-lt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GB" sz="2000" dirty="0">
                <a:latin typeface="+mj-lt"/>
              </a:rPr>
              <a:t>merge(bars): </a:t>
            </a:r>
            <a:r>
              <a:rPr lang="en-GB" sz="2000" dirty="0" err="1">
                <a:latin typeface="+mj-lt"/>
              </a:rPr>
              <a:t>Wähle</a:t>
            </a:r>
            <a:r>
              <a:rPr lang="en-GB" sz="2000" dirty="0">
                <a:latin typeface="+mj-lt"/>
              </a:rPr>
              <a:t> </a:t>
            </a:r>
            <a:r>
              <a:rPr lang="en-GB" sz="2000" dirty="0" err="1">
                <a:latin typeface="+mj-lt"/>
              </a:rPr>
              <a:t>alle</a:t>
            </a:r>
            <a:r>
              <a:rPr lang="en-GB" sz="2000" dirty="0">
                <a:latin typeface="+mj-lt"/>
              </a:rPr>
              <a:t> .bar </a:t>
            </a:r>
            <a:r>
              <a:rPr lang="en-GB" sz="2000" dirty="0" err="1">
                <a:latin typeface="+mj-lt"/>
              </a:rPr>
              <a:t>Elemente</a:t>
            </a:r>
            <a:r>
              <a:rPr lang="en-GB" sz="2000" dirty="0">
                <a:latin typeface="+mj-lt"/>
              </a:rPr>
              <a:t>, </a:t>
            </a:r>
            <a:r>
              <a:rPr lang="en-GB" sz="2000" dirty="0" err="1">
                <a:latin typeface="+mj-lt"/>
              </a:rPr>
              <a:t>auch</a:t>
            </a:r>
            <a:r>
              <a:rPr lang="en-GB" sz="2000" dirty="0">
                <a:latin typeface="+mj-lt"/>
              </a:rPr>
              <a:t> die </a:t>
            </a:r>
            <a:r>
              <a:rPr lang="en-GB" sz="2000" dirty="0" err="1">
                <a:latin typeface="+mj-lt"/>
              </a:rPr>
              <a:t>bereits</a:t>
            </a:r>
            <a:r>
              <a:rPr lang="en-GB" sz="2000" dirty="0">
                <a:latin typeface="+mj-lt"/>
              </a:rPr>
              <a:t> </a:t>
            </a:r>
            <a:r>
              <a:rPr lang="en-GB" sz="2000" dirty="0" err="1">
                <a:latin typeface="+mj-lt"/>
              </a:rPr>
              <a:t>existiert</a:t>
            </a:r>
            <a:r>
              <a:rPr lang="en-GB" sz="2000" dirty="0">
                <a:latin typeface="+mj-lt"/>
              </a:rPr>
              <a:t> </a:t>
            </a:r>
            <a:r>
              <a:rPr lang="en-GB" sz="2000" dirty="0" err="1">
                <a:latin typeface="+mj-lt"/>
              </a:rPr>
              <a:t>hatten</a:t>
            </a:r>
            <a:endParaRPr sz="2000" dirty="0">
              <a:latin typeface="+mj-lt"/>
            </a:endParaRPr>
          </a:p>
          <a:p>
            <a:pPr lvl="1">
              <a:buFont typeface="Arial" panose="020B0604020202020204" pitchFamily="34" charset="0"/>
              <a:buChar char="•"/>
              <a:defRPr/>
            </a:pPr>
            <a:r>
              <a:rPr lang="en-GB" sz="2000" dirty="0" err="1">
                <a:latin typeface="+mj-lt"/>
              </a:rPr>
              <a:t>Für</a:t>
            </a:r>
            <a:r>
              <a:rPr lang="en-GB" sz="2000" dirty="0">
                <a:latin typeface="+mj-lt"/>
              </a:rPr>
              <a:t> den Fall, </a:t>
            </a:r>
            <a:r>
              <a:rPr lang="en-GB" sz="2000" dirty="0" err="1">
                <a:latin typeface="+mj-lt"/>
              </a:rPr>
              <a:t>dass</a:t>
            </a:r>
            <a:r>
              <a:rPr lang="en-GB" sz="2000" dirty="0">
                <a:latin typeface="+mj-lt"/>
              </a:rPr>
              <a:t> </a:t>
            </a:r>
            <a:r>
              <a:rPr lang="en-GB" sz="2000" dirty="0" err="1">
                <a:latin typeface="+mj-lt"/>
              </a:rPr>
              <a:t>nicht</a:t>
            </a:r>
            <a:r>
              <a:rPr lang="en-GB" sz="2000" dirty="0">
                <a:latin typeface="+mj-lt"/>
              </a:rPr>
              <a:t> der </a:t>
            </a:r>
            <a:r>
              <a:rPr lang="en-GB" sz="2000" dirty="0" err="1">
                <a:latin typeface="+mj-lt"/>
              </a:rPr>
              <a:t>ganze</a:t>
            </a:r>
            <a:r>
              <a:rPr lang="en-GB" sz="2000" dirty="0">
                <a:latin typeface="+mj-lt"/>
              </a:rPr>
              <a:t> </a:t>
            </a:r>
            <a:r>
              <a:rPr lang="en-GB" sz="2000" dirty="0" err="1">
                <a:latin typeface="+mj-lt"/>
              </a:rPr>
              <a:t>Datensatz</a:t>
            </a:r>
            <a:r>
              <a:rPr lang="en-GB" sz="2000" dirty="0">
                <a:latin typeface="+mj-lt"/>
              </a:rPr>
              <a:t> neu </a:t>
            </a:r>
            <a:r>
              <a:rPr lang="en-GB" sz="2000" dirty="0" err="1">
                <a:latin typeface="+mj-lt"/>
              </a:rPr>
              <a:t>ist</a:t>
            </a:r>
            <a:endParaRPr sz="2000" dirty="0">
              <a:latin typeface="+mj-lt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en-GB" sz="2000" dirty="0">
              <a:solidFill>
                <a:srgbClr val="0070C0"/>
              </a:solidFill>
              <a:latin typeface="+mj-lt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000" dirty="0" err="1">
                <a:latin typeface="+mj-lt"/>
              </a:rPr>
              <a:t>Bars.exit</a:t>
            </a:r>
            <a:r>
              <a:rPr lang="en-US" sz="2000" dirty="0">
                <a:latin typeface="+mj-lt"/>
              </a:rPr>
              <a:t>(): </a:t>
            </a:r>
            <a:r>
              <a:rPr lang="en-US" sz="2000" dirty="0" err="1">
                <a:latin typeface="+mj-lt"/>
              </a:rPr>
              <a:t>Wähle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alle</a:t>
            </a:r>
            <a:r>
              <a:rPr lang="en-US" sz="2000" dirty="0">
                <a:latin typeface="+mj-lt"/>
              </a:rPr>
              <a:t> .bar </a:t>
            </a:r>
            <a:r>
              <a:rPr lang="en-US" sz="2000" dirty="0" err="1">
                <a:latin typeface="+mj-lt"/>
              </a:rPr>
              <a:t>Elemente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aus</a:t>
            </a:r>
            <a:r>
              <a:rPr lang="en-US" sz="2000" dirty="0">
                <a:latin typeface="+mj-lt"/>
              </a:rPr>
              <a:t>, </a:t>
            </a:r>
            <a:r>
              <a:rPr lang="en-US" sz="2000" dirty="0" err="1">
                <a:latin typeface="+mj-lt"/>
              </a:rPr>
              <a:t>mit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denen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keine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Daten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verknüpft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sind</a:t>
            </a:r>
            <a:endParaRPr lang="en-US" sz="2000" dirty="0">
              <a:latin typeface="+mj-lt"/>
            </a:endParaRPr>
          </a:p>
          <a:p>
            <a:pPr lvl="1">
              <a:buFont typeface="Arial" panose="020B0604020202020204" pitchFamily="34" charset="0"/>
              <a:buChar char="•"/>
              <a:defRPr/>
            </a:pPr>
            <a:r>
              <a:rPr lang="en-US" sz="2000" dirty="0" err="1">
                <a:latin typeface="+mj-lt"/>
              </a:rPr>
              <a:t>Für</a:t>
            </a:r>
            <a:r>
              <a:rPr lang="en-US" sz="2000" dirty="0">
                <a:latin typeface="+mj-lt"/>
              </a:rPr>
              <a:t> den Fall, das der </a:t>
            </a:r>
            <a:r>
              <a:rPr lang="en-US" sz="2000" dirty="0" err="1">
                <a:latin typeface="+mj-lt"/>
              </a:rPr>
              <a:t>aktuelle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Datensatz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weniger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Balken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benötigt</a:t>
            </a:r>
            <a:endParaRPr lang="en-US" sz="2000" dirty="0">
              <a:latin typeface="+mj-lt"/>
            </a:endParaRPr>
          </a:p>
          <a:p>
            <a:pPr marL="180975" lvl="1" indent="0">
              <a:buNone/>
              <a:defRPr/>
            </a:pPr>
            <a:endParaRPr lang="en-US" sz="2000" dirty="0">
              <a:latin typeface="+mj-lt"/>
            </a:endParaRPr>
          </a:p>
          <a:p>
            <a:pPr marL="11113" indent="0">
              <a:buNone/>
              <a:defRPr/>
            </a:pPr>
            <a:endParaRPr lang="de-DE" sz="2000" dirty="0">
              <a:latin typeface="+mj-lt"/>
            </a:endParaRPr>
          </a:p>
          <a:p>
            <a:pPr marL="11113" indent="0">
              <a:buNone/>
              <a:defRPr/>
            </a:pPr>
            <a:endParaRPr lang="en-US" sz="2000" dirty="0">
              <a:latin typeface="+mj-lt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en-GB" sz="2000" dirty="0">
              <a:latin typeface="+mj-lt"/>
            </a:endParaRPr>
          </a:p>
        </p:txBody>
      </p:sp>
      <p:pic>
        <p:nvPicPr>
          <p:cNvPr id="1543242984" name="Picture 8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924089" y="1312311"/>
            <a:ext cx="3167769" cy="1207603"/>
          </a:xfrm>
          <a:prstGeom prst="rect">
            <a:avLst/>
          </a:prstGeom>
        </p:spPr>
      </p:pic>
      <p:pic>
        <p:nvPicPr>
          <p:cNvPr id="492020886" name="Picture 9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650414" y="4099480"/>
            <a:ext cx="1990724" cy="314324"/>
          </a:xfrm>
          <a:prstGeom prst="rect">
            <a:avLst/>
          </a:prstGeom>
        </p:spPr>
      </p:pic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8DC747D3-83DD-4F77-85DF-0758E470CE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33FA4B0-7731-EC49-88EA-B5E921ABE78A}" type="slidenum">
              <a:rPr lang="de-DE" smtClean="0"/>
              <a:pPr/>
              <a:t>54</a:t>
            </a:fld>
            <a:endParaRPr lang="de-DE" dirty="0"/>
          </a:p>
        </p:txBody>
      </p:sp>
      <p:sp>
        <p:nvSpPr>
          <p:cNvPr id="12" name="Title 3">
            <a:extLst>
              <a:ext uri="{FF2B5EF4-FFF2-40B4-BE49-F238E27FC236}">
                <a16:creationId xmlns:a16="http://schemas.microsoft.com/office/drawing/2014/main" id="{A21235F5-3918-435F-8723-E46E3FF43199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838200" y="59502"/>
            <a:ext cx="10515600" cy="562032"/>
          </a:xfrm>
        </p:spPr>
        <p:txBody>
          <a:bodyPr/>
          <a:lstStyle/>
          <a:p>
            <a:pPr>
              <a:defRPr/>
            </a:pPr>
            <a:r>
              <a:rPr lang="en-GB" dirty="0"/>
              <a:t>Mini-Tutorial: D3 – </a:t>
            </a:r>
            <a:r>
              <a:rPr lang="en-GB" dirty="0" err="1"/>
              <a:t>Interaktivität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0476409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1612535" name="Content Placeholder 4"/>
          <p:cNvSpPr txBox="1"/>
          <p:nvPr/>
        </p:nvSpPr>
        <p:spPr bwMode="auto">
          <a:xfrm>
            <a:off x="838200" y="639291"/>
            <a:ext cx="10515600" cy="621042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179387" indent="-179387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9249" indent="-168274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2400">
                <a:solidFill>
                  <a:schemeClr val="tx1"/>
                </a:solidFill>
                <a:latin typeface="+mn-lt"/>
              </a:defRPr>
            </a:lvl2pPr>
            <a:lvl3pPr marL="538162" indent="-187324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2400">
                <a:solidFill>
                  <a:schemeClr val="tx1"/>
                </a:solidFill>
                <a:latin typeface="+mn-lt"/>
              </a:defRPr>
            </a:lvl3pPr>
            <a:lvl4pPr marL="717549" indent="-173037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2000">
                <a:solidFill>
                  <a:schemeClr val="tx1"/>
                </a:solidFill>
                <a:latin typeface="+mn-lt"/>
              </a:defRPr>
            </a:lvl4pPr>
            <a:lvl5pPr marL="908049" indent="-188912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1365249" indent="-188912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</a:defRPr>
            </a:lvl6pPr>
            <a:lvl7pPr marL="1822449" indent="-188912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</a:defRPr>
            </a:lvl7pPr>
            <a:lvl8pPr marL="2279649" indent="-188912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</a:defRPr>
            </a:lvl8pPr>
            <a:lvl9pPr marL="2736849" indent="-188912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GB" sz="2000" b="0" i="0" u="none" strike="noStrike" cap="none" spc="0" dirty="0" err="1">
                <a:solidFill>
                  <a:schemeClr val="tx1"/>
                </a:solidFill>
                <a:latin typeface="+mj-lt"/>
                <a:ea typeface="Arial"/>
                <a:cs typeface="Arial"/>
              </a:rPr>
              <a:t>Hinzufügen</a:t>
            </a:r>
            <a:r>
              <a:rPr lang="en-GB" sz="2000" b="0" i="0" u="none" strike="noStrike" cap="none" spc="0" dirty="0">
                <a:solidFill>
                  <a:schemeClr val="tx1"/>
                </a:solidFill>
                <a:latin typeface="+mj-lt"/>
                <a:ea typeface="Arial"/>
                <a:cs typeface="Arial"/>
              </a:rPr>
              <a:t> von </a:t>
            </a:r>
            <a:r>
              <a:rPr lang="en-GB" sz="2000" b="0" i="0" u="none" strike="noStrike" cap="none" spc="0" dirty="0" err="1">
                <a:solidFill>
                  <a:schemeClr val="tx1"/>
                </a:solidFill>
                <a:latin typeface="+mj-lt"/>
                <a:ea typeface="Arial"/>
                <a:cs typeface="Arial"/>
              </a:rPr>
              <a:t>Interaktivität</a:t>
            </a:r>
            <a:r>
              <a:rPr lang="en-GB" sz="2000" b="0" i="0" u="none" strike="noStrike" cap="none" spc="0" dirty="0">
                <a:solidFill>
                  <a:schemeClr val="tx1"/>
                </a:solidFill>
                <a:latin typeface="+mj-lt"/>
                <a:ea typeface="Arial"/>
                <a:cs typeface="Arial"/>
              </a:rPr>
              <a:t>: </a:t>
            </a:r>
            <a:r>
              <a:rPr lang="en-GB" sz="2000" b="0" i="0" u="none" strike="noStrike" cap="none" spc="0" dirty="0" err="1">
                <a:solidFill>
                  <a:schemeClr val="tx1"/>
                </a:solidFill>
                <a:latin typeface="+mj-lt"/>
                <a:ea typeface="Arial"/>
                <a:cs typeface="Arial"/>
              </a:rPr>
              <a:t>Datensatz</a:t>
            </a:r>
            <a:r>
              <a:rPr lang="en-GB" sz="2000" b="0" i="0" u="none" strike="noStrike" cap="none" spc="0" dirty="0">
                <a:solidFill>
                  <a:schemeClr val="tx1"/>
                </a:solidFill>
                <a:latin typeface="+mj-lt"/>
                <a:ea typeface="Arial"/>
                <a:cs typeface="Arial"/>
              </a:rPr>
              <a:t> </a:t>
            </a:r>
            <a:r>
              <a:rPr lang="en-GB" sz="2000" b="0" i="0" u="none" strike="noStrike" cap="none" spc="0" dirty="0" err="1">
                <a:solidFill>
                  <a:schemeClr val="tx1"/>
                </a:solidFill>
                <a:latin typeface="+mj-lt"/>
                <a:ea typeface="Arial"/>
                <a:cs typeface="Arial"/>
              </a:rPr>
              <a:t>wechseln</a:t>
            </a:r>
            <a:br>
              <a:rPr lang="en-GB" sz="2000" dirty="0">
                <a:latin typeface="+mj-lt"/>
              </a:rPr>
            </a:br>
            <a:r>
              <a:rPr lang="en-GB" sz="2000" dirty="0">
                <a:latin typeface="+mj-lt"/>
              </a:rPr>
              <a:t>Um </a:t>
            </a:r>
            <a:r>
              <a:rPr lang="en-GB" sz="2000" dirty="0" err="1">
                <a:latin typeface="+mj-lt"/>
              </a:rPr>
              <a:t>zwischen</a:t>
            </a:r>
            <a:r>
              <a:rPr lang="en-GB" sz="2000" dirty="0">
                <a:latin typeface="+mj-lt"/>
              </a:rPr>
              <a:t> den </a:t>
            </a:r>
            <a:r>
              <a:rPr lang="en-GB" sz="2000" dirty="0" err="1">
                <a:latin typeface="+mj-lt"/>
              </a:rPr>
              <a:t>Datensätzen</a:t>
            </a:r>
            <a:r>
              <a:rPr lang="en-GB" sz="2000" dirty="0">
                <a:latin typeface="+mj-lt"/>
              </a:rPr>
              <a:t> </a:t>
            </a:r>
            <a:r>
              <a:rPr lang="en-GB" sz="2000" dirty="0" err="1">
                <a:latin typeface="+mj-lt"/>
              </a:rPr>
              <a:t>zu</a:t>
            </a:r>
            <a:r>
              <a:rPr lang="en-GB" sz="2000" dirty="0">
                <a:latin typeface="+mj-lt"/>
              </a:rPr>
              <a:t> </a:t>
            </a:r>
            <a:r>
              <a:rPr lang="en-GB" sz="2000" dirty="0" err="1">
                <a:latin typeface="+mj-lt"/>
              </a:rPr>
              <a:t>wechseln</a:t>
            </a:r>
            <a:r>
              <a:rPr lang="en-GB" sz="2000" dirty="0">
                <a:latin typeface="+mj-lt"/>
              </a:rPr>
              <a:t>, </a:t>
            </a:r>
            <a:r>
              <a:rPr lang="en-GB" sz="2000" dirty="0" err="1">
                <a:latin typeface="+mj-lt"/>
              </a:rPr>
              <a:t>sind</a:t>
            </a:r>
            <a:r>
              <a:rPr lang="en-GB" sz="2000" dirty="0">
                <a:latin typeface="+mj-lt"/>
              </a:rPr>
              <a:t> </a:t>
            </a:r>
            <a:r>
              <a:rPr lang="en-GB" sz="2000" dirty="0" err="1">
                <a:latin typeface="+mj-lt"/>
              </a:rPr>
              <a:t>zwei</a:t>
            </a:r>
            <a:r>
              <a:rPr lang="en-GB" sz="2000" dirty="0">
                <a:latin typeface="+mj-lt"/>
              </a:rPr>
              <a:t> </a:t>
            </a:r>
            <a:r>
              <a:rPr lang="en-GB" sz="2000" dirty="0" err="1">
                <a:latin typeface="+mj-lt"/>
              </a:rPr>
              <a:t>weitere</a:t>
            </a:r>
            <a:r>
              <a:rPr lang="en-GB" sz="2000" dirty="0">
                <a:latin typeface="+mj-lt"/>
              </a:rPr>
              <a:t> </a:t>
            </a:r>
            <a:r>
              <a:rPr lang="en-GB" sz="2000" dirty="0" err="1">
                <a:latin typeface="+mj-lt"/>
              </a:rPr>
              <a:t>Zeilen</a:t>
            </a:r>
            <a:r>
              <a:rPr lang="en-GB" sz="2000" dirty="0">
                <a:latin typeface="+mj-lt"/>
              </a:rPr>
              <a:t> </a:t>
            </a:r>
            <a:r>
              <a:rPr lang="en-GB" sz="2000" dirty="0" err="1">
                <a:latin typeface="+mj-lt"/>
              </a:rPr>
              <a:t>nötig</a:t>
            </a:r>
            <a:r>
              <a:rPr lang="en-GB" sz="2000" dirty="0">
                <a:latin typeface="+mj-lt"/>
              </a:rPr>
              <a:t>:</a:t>
            </a:r>
            <a:br>
              <a:rPr lang="en-GB" sz="2000" dirty="0">
                <a:latin typeface="+mj-lt"/>
              </a:rPr>
            </a:br>
            <a:endParaRPr lang="en-GB" sz="2000" dirty="0">
              <a:latin typeface="+mj-lt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en-GB" sz="2000" dirty="0">
              <a:latin typeface="+mj-lt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en-GB" sz="2000" dirty="0">
              <a:latin typeface="+mj-lt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en-GB" sz="2000" dirty="0">
              <a:latin typeface="+mj-lt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GB" sz="2000" dirty="0">
                <a:latin typeface="+mj-lt"/>
              </a:rPr>
              <a:t>Enter(): </a:t>
            </a:r>
            <a:r>
              <a:rPr lang="en-GB" sz="2000" dirty="0" err="1">
                <a:latin typeface="+mj-lt"/>
              </a:rPr>
              <a:t>Erzeuge</a:t>
            </a:r>
            <a:r>
              <a:rPr lang="en-GB" sz="2000" dirty="0">
                <a:latin typeface="+mj-lt"/>
              </a:rPr>
              <a:t> .bar </a:t>
            </a:r>
            <a:r>
              <a:rPr lang="en-GB" sz="2000" dirty="0" err="1">
                <a:latin typeface="+mj-lt"/>
              </a:rPr>
              <a:t>Elemente</a:t>
            </a:r>
            <a:r>
              <a:rPr lang="en-GB" sz="2000" dirty="0">
                <a:latin typeface="+mj-lt"/>
              </a:rPr>
              <a:t> </a:t>
            </a:r>
            <a:r>
              <a:rPr lang="en-GB" sz="2000" dirty="0" err="1">
                <a:latin typeface="+mj-lt"/>
              </a:rPr>
              <a:t>für</a:t>
            </a:r>
            <a:r>
              <a:rPr lang="en-GB" sz="2000" dirty="0">
                <a:latin typeface="+mj-lt"/>
              </a:rPr>
              <a:t> </a:t>
            </a:r>
            <a:r>
              <a:rPr lang="en-GB" sz="2000" dirty="0" err="1">
                <a:latin typeface="+mj-lt"/>
              </a:rPr>
              <a:t>alle</a:t>
            </a:r>
            <a:r>
              <a:rPr lang="en-GB" sz="2000" dirty="0">
                <a:latin typeface="+mj-lt"/>
              </a:rPr>
              <a:t> </a:t>
            </a:r>
            <a:r>
              <a:rPr lang="en-GB" sz="2000" dirty="0" err="1">
                <a:latin typeface="+mj-lt"/>
              </a:rPr>
              <a:t>Datenpunkte</a:t>
            </a:r>
            <a:r>
              <a:rPr lang="en-GB" sz="2000" dirty="0">
                <a:latin typeface="+mj-lt"/>
              </a:rPr>
              <a:t>, die </a:t>
            </a:r>
            <a:r>
              <a:rPr lang="en-GB" sz="2000" dirty="0" err="1">
                <a:latin typeface="+mj-lt"/>
              </a:rPr>
              <a:t>noch</a:t>
            </a:r>
            <a:r>
              <a:rPr lang="en-GB" sz="2000" dirty="0">
                <a:latin typeface="+mj-lt"/>
              </a:rPr>
              <a:t> </a:t>
            </a:r>
            <a:r>
              <a:rPr lang="en-GB" sz="2000" dirty="0" err="1">
                <a:latin typeface="+mj-lt"/>
              </a:rPr>
              <a:t>nicht</a:t>
            </a:r>
            <a:r>
              <a:rPr lang="en-GB" sz="2000" dirty="0">
                <a:latin typeface="+mj-lt"/>
              </a:rPr>
              <a:t> </a:t>
            </a:r>
            <a:r>
              <a:rPr lang="en-GB" sz="2000" dirty="0" err="1">
                <a:latin typeface="+mj-lt"/>
              </a:rPr>
              <a:t>existiert</a:t>
            </a:r>
            <a:r>
              <a:rPr lang="en-GB" sz="2000" dirty="0">
                <a:latin typeface="+mj-lt"/>
              </a:rPr>
              <a:t> </a:t>
            </a:r>
            <a:r>
              <a:rPr lang="en-GB" sz="2000" dirty="0" err="1">
                <a:latin typeface="+mj-lt"/>
              </a:rPr>
              <a:t>haben</a:t>
            </a:r>
            <a:endParaRPr sz="2000" dirty="0">
              <a:latin typeface="+mj-lt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GB" sz="2000" dirty="0">
                <a:latin typeface="+mj-lt"/>
              </a:rPr>
              <a:t>merge(bars): </a:t>
            </a:r>
            <a:r>
              <a:rPr lang="en-GB" sz="2000" dirty="0" err="1">
                <a:latin typeface="+mj-lt"/>
              </a:rPr>
              <a:t>Wähle</a:t>
            </a:r>
            <a:r>
              <a:rPr lang="en-GB" sz="2000" dirty="0">
                <a:latin typeface="+mj-lt"/>
              </a:rPr>
              <a:t> </a:t>
            </a:r>
            <a:r>
              <a:rPr lang="en-GB" sz="2000" dirty="0" err="1">
                <a:latin typeface="+mj-lt"/>
              </a:rPr>
              <a:t>alle</a:t>
            </a:r>
            <a:r>
              <a:rPr lang="en-GB" sz="2000" dirty="0">
                <a:latin typeface="+mj-lt"/>
              </a:rPr>
              <a:t> .bar </a:t>
            </a:r>
            <a:r>
              <a:rPr lang="en-GB" sz="2000" dirty="0" err="1">
                <a:latin typeface="+mj-lt"/>
              </a:rPr>
              <a:t>Elemente</a:t>
            </a:r>
            <a:r>
              <a:rPr lang="en-GB" sz="2000" dirty="0">
                <a:latin typeface="+mj-lt"/>
              </a:rPr>
              <a:t>, </a:t>
            </a:r>
            <a:r>
              <a:rPr lang="en-GB" sz="2000" dirty="0" err="1">
                <a:latin typeface="+mj-lt"/>
              </a:rPr>
              <a:t>auch</a:t>
            </a:r>
            <a:r>
              <a:rPr lang="en-GB" sz="2000" dirty="0">
                <a:latin typeface="+mj-lt"/>
              </a:rPr>
              <a:t> die </a:t>
            </a:r>
            <a:r>
              <a:rPr lang="en-GB" sz="2000" dirty="0" err="1">
                <a:latin typeface="+mj-lt"/>
              </a:rPr>
              <a:t>bereits</a:t>
            </a:r>
            <a:r>
              <a:rPr lang="en-GB" sz="2000" dirty="0">
                <a:latin typeface="+mj-lt"/>
              </a:rPr>
              <a:t> </a:t>
            </a:r>
            <a:r>
              <a:rPr lang="en-GB" sz="2000" dirty="0" err="1">
                <a:latin typeface="+mj-lt"/>
              </a:rPr>
              <a:t>existiert</a:t>
            </a:r>
            <a:r>
              <a:rPr lang="en-GB" sz="2000" dirty="0">
                <a:latin typeface="+mj-lt"/>
              </a:rPr>
              <a:t> </a:t>
            </a:r>
            <a:r>
              <a:rPr lang="en-GB" sz="2000" dirty="0" err="1">
                <a:latin typeface="+mj-lt"/>
              </a:rPr>
              <a:t>hatten</a:t>
            </a:r>
            <a:endParaRPr sz="2000" dirty="0">
              <a:latin typeface="+mj-lt"/>
            </a:endParaRPr>
          </a:p>
          <a:p>
            <a:pPr lvl="1">
              <a:buFont typeface="Arial" panose="020B0604020202020204" pitchFamily="34" charset="0"/>
              <a:buChar char="•"/>
              <a:defRPr/>
            </a:pPr>
            <a:r>
              <a:rPr lang="en-GB" sz="2000" dirty="0" err="1">
                <a:latin typeface="+mj-lt"/>
              </a:rPr>
              <a:t>Für</a:t>
            </a:r>
            <a:r>
              <a:rPr lang="en-GB" sz="2000" dirty="0">
                <a:latin typeface="+mj-lt"/>
              </a:rPr>
              <a:t> den Fall, </a:t>
            </a:r>
            <a:r>
              <a:rPr lang="en-GB" sz="2000" dirty="0" err="1">
                <a:latin typeface="+mj-lt"/>
              </a:rPr>
              <a:t>dass</a:t>
            </a:r>
            <a:r>
              <a:rPr lang="en-GB" sz="2000" dirty="0">
                <a:latin typeface="+mj-lt"/>
              </a:rPr>
              <a:t> </a:t>
            </a:r>
            <a:r>
              <a:rPr lang="en-GB" sz="2000" dirty="0" err="1">
                <a:latin typeface="+mj-lt"/>
              </a:rPr>
              <a:t>nicht</a:t>
            </a:r>
            <a:r>
              <a:rPr lang="en-GB" sz="2000" dirty="0">
                <a:latin typeface="+mj-lt"/>
              </a:rPr>
              <a:t> der </a:t>
            </a:r>
            <a:r>
              <a:rPr lang="en-GB" sz="2000" dirty="0" err="1">
                <a:latin typeface="+mj-lt"/>
              </a:rPr>
              <a:t>ganze</a:t>
            </a:r>
            <a:r>
              <a:rPr lang="en-GB" sz="2000" dirty="0">
                <a:latin typeface="+mj-lt"/>
              </a:rPr>
              <a:t> </a:t>
            </a:r>
            <a:r>
              <a:rPr lang="en-GB" sz="2000" dirty="0" err="1">
                <a:latin typeface="+mj-lt"/>
              </a:rPr>
              <a:t>Datensatz</a:t>
            </a:r>
            <a:r>
              <a:rPr lang="en-GB" sz="2000" dirty="0">
                <a:latin typeface="+mj-lt"/>
              </a:rPr>
              <a:t> neu </a:t>
            </a:r>
            <a:r>
              <a:rPr lang="en-GB" sz="2000" dirty="0" err="1">
                <a:latin typeface="+mj-lt"/>
              </a:rPr>
              <a:t>ist</a:t>
            </a:r>
            <a:endParaRPr sz="2000" dirty="0">
              <a:latin typeface="+mj-lt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en-GB" sz="2000" dirty="0">
              <a:solidFill>
                <a:srgbClr val="0070C0"/>
              </a:solidFill>
              <a:latin typeface="+mj-lt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000" dirty="0" err="1">
                <a:latin typeface="+mj-lt"/>
              </a:rPr>
              <a:t>Bars.exit</a:t>
            </a:r>
            <a:r>
              <a:rPr lang="en-US" sz="2000" dirty="0">
                <a:latin typeface="+mj-lt"/>
              </a:rPr>
              <a:t>(): </a:t>
            </a:r>
            <a:r>
              <a:rPr lang="en-US" sz="2000" dirty="0" err="1">
                <a:latin typeface="+mj-lt"/>
              </a:rPr>
              <a:t>Wähle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alle</a:t>
            </a:r>
            <a:r>
              <a:rPr lang="en-US" sz="2000" dirty="0">
                <a:latin typeface="+mj-lt"/>
              </a:rPr>
              <a:t> .bar </a:t>
            </a:r>
            <a:r>
              <a:rPr lang="en-US" sz="2000" dirty="0" err="1">
                <a:latin typeface="+mj-lt"/>
              </a:rPr>
              <a:t>Elemente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aus</a:t>
            </a:r>
            <a:r>
              <a:rPr lang="en-US" sz="2000" dirty="0">
                <a:latin typeface="+mj-lt"/>
              </a:rPr>
              <a:t>, </a:t>
            </a:r>
            <a:r>
              <a:rPr lang="en-US" sz="2000" dirty="0" err="1">
                <a:latin typeface="+mj-lt"/>
              </a:rPr>
              <a:t>mit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denen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keine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Daten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verknüpft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sind</a:t>
            </a:r>
            <a:endParaRPr lang="en-US" sz="2000" dirty="0">
              <a:latin typeface="+mj-lt"/>
            </a:endParaRPr>
          </a:p>
          <a:p>
            <a:pPr lvl="1">
              <a:buFont typeface="Arial" panose="020B0604020202020204" pitchFamily="34" charset="0"/>
              <a:buChar char="•"/>
              <a:defRPr/>
            </a:pPr>
            <a:r>
              <a:rPr lang="en-US" sz="2000" dirty="0" err="1">
                <a:latin typeface="+mj-lt"/>
              </a:rPr>
              <a:t>Für</a:t>
            </a:r>
            <a:r>
              <a:rPr lang="en-US" sz="2000" dirty="0">
                <a:latin typeface="+mj-lt"/>
              </a:rPr>
              <a:t> den Fall, das der </a:t>
            </a:r>
            <a:r>
              <a:rPr lang="en-US" sz="2000" dirty="0" err="1">
                <a:latin typeface="+mj-lt"/>
              </a:rPr>
              <a:t>aktuelle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Datensatz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weniger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Balken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benötigt</a:t>
            </a:r>
            <a:r>
              <a:rPr lang="en-US" sz="2000" dirty="0">
                <a:latin typeface="+mj-lt"/>
              </a:rPr>
              <a:t> </a:t>
            </a:r>
            <a:r>
              <a:rPr lang="en-GB" sz="2000" u="sng" dirty="0">
                <a:solidFill>
                  <a:schemeClr val="accent1"/>
                </a:solidFill>
                <a:latin typeface="+mj-lt"/>
                <a:hlinkClick r:id="rId2" tooltip="https://jsfiddle.net/nd1wx0of/"/>
              </a:rPr>
              <a:t>https://jsfiddle.net/nd1wx0of/</a:t>
            </a:r>
            <a:endParaRPr lang="en-US" sz="2000" dirty="0">
              <a:latin typeface="+mj-lt"/>
            </a:endParaRPr>
          </a:p>
          <a:p>
            <a:pPr marL="11113" indent="0">
              <a:buNone/>
              <a:defRPr/>
            </a:pPr>
            <a:r>
              <a:rPr lang="de-DE" sz="2000" dirty="0">
                <a:latin typeface="+mj-lt"/>
              </a:rPr>
              <a:t>Aufgabe: Erzeuge einen zweiten künstlichen Datensatz im selben Format und füge einen Button hinzu um zwischen den beiden Datensätzen zu wechseln</a:t>
            </a:r>
            <a:endParaRPr lang="en-US" sz="2000" dirty="0">
              <a:latin typeface="+mj-lt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en-GB" sz="2000" dirty="0">
              <a:latin typeface="+mj-lt"/>
            </a:endParaRPr>
          </a:p>
        </p:txBody>
      </p:sp>
      <p:pic>
        <p:nvPicPr>
          <p:cNvPr id="1543242984" name="Picture 8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24089" y="1312311"/>
            <a:ext cx="3167769" cy="1207603"/>
          </a:xfrm>
          <a:prstGeom prst="rect">
            <a:avLst/>
          </a:prstGeom>
        </p:spPr>
      </p:pic>
      <p:pic>
        <p:nvPicPr>
          <p:cNvPr id="492020886" name="Picture 9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9650414" y="4099480"/>
            <a:ext cx="1990724" cy="314324"/>
          </a:xfrm>
          <a:prstGeom prst="rect">
            <a:avLst/>
          </a:prstGeom>
        </p:spPr>
      </p:pic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8DC747D3-83DD-4F77-85DF-0758E470CE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33FA4B0-7731-EC49-88EA-B5E921ABE78A}" type="slidenum">
              <a:rPr lang="de-DE" smtClean="0"/>
              <a:pPr/>
              <a:t>55</a:t>
            </a:fld>
            <a:endParaRPr lang="de-DE" dirty="0"/>
          </a:p>
        </p:txBody>
      </p:sp>
      <p:sp>
        <p:nvSpPr>
          <p:cNvPr id="12" name="Title 3">
            <a:extLst>
              <a:ext uri="{FF2B5EF4-FFF2-40B4-BE49-F238E27FC236}">
                <a16:creationId xmlns:a16="http://schemas.microsoft.com/office/drawing/2014/main" id="{A21235F5-3918-435F-8723-E46E3FF43199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838200" y="59502"/>
            <a:ext cx="10515600" cy="562032"/>
          </a:xfrm>
        </p:spPr>
        <p:txBody>
          <a:bodyPr/>
          <a:lstStyle/>
          <a:p>
            <a:pPr>
              <a:defRPr/>
            </a:pPr>
            <a:r>
              <a:rPr lang="en-GB" dirty="0"/>
              <a:t>Mini-Tutorial: D3 – </a:t>
            </a:r>
            <a:r>
              <a:rPr lang="en-GB" dirty="0" err="1"/>
              <a:t>Interaktivität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93923329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1612535" name="Content Placeholder 4"/>
          <p:cNvSpPr txBox="1"/>
          <p:nvPr/>
        </p:nvSpPr>
        <p:spPr bwMode="auto">
          <a:xfrm>
            <a:off x="838200" y="639291"/>
            <a:ext cx="10515600" cy="621042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179387" indent="-179387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9249" indent="-168274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2400">
                <a:solidFill>
                  <a:schemeClr val="tx1"/>
                </a:solidFill>
                <a:latin typeface="+mn-lt"/>
              </a:defRPr>
            </a:lvl2pPr>
            <a:lvl3pPr marL="538162" indent="-187324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2400">
                <a:solidFill>
                  <a:schemeClr val="tx1"/>
                </a:solidFill>
                <a:latin typeface="+mn-lt"/>
              </a:defRPr>
            </a:lvl3pPr>
            <a:lvl4pPr marL="717549" indent="-173037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2000">
                <a:solidFill>
                  <a:schemeClr val="tx1"/>
                </a:solidFill>
                <a:latin typeface="+mn-lt"/>
              </a:defRPr>
            </a:lvl4pPr>
            <a:lvl5pPr marL="908049" indent="-188912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1365249" indent="-188912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</a:defRPr>
            </a:lvl6pPr>
            <a:lvl7pPr marL="1822449" indent="-188912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</a:defRPr>
            </a:lvl7pPr>
            <a:lvl8pPr marL="2279649" indent="-188912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</a:defRPr>
            </a:lvl8pPr>
            <a:lvl9pPr marL="2736849" indent="-188912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GB" sz="2000" b="0" i="0" u="none" strike="noStrike" cap="none" spc="0" dirty="0" err="1">
                <a:solidFill>
                  <a:schemeClr val="tx1"/>
                </a:solidFill>
                <a:latin typeface="+mj-lt"/>
                <a:ea typeface="Arial"/>
                <a:cs typeface="Arial"/>
              </a:rPr>
              <a:t>Hinzufügen</a:t>
            </a:r>
            <a:r>
              <a:rPr lang="en-GB" sz="2000" b="0" i="0" u="none" strike="noStrike" cap="none" spc="0" dirty="0">
                <a:solidFill>
                  <a:schemeClr val="tx1"/>
                </a:solidFill>
                <a:latin typeface="+mj-lt"/>
                <a:ea typeface="Arial"/>
                <a:cs typeface="Arial"/>
              </a:rPr>
              <a:t> von </a:t>
            </a:r>
            <a:r>
              <a:rPr lang="en-GB" sz="2000" b="0" i="0" u="none" strike="noStrike" cap="none" spc="0" dirty="0" err="1">
                <a:solidFill>
                  <a:schemeClr val="tx1"/>
                </a:solidFill>
                <a:latin typeface="+mj-lt"/>
                <a:ea typeface="Arial"/>
                <a:cs typeface="Arial"/>
              </a:rPr>
              <a:t>Interaktivität</a:t>
            </a:r>
            <a:r>
              <a:rPr lang="en-GB" sz="2000" b="0" i="0" u="none" strike="noStrike" cap="none" spc="0" dirty="0">
                <a:solidFill>
                  <a:schemeClr val="tx1"/>
                </a:solidFill>
                <a:latin typeface="+mj-lt"/>
                <a:ea typeface="Arial"/>
                <a:cs typeface="Arial"/>
              </a:rPr>
              <a:t>: </a:t>
            </a:r>
            <a:r>
              <a:rPr lang="en-GB" sz="2000" b="0" i="0" u="none" strike="noStrike" cap="none" spc="0" dirty="0" err="1">
                <a:solidFill>
                  <a:schemeClr val="tx1"/>
                </a:solidFill>
                <a:latin typeface="+mj-lt"/>
                <a:ea typeface="Arial"/>
                <a:cs typeface="Arial"/>
              </a:rPr>
              <a:t>Datensatz</a:t>
            </a:r>
            <a:r>
              <a:rPr lang="en-GB" sz="2000" b="0" i="0" u="none" strike="noStrike" cap="none" spc="0" dirty="0">
                <a:solidFill>
                  <a:schemeClr val="tx1"/>
                </a:solidFill>
                <a:latin typeface="+mj-lt"/>
                <a:ea typeface="Arial"/>
                <a:cs typeface="Arial"/>
              </a:rPr>
              <a:t> </a:t>
            </a:r>
            <a:r>
              <a:rPr lang="en-GB" sz="2000" b="0" i="0" u="none" strike="noStrike" cap="none" spc="0" dirty="0" err="1">
                <a:solidFill>
                  <a:schemeClr val="tx1"/>
                </a:solidFill>
                <a:latin typeface="+mj-lt"/>
                <a:ea typeface="Arial"/>
                <a:cs typeface="Arial"/>
              </a:rPr>
              <a:t>wechseln</a:t>
            </a:r>
            <a:br>
              <a:rPr lang="en-GB" sz="2000" dirty="0">
                <a:latin typeface="+mj-lt"/>
              </a:rPr>
            </a:br>
            <a:r>
              <a:rPr lang="en-GB" sz="2000" dirty="0">
                <a:latin typeface="+mj-lt"/>
              </a:rPr>
              <a:t>Um </a:t>
            </a:r>
            <a:r>
              <a:rPr lang="en-GB" sz="2000" dirty="0" err="1">
                <a:latin typeface="+mj-lt"/>
              </a:rPr>
              <a:t>zwischen</a:t>
            </a:r>
            <a:r>
              <a:rPr lang="en-GB" sz="2000" dirty="0">
                <a:latin typeface="+mj-lt"/>
              </a:rPr>
              <a:t> den </a:t>
            </a:r>
            <a:r>
              <a:rPr lang="en-GB" sz="2000" dirty="0" err="1">
                <a:latin typeface="+mj-lt"/>
              </a:rPr>
              <a:t>Datensätzen</a:t>
            </a:r>
            <a:r>
              <a:rPr lang="en-GB" sz="2000" dirty="0">
                <a:latin typeface="+mj-lt"/>
              </a:rPr>
              <a:t> </a:t>
            </a:r>
            <a:r>
              <a:rPr lang="en-GB" sz="2000" dirty="0" err="1">
                <a:latin typeface="+mj-lt"/>
              </a:rPr>
              <a:t>zu</a:t>
            </a:r>
            <a:r>
              <a:rPr lang="en-GB" sz="2000" dirty="0">
                <a:latin typeface="+mj-lt"/>
              </a:rPr>
              <a:t> </a:t>
            </a:r>
            <a:r>
              <a:rPr lang="en-GB" sz="2000" dirty="0" err="1">
                <a:latin typeface="+mj-lt"/>
              </a:rPr>
              <a:t>wechseln</a:t>
            </a:r>
            <a:r>
              <a:rPr lang="en-GB" sz="2000" dirty="0">
                <a:latin typeface="+mj-lt"/>
              </a:rPr>
              <a:t>, </a:t>
            </a:r>
            <a:r>
              <a:rPr lang="en-GB" sz="2000" dirty="0" err="1">
                <a:latin typeface="+mj-lt"/>
              </a:rPr>
              <a:t>sind</a:t>
            </a:r>
            <a:r>
              <a:rPr lang="en-GB" sz="2000" dirty="0">
                <a:latin typeface="+mj-lt"/>
              </a:rPr>
              <a:t> </a:t>
            </a:r>
            <a:r>
              <a:rPr lang="en-GB" sz="2000" dirty="0" err="1">
                <a:latin typeface="+mj-lt"/>
              </a:rPr>
              <a:t>zwei</a:t>
            </a:r>
            <a:r>
              <a:rPr lang="en-GB" sz="2000" dirty="0">
                <a:latin typeface="+mj-lt"/>
              </a:rPr>
              <a:t> </a:t>
            </a:r>
            <a:r>
              <a:rPr lang="en-GB" sz="2000" dirty="0" err="1">
                <a:latin typeface="+mj-lt"/>
              </a:rPr>
              <a:t>weitere</a:t>
            </a:r>
            <a:r>
              <a:rPr lang="en-GB" sz="2000" dirty="0">
                <a:latin typeface="+mj-lt"/>
              </a:rPr>
              <a:t> </a:t>
            </a:r>
            <a:r>
              <a:rPr lang="en-GB" sz="2000" dirty="0" err="1">
                <a:latin typeface="+mj-lt"/>
              </a:rPr>
              <a:t>Zeilen</a:t>
            </a:r>
            <a:r>
              <a:rPr lang="en-GB" sz="2000" dirty="0">
                <a:latin typeface="+mj-lt"/>
              </a:rPr>
              <a:t> </a:t>
            </a:r>
            <a:r>
              <a:rPr lang="en-GB" sz="2000" dirty="0" err="1">
                <a:latin typeface="+mj-lt"/>
              </a:rPr>
              <a:t>nötig</a:t>
            </a:r>
            <a:r>
              <a:rPr lang="en-GB" sz="2000" dirty="0">
                <a:latin typeface="+mj-lt"/>
              </a:rPr>
              <a:t>:</a:t>
            </a:r>
            <a:br>
              <a:rPr lang="en-GB" sz="2000" dirty="0">
                <a:latin typeface="+mj-lt"/>
              </a:rPr>
            </a:br>
            <a:endParaRPr lang="en-GB" sz="2000" dirty="0">
              <a:latin typeface="+mj-lt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en-GB" sz="2000" dirty="0">
              <a:latin typeface="+mj-lt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en-GB" sz="2000" dirty="0">
              <a:latin typeface="+mj-lt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en-GB" sz="2000" dirty="0">
              <a:latin typeface="+mj-lt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GB" sz="2000" dirty="0">
                <a:latin typeface="+mj-lt"/>
              </a:rPr>
              <a:t>Enter(): </a:t>
            </a:r>
            <a:r>
              <a:rPr lang="en-GB" sz="2000" dirty="0" err="1">
                <a:latin typeface="+mj-lt"/>
              </a:rPr>
              <a:t>Erzeuge</a:t>
            </a:r>
            <a:r>
              <a:rPr lang="en-GB" sz="2000" dirty="0">
                <a:latin typeface="+mj-lt"/>
              </a:rPr>
              <a:t> .bar </a:t>
            </a:r>
            <a:r>
              <a:rPr lang="en-GB" sz="2000" dirty="0" err="1">
                <a:latin typeface="+mj-lt"/>
              </a:rPr>
              <a:t>Elemente</a:t>
            </a:r>
            <a:r>
              <a:rPr lang="en-GB" sz="2000" dirty="0">
                <a:latin typeface="+mj-lt"/>
              </a:rPr>
              <a:t> </a:t>
            </a:r>
            <a:r>
              <a:rPr lang="en-GB" sz="2000" dirty="0" err="1">
                <a:latin typeface="+mj-lt"/>
              </a:rPr>
              <a:t>für</a:t>
            </a:r>
            <a:r>
              <a:rPr lang="en-GB" sz="2000" dirty="0">
                <a:latin typeface="+mj-lt"/>
              </a:rPr>
              <a:t> </a:t>
            </a:r>
            <a:r>
              <a:rPr lang="en-GB" sz="2000" dirty="0" err="1">
                <a:latin typeface="+mj-lt"/>
              </a:rPr>
              <a:t>alle</a:t>
            </a:r>
            <a:r>
              <a:rPr lang="en-GB" sz="2000" dirty="0">
                <a:latin typeface="+mj-lt"/>
              </a:rPr>
              <a:t> </a:t>
            </a:r>
            <a:r>
              <a:rPr lang="en-GB" sz="2000" dirty="0" err="1">
                <a:latin typeface="+mj-lt"/>
              </a:rPr>
              <a:t>Datenpunkte</a:t>
            </a:r>
            <a:r>
              <a:rPr lang="en-GB" sz="2000" dirty="0">
                <a:latin typeface="+mj-lt"/>
              </a:rPr>
              <a:t>, die </a:t>
            </a:r>
            <a:r>
              <a:rPr lang="en-GB" sz="2000" dirty="0" err="1">
                <a:latin typeface="+mj-lt"/>
              </a:rPr>
              <a:t>noch</a:t>
            </a:r>
            <a:r>
              <a:rPr lang="en-GB" sz="2000" dirty="0">
                <a:latin typeface="+mj-lt"/>
              </a:rPr>
              <a:t> </a:t>
            </a:r>
            <a:r>
              <a:rPr lang="en-GB" sz="2000" dirty="0" err="1">
                <a:latin typeface="+mj-lt"/>
              </a:rPr>
              <a:t>nicht</a:t>
            </a:r>
            <a:r>
              <a:rPr lang="en-GB" sz="2000" dirty="0">
                <a:latin typeface="+mj-lt"/>
              </a:rPr>
              <a:t> </a:t>
            </a:r>
            <a:r>
              <a:rPr lang="en-GB" sz="2000" dirty="0" err="1">
                <a:latin typeface="+mj-lt"/>
              </a:rPr>
              <a:t>existiert</a:t>
            </a:r>
            <a:r>
              <a:rPr lang="en-GB" sz="2000" dirty="0">
                <a:latin typeface="+mj-lt"/>
              </a:rPr>
              <a:t> </a:t>
            </a:r>
            <a:r>
              <a:rPr lang="en-GB" sz="2000" dirty="0" err="1">
                <a:latin typeface="+mj-lt"/>
              </a:rPr>
              <a:t>haben</a:t>
            </a:r>
            <a:endParaRPr sz="2000" dirty="0">
              <a:latin typeface="+mj-lt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GB" sz="2000" dirty="0">
                <a:latin typeface="+mj-lt"/>
              </a:rPr>
              <a:t>merge(bars): </a:t>
            </a:r>
            <a:r>
              <a:rPr lang="en-GB" sz="2000" dirty="0" err="1">
                <a:latin typeface="+mj-lt"/>
              </a:rPr>
              <a:t>Wähle</a:t>
            </a:r>
            <a:r>
              <a:rPr lang="en-GB" sz="2000" dirty="0">
                <a:latin typeface="+mj-lt"/>
              </a:rPr>
              <a:t> </a:t>
            </a:r>
            <a:r>
              <a:rPr lang="en-GB" sz="2000" dirty="0" err="1">
                <a:latin typeface="+mj-lt"/>
              </a:rPr>
              <a:t>alle</a:t>
            </a:r>
            <a:r>
              <a:rPr lang="en-GB" sz="2000" dirty="0">
                <a:latin typeface="+mj-lt"/>
              </a:rPr>
              <a:t> .bar </a:t>
            </a:r>
            <a:r>
              <a:rPr lang="en-GB" sz="2000" dirty="0" err="1">
                <a:latin typeface="+mj-lt"/>
              </a:rPr>
              <a:t>Elemente</a:t>
            </a:r>
            <a:r>
              <a:rPr lang="en-GB" sz="2000" dirty="0">
                <a:latin typeface="+mj-lt"/>
              </a:rPr>
              <a:t>, </a:t>
            </a:r>
            <a:r>
              <a:rPr lang="en-GB" sz="2000" dirty="0" err="1">
                <a:latin typeface="+mj-lt"/>
              </a:rPr>
              <a:t>auch</a:t>
            </a:r>
            <a:r>
              <a:rPr lang="en-GB" sz="2000" dirty="0">
                <a:latin typeface="+mj-lt"/>
              </a:rPr>
              <a:t> die </a:t>
            </a:r>
            <a:r>
              <a:rPr lang="en-GB" sz="2000" dirty="0" err="1">
                <a:latin typeface="+mj-lt"/>
              </a:rPr>
              <a:t>bereits</a:t>
            </a:r>
            <a:r>
              <a:rPr lang="en-GB" sz="2000" dirty="0">
                <a:latin typeface="+mj-lt"/>
              </a:rPr>
              <a:t> </a:t>
            </a:r>
            <a:r>
              <a:rPr lang="en-GB" sz="2000" dirty="0" err="1">
                <a:latin typeface="+mj-lt"/>
              </a:rPr>
              <a:t>existiert</a:t>
            </a:r>
            <a:r>
              <a:rPr lang="en-GB" sz="2000" dirty="0">
                <a:latin typeface="+mj-lt"/>
              </a:rPr>
              <a:t> </a:t>
            </a:r>
            <a:r>
              <a:rPr lang="en-GB" sz="2000" dirty="0" err="1">
                <a:latin typeface="+mj-lt"/>
              </a:rPr>
              <a:t>hatten</a:t>
            </a:r>
            <a:endParaRPr sz="2000" dirty="0">
              <a:latin typeface="+mj-lt"/>
            </a:endParaRPr>
          </a:p>
          <a:p>
            <a:pPr lvl="1">
              <a:buFont typeface="Arial" panose="020B0604020202020204" pitchFamily="34" charset="0"/>
              <a:buChar char="•"/>
              <a:defRPr/>
            </a:pPr>
            <a:r>
              <a:rPr lang="en-GB" sz="2000" dirty="0" err="1">
                <a:latin typeface="+mj-lt"/>
              </a:rPr>
              <a:t>Für</a:t>
            </a:r>
            <a:r>
              <a:rPr lang="en-GB" sz="2000" dirty="0">
                <a:latin typeface="+mj-lt"/>
              </a:rPr>
              <a:t> den Fall, </a:t>
            </a:r>
            <a:r>
              <a:rPr lang="en-GB" sz="2000" dirty="0" err="1">
                <a:latin typeface="+mj-lt"/>
              </a:rPr>
              <a:t>dass</a:t>
            </a:r>
            <a:r>
              <a:rPr lang="en-GB" sz="2000" dirty="0">
                <a:latin typeface="+mj-lt"/>
              </a:rPr>
              <a:t> </a:t>
            </a:r>
            <a:r>
              <a:rPr lang="en-GB" sz="2000" dirty="0" err="1">
                <a:latin typeface="+mj-lt"/>
              </a:rPr>
              <a:t>nicht</a:t>
            </a:r>
            <a:r>
              <a:rPr lang="en-GB" sz="2000" dirty="0">
                <a:latin typeface="+mj-lt"/>
              </a:rPr>
              <a:t> der </a:t>
            </a:r>
            <a:r>
              <a:rPr lang="en-GB" sz="2000" dirty="0" err="1">
                <a:latin typeface="+mj-lt"/>
              </a:rPr>
              <a:t>ganze</a:t>
            </a:r>
            <a:r>
              <a:rPr lang="en-GB" sz="2000" dirty="0">
                <a:latin typeface="+mj-lt"/>
              </a:rPr>
              <a:t> </a:t>
            </a:r>
            <a:r>
              <a:rPr lang="en-GB" sz="2000" dirty="0" err="1">
                <a:latin typeface="+mj-lt"/>
              </a:rPr>
              <a:t>Datensatz</a:t>
            </a:r>
            <a:r>
              <a:rPr lang="en-GB" sz="2000" dirty="0">
                <a:latin typeface="+mj-lt"/>
              </a:rPr>
              <a:t> neu </a:t>
            </a:r>
            <a:r>
              <a:rPr lang="en-GB" sz="2000" dirty="0" err="1">
                <a:latin typeface="+mj-lt"/>
              </a:rPr>
              <a:t>ist</a:t>
            </a:r>
            <a:endParaRPr sz="2000" dirty="0">
              <a:latin typeface="+mj-lt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en-GB" sz="2000" dirty="0">
              <a:solidFill>
                <a:srgbClr val="0070C0"/>
              </a:solidFill>
              <a:latin typeface="+mj-lt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000" dirty="0" err="1">
                <a:latin typeface="+mj-lt"/>
              </a:rPr>
              <a:t>Bars.exit</a:t>
            </a:r>
            <a:r>
              <a:rPr lang="en-US" sz="2000" dirty="0">
                <a:latin typeface="+mj-lt"/>
              </a:rPr>
              <a:t>(): </a:t>
            </a:r>
            <a:r>
              <a:rPr lang="en-US" sz="2000" dirty="0" err="1">
                <a:latin typeface="+mj-lt"/>
              </a:rPr>
              <a:t>Wähle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alle</a:t>
            </a:r>
            <a:r>
              <a:rPr lang="en-US" sz="2000" dirty="0">
                <a:latin typeface="+mj-lt"/>
              </a:rPr>
              <a:t> .bar </a:t>
            </a:r>
            <a:r>
              <a:rPr lang="en-US" sz="2000" dirty="0" err="1">
                <a:latin typeface="+mj-lt"/>
              </a:rPr>
              <a:t>Elemente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aus</a:t>
            </a:r>
            <a:r>
              <a:rPr lang="en-US" sz="2000" dirty="0">
                <a:latin typeface="+mj-lt"/>
              </a:rPr>
              <a:t>, </a:t>
            </a:r>
            <a:r>
              <a:rPr lang="en-US" sz="2000" dirty="0" err="1">
                <a:latin typeface="+mj-lt"/>
              </a:rPr>
              <a:t>mit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denen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keine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Daten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verknüpft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sind</a:t>
            </a:r>
            <a:endParaRPr lang="en-US" sz="2000" dirty="0">
              <a:latin typeface="+mj-lt"/>
            </a:endParaRPr>
          </a:p>
          <a:p>
            <a:pPr lvl="1">
              <a:buFont typeface="Arial" panose="020B0604020202020204" pitchFamily="34" charset="0"/>
              <a:buChar char="•"/>
              <a:defRPr/>
            </a:pPr>
            <a:r>
              <a:rPr lang="en-US" sz="2000" dirty="0" err="1">
                <a:latin typeface="+mj-lt"/>
              </a:rPr>
              <a:t>Für</a:t>
            </a:r>
            <a:r>
              <a:rPr lang="en-US" sz="2000" dirty="0">
                <a:latin typeface="+mj-lt"/>
              </a:rPr>
              <a:t> den Fall, das der </a:t>
            </a:r>
            <a:r>
              <a:rPr lang="en-US" sz="2000" dirty="0" err="1">
                <a:latin typeface="+mj-lt"/>
              </a:rPr>
              <a:t>aktuelle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Datensatz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weniger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Balken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benötigt</a:t>
            </a:r>
            <a:r>
              <a:rPr lang="en-US" sz="2000" dirty="0">
                <a:latin typeface="+mj-lt"/>
              </a:rPr>
              <a:t> </a:t>
            </a:r>
            <a:r>
              <a:rPr lang="en-GB" sz="2000" u="sng" dirty="0">
                <a:solidFill>
                  <a:schemeClr val="accent1"/>
                </a:solidFill>
                <a:hlinkClick r:id="rId2" tooltip="https://jsfiddle.net/nd1wx0of/"/>
              </a:rPr>
              <a:t>https://jsfiddle.net/nd1wx0of/</a:t>
            </a:r>
            <a:endParaRPr lang="en-US" sz="2000" dirty="0">
              <a:latin typeface="+mj-lt"/>
            </a:endParaRPr>
          </a:p>
          <a:p>
            <a:pPr marL="11113" indent="0">
              <a:buNone/>
              <a:defRPr/>
            </a:pPr>
            <a:r>
              <a:rPr lang="de-DE" sz="2000" dirty="0">
                <a:latin typeface="+mj-lt"/>
              </a:rPr>
              <a:t>Aufgabe: Erzeuge einen zweiten künstlichen Datensatz im selben Format und füge einen Button hinzu um zwischen den beiden Datensätzen zu wechseln </a:t>
            </a:r>
            <a:r>
              <a:rPr lang="en-GB" sz="2000" u="sng" dirty="0">
                <a:solidFill>
                  <a:schemeClr val="accent1"/>
                </a:solidFill>
                <a:hlinkClick r:id="rId3" tooltip="https://jsfiddle.net/L0u3anxd/"/>
              </a:rPr>
              <a:t>https://jsfiddle.net/L0u3anxd/</a:t>
            </a:r>
            <a:endParaRPr lang="en-GB" sz="2000" u="sng" dirty="0">
              <a:solidFill>
                <a:schemeClr val="accent1"/>
              </a:solidFill>
            </a:endParaRPr>
          </a:p>
          <a:p>
            <a:pPr marL="11113" indent="0">
              <a:buNone/>
              <a:defRPr/>
            </a:pPr>
            <a:r>
              <a:rPr lang="en-US" sz="2000" dirty="0"/>
              <a:t>Aufgabe: </a:t>
            </a:r>
            <a:r>
              <a:rPr lang="en-US" sz="2000" dirty="0" err="1"/>
              <a:t>Probiere</a:t>
            </a:r>
            <a:r>
              <a:rPr lang="en-US" sz="2000" dirty="0"/>
              <a:t> </a:t>
            </a:r>
            <a:r>
              <a:rPr lang="en-US" sz="2000" dirty="0" err="1"/>
              <a:t>aus</a:t>
            </a:r>
            <a:r>
              <a:rPr lang="en-US" sz="2000" dirty="0"/>
              <a:t> was </a:t>
            </a:r>
            <a:r>
              <a:rPr lang="en-US" sz="2000" dirty="0" err="1"/>
              <a:t>passiert</a:t>
            </a:r>
            <a:r>
              <a:rPr lang="en-US" sz="2000" dirty="0"/>
              <a:t>, </a:t>
            </a:r>
            <a:r>
              <a:rPr lang="en-US" sz="2000" dirty="0" err="1"/>
              <a:t>wenn</a:t>
            </a:r>
            <a:r>
              <a:rPr lang="en-US" sz="2000" dirty="0"/>
              <a:t> .merge(bars) und </a:t>
            </a:r>
            <a:r>
              <a:rPr lang="en-US" sz="2000" dirty="0" err="1"/>
              <a:t>bars.exit</a:t>
            </a:r>
            <a:r>
              <a:rPr lang="en-US" sz="2000" dirty="0"/>
              <a:t>().remove() </a:t>
            </a:r>
            <a:r>
              <a:rPr lang="en-US" sz="2000" dirty="0" err="1"/>
              <a:t>weggelassen</a:t>
            </a:r>
            <a:r>
              <a:rPr lang="en-US" sz="2000" dirty="0"/>
              <a:t> </a:t>
            </a:r>
            <a:r>
              <a:rPr lang="en-US" sz="2000" dirty="0" err="1"/>
              <a:t>wird</a:t>
            </a:r>
            <a:endParaRPr lang="en-GB" sz="2000" dirty="0"/>
          </a:p>
          <a:p>
            <a:pPr marL="11113" indent="0">
              <a:buNone/>
              <a:defRPr/>
            </a:pPr>
            <a:endParaRPr lang="de-DE" sz="2000" dirty="0">
              <a:latin typeface="+mj-lt"/>
            </a:endParaRPr>
          </a:p>
          <a:p>
            <a:pPr marL="11113" indent="0">
              <a:buNone/>
              <a:defRPr/>
            </a:pPr>
            <a:endParaRPr lang="en-US" sz="2000" dirty="0">
              <a:latin typeface="+mj-lt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en-GB" sz="2000" dirty="0">
              <a:latin typeface="+mj-lt"/>
            </a:endParaRPr>
          </a:p>
        </p:txBody>
      </p:sp>
      <p:pic>
        <p:nvPicPr>
          <p:cNvPr id="1543242984" name="Picture 8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924089" y="1312311"/>
            <a:ext cx="3167769" cy="1207603"/>
          </a:xfrm>
          <a:prstGeom prst="rect">
            <a:avLst/>
          </a:prstGeom>
        </p:spPr>
      </p:pic>
      <p:pic>
        <p:nvPicPr>
          <p:cNvPr id="492020886" name="Picture 9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>
            <a:off x="9650414" y="4099480"/>
            <a:ext cx="1990724" cy="314324"/>
          </a:xfrm>
          <a:prstGeom prst="rect">
            <a:avLst/>
          </a:prstGeom>
        </p:spPr>
      </p:pic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8DC747D3-83DD-4F77-85DF-0758E470CE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33FA4B0-7731-EC49-88EA-B5E921ABE78A}" type="slidenum">
              <a:rPr lang="de-DE" smtClean="0"/>
              <a:pPr/>
              <a:t>56</a:t>
            </a:fld>
            <a:endParaRPr lang="de-DE" dirty="0"/>
          </a:p>
        </p:txBody>
      </p:sp>
      <p:sp>
        <p:nvSpPr>
          <p:cNvPr id="12" name="Title 3">
            <a:extLst>
              <a:ext uri="{FF2B5EF4-FFF2-40B4-BE49-F238E27FC236}">
                <a16:creationId xmlns:a16="http://schemas.microsoft.com/office/drawing/2014/main" id="{A21235F5-3918-435F-8723-E46E3FF43199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838200" y="59502"/>
            <a:ext cx="10515600" cy="562032"/>
          </a:xfrm>
        </p:spPr>
        <p:txBody>
          <a:bodyPr/>
          <a:lstStyle/>
          <a:p>
            <a:pPr>
              <a:defRPr/>
            </a:pPr>
            <a:r>
              <a:rPr lang="en-GB" dirty="0"/>
              <a:t>Mini-Tutorial: D3 – </a:t>
            </a:r>
            <a:r>
              <a:rPr lang="en-GB" dirty="0" err="1"/>
              <a:t>Interaktivität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7176288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" name="Content Placeholder 4"/>
          <p:cNvSpPr txBox="1"/>
          <p:nvPr/>
        </p:nvSpPr>
        <p:spPr bwMode="auto">
          <a:xfrm>
            <a:off x="838200" y="639292"/>
            <a:ext cx="10515600" cy="5453533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179388" indent="-179388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9250" indent="-168275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2400">
                <a:solidFill>
                  <a:schemeClr val="tx1"/>
                </a:solidFill>
                <a:latin typeface="+mn-lt"/>
              </a:defRPr>
            </a:lvl2pPr>
            <a:lvl3pPr marL="538163" indent="-187325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2400">
                <a:solidFill>
                  <a:schemeClr val="tx1"/>
                </a:solidFill>
                <a:latin typeface="+mn-lt"/>
              </a:defRPr>
            </a:lvl3pPr>
            <a:lvl4pPr marL="717550" indent="-173038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2000">
                <a:solidFill>
                  <a:schemeClr val="tx1"/>
                </a:solidFill>
                <a:latin typeface="+mn-lt"/>
              </a:defRPr>
            </a:lvl4pPr>
            <a:lvl5pPr marL="908050" indent="-188913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1365250" indent="-188913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</a:defRPr>
            </a:lvl6pPr>
            <a:lvl7pPr marL="1822450" indent="-188913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</a:defRPr>
            </a:lvl7pPr>
            <a:lvl8pPr marL="2279650" indent="-188913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</a:defRPr>
            </a:lvl8pPr>
            <a:lvl9pPr marL="2736850" indent="-188913" algn="l">
              <a:spcBef>
                <a:spcPts val="0"/>
              </a:spcBef>
              <a:spcAft>
                <a:spcPts val="0"/>
              </a:spcAft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None/>
              <a:defRPr/>
            </a:pPr>
            <a:r>
              <a:rPr lang="en-GB" sz="2000" dirty="0">
                <a:latin typeface="+mj-lt"/>
              </a:rPr>
              <a:t>Finale </a:t>
            </a:r>
            <a:r>
              <a:rPr lang="en-GB" sz="2000" dirty="0" err="1">
                <a:latin typeface="+mj-lt"/>
              </a:rPr>
              <a:t>Anmerkung</a:t>
            </a:r>
            <a:r>
              <a:rPr lang="en-GB" sz="2000" dirty="0">
                <a:latin typeface="+mj-lt"/>
              </a:rPr>
              <a:t>, </a:t>
            </a:r>
            <a:r>
              <a:rPr lang="en-GB" sz="2000" dirty="0" err="1">
                <a:latin typeface="+mj-lt"/>
              </a:rPr>
              <a:t>wie</a:t>
            </a:r>
            <a:r>
              <a:rPr lang="en-GB" sz="2000" dirty="0">
                <a:latin typeface="+mj-lt"/>
              </a:rPr>
              <a:t> man </a:t>
            </a:r>
            <a:r>
              <a:rPr lang="en-GB" sz="2000" dirty="0" err="1">
                <a:latin typeface="+mj-lt"/>
              </a:rPr>
              <a:t>Mausinteraktion</a:t>
            </a:r>
            <a:r>
              <a:rPr lang="en-GB" sz="2000" dirty="0">
                <a:latin typeface="+mj-lt"/>
              </a:rPr>
              <a:t> (</a:t>
            </a:r>
            <a:r>
              <a:rPr lang="en-GB" sz="2000" dirty="0" err="1">
                <a:latin typeface="+mj-lt"/>
              </a:rPr>
              <a:t>z.B</a:t>
            </a:r>
            <a:r>
              <a:rPr lang="en-GB" sz="2000" dirty="0">
                <a:latin typeface="+mj-lt"/>
              </a:rPr>
              <a:t>. </a:t>
            </a:r>
            <a:r>
              <a:rPr lang="en-GB" sz="2000" dirty="0" err="1">
                <a:latin typeface="+mj-lt"/>
              </a:rPr>
              <a:t>Klicken</a:t>
            </a:r>
            <a:r>
              <a:rPr lang="en-GB" sz="2000" dirty="0">
                <a:latin typeface="+mj-lt"/>
              </a:rPr>
              <a:t>, </a:t>
            </a:r>
            <a:r>
              <a:rPr lang="en-GB" sz="2000" dirty="0" err="1">
                <a:latin typeface="+mj-lt"/>
              </a:rPr>
              <a:t>Hovern</a:t>
            </a:r>
            <a:r>
              <a:rPr lang="en-GB" sz="2000" dirty="0">
                <a:latin typeface="+mj-lt"/>
              </a:rPr>
              <a:t>, ...) </a:t>
            </a:r>
            <a:r>
              <a:rPr lang="en-GB" sz="2000" dirty="0" err="1">
                <a:latin typeface="+mj-lt"/>
              </a:rPr>
              <a:t>hinzufügt</a:t>
            </a:r>
            <a:r>
              <a:rPr lang="en-GB" sz="2000" dirty="0">
                <a:latin typeface="+mj-lt"/>
              </a:rPr>
              <a:t>: </a:t>
            </a:r>
            <a:r>
              <a:rPr lang="en-GB" sz="2000" u="sng" dirty="0">
                <a:latin typeface="+mj-lt"/>
                <a:hlinkClick r:id="rId3" tooltip="https://jsfiddle.net/8q6z1oy4/"/>
              </a:rPr>
              <a:t>https://jsfiddle.net/8q6z1oy4/</a:t>
            </a:r>
            <a:endParaRPr lang="en-GB" sz="2000" dirty="0">
              <a:solidFill>
                <a:schemeClr val="accent1"/>
              </a:solidFill>
              <a:latin typeface="+mj-lt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en-GB" sz="2000" dirty="0">
              <a:latin typeface="+mj-lt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en-GB" sz="2000" dirty="0">
              <a:solidFill>
                <a:srgbClr val="0070C0"/>
              </a:solidFill>
              <a:latin typeface="+mj-lt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en-GB" sz="2000" dirty="0">
              <a:solidFill>
                <a:srgbClr val="0070C0"/>
              </a:solidFill>
              <a:latin typeface="+mj-lt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en-GB" sz="2000" dirty="0">
              <a:latin typeface="+mj-lt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en-GB" sz="2000" dirty="0">
              <a:latin typeface="+mj-lt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en-GB" sz="2000" dirty="0">
              <a:latin typeface="+mj-lt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en-GB" sz="2000" dirty="0">
              <a:latin typeface="+mj-lt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en-GB" sz="2000" dirty="0">
              <a:latin typeface="+mj-lt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GB" sz="2000" dirty="0">
                <a:latin typeface="+mj-lt"/>
              </a:rPr>
              <a:t>.on(“click”,</a:t>
            </a:r>
            <a:r>
              <a:rPr lang="en-GB" sz="2000" dirty="0" err="1">
                <a:latin typeface="+mj-lt"/>
              </a:rPr>
              <a:t>printMyValue</a:t>
            </a:r>
            <a:r>
              <a:rPr lang="en-GB" sz="2000" dirty="0">
                <a:latin typeface="+mj-lt"/>
              </a:rPr>
              <a:t>): </a:t>
            </a:r>
            <a:r>
              <a:rPr lang="en-GB" sz="2000" dirty="0" err="1">
                <a:latin typeface="+mj-lt"/>
              </a:rPr>
              <a:t>Fügt</a:t>
            </a:r>
            <a:r>
              <a:rPr lang="en-GB" sz="2000" dirty="0">
                <a:latin typeface="+mj-lt"/>
              </a:rPr>
              <a:t> </a:t>
            </a:r>
            <a:r>
              <a:rPr lang="en-GB" sz="2000" dirty="0" err="1">
                <a:latin typeface="+mj-lt"/>
              </a:rPr>
              <a:t>einen</a:t>
            </a:r>
            <a:r>
              <a:rPr lang="en-GB" sz="2000" dirty="0">
                <a:latin typeface="+mj-lt"/>
              </a:rPr>
              <a:t> event-Listener </a:t>
            </a:r>
            <a:r>
              <a:rPr lang="en-GB" sz="2000" dirty="0" err="1">
                <a:latin typeface="+mj-lt"/>
              </a:rPr>
              <a:t>hinzu</a:t>
            </a:r>
            <a:r>
              <a:rPr lang="en-GB" sz="2000" dirty="0">
                <a:latin typeface="+mj-lt"/>
              </a:rPr>
              <a:t>, der </a:t>
            </a:r>
            <a:r>
              <a:rPr lang="en-GB" sz="2000" dirty="0" err="1">
                <a:latin typeface="+mj-lt"/>
              </a:rPr>
              <a:t>bei</a:t>
            </a:r>
            <a:r>
              <a:rPr lang="en-GB" sz="2000" dirty="0">
                <a:latin typeface="+mj-lt"/>
              </a:rPr>
              <a:t> Klick auf das Element </a:t>
            </a:r>
            <a:r>
              <a:rPr lang="en-GB" sz="2000" dirty="0" err="1">
                <a:latin typeface="+mj-lt"/>
              </a:rPr>
              <a:t>ausgelöst</a:t>
            </a:r>
            <a:r>
              <a:rPr lang="en-GB" sz="2000" dirty="0">
                <a:latin typeface="+mj-lt"/>
              </a:rPr>
              <a:t> </a:t>
            </a:r>
            <a:r>
              <a:rPr lang="en-GB" sz="2000" dirty="0" err="1">
                <a:latin typeface="+mj-lt"/>
              </a:rPr>
              <a:t>wird</a:t>
            </a:r>
            <a:r>
              <a:rPr lang="en-GB" sz="2000" dirty="0">
                <a:latin typeface="+mj-lt"/>
              </a:rPr>
              <a:t> und die </a:t>
            </a:r>
            <a:r>
              <a:rPr lang="en-GB" sz="2000" dirty="0" err="1">
                <a:latin typeface="+mj-lt"/>
              </a:rPr>
              <a:t>Funktion</a:t>
            </a:r>
            <a:r>
              <a:rPr lang="en-GB" sz="2000" dirty="0">
                <a:latin typeface="+mj-lt"/>
              </a:rPr>
              <a:t> </a:t>
            </a:r>
            <a:r>
              <a:rPr lang="en-GB" sz="2000" dirty="0" err="1">
                <a:latin typeface="+mj-lt"/>
              </a:rPr>
              <a:t>printMyValue</a:t>
            </a:r>
            <a:r>
              <a:rPr lang="en-GB" sz="2000" dirty="0">
                <a:latin typeface="+mj-lt"/>
              </a:rPr>
              <a:t> </a:t>
            </a:r>
            <a:r>
              <a:rPr lang="en-GB" sz="2000" dirty="0" err="1">
                <a:latin typeface="+mj-lt"/>
              </a:rPr>
              <a:t>mit</a:t>
            </a:r>
            <a:r>
              <a:rPr lang="en-GB" sz="2000" dirty="0">
                <a:latin typeface="+mj-lt"/>
              </a:rPr>
              <a:t> den </a:t>
            </a:r>
            <a:r>
              <a:rPr lang="en-GB" sz="2000" dirty="0" err="1">
                <a:latin typeface="+mj-lt"/>
              </a:rPr>
              <a:t>Parametern</a:t>
            </a:r>
            <a:r>
              <a:rPr lang="en-GB" sz="2000" dirty="0">
                <a:latin typeface="+mj-lt"/>
              </a:rPr>
              <a:t> (</a:t>
            </a:r>
            <a:r>
              <a:rPr lang="en-GB" sz="2000" dirty="0" err="1">
                <a:latin typeface="+mj-lt"/>
              </a:rPr>
              <a:t>event,d</a:t>
            </a:r>
            <a:r>
              <a:rPr lang="en-GB" sz="2000" dirty="0">
                <a:latin typeface="+mj-lt"/>
              </a:rPr>
              <a:t>) </a:t>
            </a:r>
            <a:r>
              <a:rPr lang="en-GB" sz="2000" dirty="0" err="1">
                <a:latin typeface="+mj-lt"/>
              </a:rPr>
              <a:t>aufruft</a:t>
            </a:r>
            <a:r>
              <a:rPr lang="en-GB" sz="2000" dirty="0">
                <a:latin typeface="+mj-lt"/>
              </a:rPr>
              <a:t> - Lass die </a:t>
            </a:r>
            <a:r>
              <a:rPr lang="en-GB" sz="2000" dirty="0" err="1">
                <a:latin typeface="+mj-lt"/>
              </a:rPr>
              <a:t>Klammerung</a:t>
            </a:r>
            <a:r>
              <a:rPr lang="en-GB" sz="2000" dirty="0">
                <a:latin typeface="+mj-lt"/>
              </a:rPr>
              <a:t> am Ende des </a:t>
            </a:r>
            <a:r>
              <a:rPr lang="en-GB" sz="2000" dirty="0" err="1">
                <a:latin typeface="+mj-lt"/>
              </a:rPr>
              <a:t>Funktionsnamen</a:t>
            </a:r>
            <a:r>
              <a:rPr lang="en-GB" sz="2000" dirty="0">
                <a:latin typeface="+mj-lt"/>
              </a:rPr>
              <a:t> </a:t>
            </a:r>
            <a:r>
              <a:rPr lang="en-GB" sz="2000" dirty="0" err="1">
                <a:latin typeface="+mj-lt"/>
              </a:rPr>
              <a:t>weg</a:t>
            </a:r>
            <a:r>
              <a:rPr lang="en-GB" sz="2000" dirty="0">
                <a:latin typeface="+mj-lt"/>
              </a:rPr>
              <a:t> (), </a:t>
            </a:r>
            <a:r>
              <a:rPr lang="en-GB" sz="2000" dirty="0" err="1">
                <a:latin typeface="+mj-lt"/>
              </a:rPr>
              <a:t>denn</a:t>
            </a:r>
            <a:r>
              <a:rPr lang="en-GB" sz="2000" dirty="0">
                <a:latin typeface="+mj-lt"/>
              </a:rPr>
              <a:t> </a:t>
            </a:r>
            <a:r>
              <a:rPr lang="en-GB" sz="2000" dirty="0" err="1">
                <a:latin typeface="+mj-lt"/>
              </a:rPr>
              <a:t>ansonsten</a:t>
            </a:r>
            <a:r>
              <a:rPr lang="en-GB" sz="2000" dirty="0">
                <a:latin typeface="+mj-lt"/>
              </a:rPr>
              <a:t> </a:t>
            </a:r>
            <a:r>
              <a:rPr lang="en-GB" sz="2000" dirty="0" err="1">
                <a:latin typeface="+mj-lt"/>
              </a:rPr>
              <a:t>wird</a:t>
            </a:r>
            <a:r>
              <a:rPr lang="en-GB" sz="2000" dirty="0">
                <a:latin typeface="+mj-lt"/>
              </a:rPr>
              <a:t> die </a:t>
            </a:r>
            <a:r>
              <a:rPr lang="en-GB" sz="2000" dirty="0" err="1">
                <a:latin typeface="+mj-lt"/>
              </a:rPr>
              <a:t>Funktion</a:t>
            </a:r>
            <a:r>
              <a:rPr lang="en-GB" sz="2000" dirty="0">
                <a:latin typeface="+mj-lt"/>
              </a:rPr>
              <a:t> </a:t>
            </a:r>
            <a:r>
              <a:rPr lang="en-GB" sz="2000" dirty="0" err="1">
                <a:latin typeface="+mj-lt"/>
              </a:rPr>
              <a:t>nicht</a:t>
            </a:r>
            <a:r>
              <a:rPr lang="en-GB" sz="2000" dirty="0">
                <a:latin typeface="+mj-lt"/>
              </a:rPr>
              <a:t> </a:t>
            </a:r>
            <a:r>
              <a:rPr lang="en-GB" sz="2000" dirty="0" err="1">
                <a:latin typeface="+mj-lt"/>
              </a:rPr>
              <a:t>beim</a:t>
            </a:r>
            <a:r>
              <a:rPr lang="en-GB" sz="2000" dirty="0">
                <a:latin typeface="+mj-lt"/>
              </a:rPr>
              <a:t> </a:t>
            </a:r>
            <a:r>
              <a:rPr lang="en-GB" sz="2000" dirty="0" err="1">
                <a:latin typeface="+mj-lt"/>
              </a:rPr>
              <a:t>klicken</a:t>
            </a:r>
            <a:r>
              <a:rPr lang="en-GB" sz="2000" dirty="0">
                <a:latin typeface="+mj-lt"/>
              </a:rPr>
              <a:t> </a:t>
            </a:r>
            <a:r>
              <a:rPr lang="en-GB" sz="2000" dirty="0" err="1">
                <a:latin typeface="+mj-lt"/>
              </a:rPr>
              <a:t>aufgerufen</a:t>
            </a:r>
            <a:r>
              <a:rPr lang="en-GB" sz="2000" dirty="0">
                <a:latin typeface="+mj-lt"/>
              </a:rPr>
              <a:t>, </a:t>
            </a:r>
            <a:r>
              <a:rPr lang="en-GB" sz="2000" dirty="0" err="1">
                <a:latin typeface="+mj-lt"/>
              </a:rPr>
              <a:t>sondern</a:t>
            </a:r>
            <a:r>
              <a:rPr lang="en-GB" sz="2000" dirty="0">
                <a:latin typeface="+mj-lt"/>
              </a:rPr>
              <a:t> </a:t>
            </a:r>
            <a:r>
              <a:rPr lang="en-GB" sz="2000" dirty="0" err="1">
                <a:latin typeface="+mj-lt"/>
              </a:rPr>
              <a:t>bereits</a:t>
            </a:r>
            <a:r>
              <a:rPr lang="en-GB" sz="2000" dirty="0">
                <a:latin typeface="+mj-lt"/>
              </a:rPr>
              <a:t> </a:t>
            </a:r>
            <a:r>
              <a:rPr lang="en-GB" sz="2000" dirty="0" err="1">
                <a:latin typeface="+mj-lt"/>
              </a:rPr>
              <a:t>beim</a:t>
            </a:r>
            <a:r>
              <a:rPr lang="en-GB" sz="2000" dirty="0">
                <a:latin typeface="+mj-lt"/>
              </a:rPr>
              <a:t> </a:t>
            </a:r>
            <a:r>
              <a:rPr lang="en-GB" sz="2000" dirty="0" err="1">
                <a:latin typeface="+mj-lt"/>
              </a:rPr>
              <a:t>erzeugen</a:t>
            </a:r>
            <a:r>
              <a:rPr lang="en-GB" sz="2000" dirty="0">
                <a:latin typeface="+mj-lt"/>
              </a:rPr>
              <a:t> des event-Listeners!</a:t>
            </a:r>
            <a:endParaRPr sz="2000" dirty="0">
              <a:latin typeface="+mj-lt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en-GB" sz="2000" dirty="0">
              <a:latin typeface="+mj-lt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GB" sz="2000" dirty="0">
                <a:latin typeface="+mj-lt"/>
              </a:rPr>
              <a:t>Event-&gt; </a:t>
            </a:r>
            <a:r>
              <a:rPr lang="en-GB" sz="2000" dirty="0" err="1">
                <a:latin typeface="+mj-lt"/>
              </a:rPr>
              <a:t>clickEvent</a:t>
            </a:r>
            <a:r>
              <a:rPr lang="en-GB" sz="2000" dirty="0">
                <a:latin typeface="+mj-lt"/>
              </a:rPr>
              <a:t>. </a:t>
            </a:r>
            <a:r>
              <a:rPr lang="en-GB" sz="2000" dirty="0" err="1">
                <a:latin typeface="+mj-lt"/>
              </a:rPr>
              <a:t>z.B</a:t>
            </a:r>
            <a:r>
              <a:rPr lang="en-GB" sz="2000" dirty="0">
                <a:latin typeface="+mj-lt"/>
              </a:rPr>
              <a:t>. wo das Event </a:t>
            </a:r>
            <a:r>
              <a:rPr lang="en-GB" sz="2000" dirty="0" err="1">
                <a:latin typeface="+mj-lt"/>
              </a:rPr>
              <a:t>ausgelöst</a:t>
            </a:r>
            <a:r>
              <a:rPr lang="en-GB" sz="2000" dirty="0">
                <a:latin typeface="+mj-lt"/>
              </a:rPr>
              <a:t> </a:t>
            </a:r>
            <a:r>
              <a:rPr lang="en-GB" sz="2000" dirty="0" err="1">
                <a:latin typeface="+mj-lt"/>
              </a:rPr>
              <a:t>wurde</a:t>
            </a:r>
            <a:endParaRPr sz="2000" dirty="0">
              <a:latin typeface="+mj-lt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GB" sz="2000" dirty="0">
                <a:latin typeface="+mj-lt"/>
              </a:rPr>
              <a:t>d -&gt; datum: </a:t>
            </a:r>
            <a:r>
              <a:rPr lang="en-GB" sz="2000" dirty="0" err="1">
                <a:latin typeface="+mj-lt"/>
              </a:rPr>
              <a:t>Datenpunkt</a:t>
            </a:r>
            <a:r>
              <a:rPr lang="en-GB" sz="2000" dirty="0">
                <a:latin typeface="+mj-lt"/>
              </a:rPr>
              <a:t>, der </a:t>
            </a:r>
            <a:r>
              <a:rPr lang="en-GB" sz="2000" dirty="0" err="1">
                <a:latin typeface="+mj-lt"/>
              </a:rPr>
              <a:t>mit</a:t>
            </a:r>
            <a:r>
              <a:rPr lang="en-GB" sz="2000" dirty="0">
                <a:latin typeface="+mj-lt"/>
              </a:rPr>
              <a:t> </a:t>
            </a:r>
            <a:r>
              <a:rPr lang="en-GB" sz="2000" dirty="0" err="1">
                <a:latin typeface="+mj-lt"/>
              </a:rPr>
              <a:t>dem</a:t>
            </a:r>
            <a:r>
              <a:rPr lang="en-GB" sz="2000" dirty="0">
                <a:latin typeface="+mj-lt"/>
              </a:rPr>
              <a:t> Element </a:t>
            </a:r>
            <a:r>
              <a:rPr lang="en-GB" sz="2000" dirty="0" err="1">
                <a:latin typeface="+mj-lt"/>
              </a:rPr>
              <a:t>verknüpft</a:t>
            </a:r>
            <a:r>
              <a:rPr lang="en-GB" sz="2000" dirty="0">
                <a:latin typeface="+mj-lt"/>
              </a:rPr>
              <a:t> </a:t>
            </a:r>
            <a:r>
              <a:rPr lang="en-GB" sz="2000" dirty="0" err="1">
                <a:latin typeface="+mj-lt"/>
              </a:rPr>
              <a:t>ist</a:t>
            </a:r>
            <a:r>
              <a:rPr lang="en-GB" sz="2000" dirty="0">
                <a:latin typeface="+mj-lt"/>
              </a:rPr>
              <a:t>.</a:t>
            </a:r>
            <a:endParaRPr sz="2000" dirty="0">
              <a:latin typeface="+mj-lt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GB" dirty="0"/>
              <a:t>Mini-Tutorial: D3 – .on functions</a:t>
            </a:r>
            <a:endParaRPr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838200" y="1333910"/>
            <a:ext cx="8508083" cy="2320386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>
            <a:off x="7845660" y="5121629"/>
            <a:ext cx="3590925" cy="723900"/>
          </a:xfrm>
          <a:prstGeom prst="rect">
            <a:avLst/>
          </a:prstGeom>
        </p:spPr>
      </p:pic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0635CBB9-1249-4F87-BCCB-5EDD7A5533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33FA4B0-7731-EC49-88EA-B5E921ABE78A}" type="slidenum">
              <a:rPr lang="de-DE" smtClean="0"/>
              <a:pPr/>
              <a:t>57</a:t>
            </a:fld>
            <a:endParaRPr lang="de-DE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GB"/>
              <a:t>Zusammenfassung</a:t>
            </a:r>
            <a:endParaRPr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marL="0" indent="0">
              <a:buNone/>
              <a:defRPr/>
            </a:pPr>
            <a:r>
              <a:rPr lang="en-GB" sz="2400" dirty="0" err="1"/>
              <a:t>Grundlegendes</a:t>
            </a:r>
            <a:r>
              <a:rPr lang="en-GB" sz="2400" dirty="0"/>
              <a:t> </a:t>
            </a:r>
            <a:r>
              <a:rPr lang="en-GB" sz="2400" dirty="0" err="1"/>
              <a:t>Verständnis</a:t>
            </a:r>
            <a:r>
              <a:rPr lang="en-GB" sz="2400" dirty="0"/>
              <a:t>, </a:t>
            </a:r>
            <a:r>
              <a:rPr lang="en-GB" sz="2400" dirty="0" err="1"/>
              <a:t>wie</a:t>
            </a:r>
            <a:r>
              <a:rPr lang="en-GB" sz="2400" dirty="0"/>
              <a:t> man </a:t>
            </a:r>
            <a:r>
              <a:rPr lang="en-GB" sz="2400" dirty="0" err="1"/>
              <a:t>eine</a:t>
            </a:r>
            <a:r>
              <a:rPr lang="en-GB" sz="2400" dirty="0"/>
              <a:t> </a:t>
            </a:r>
            <a:r>
              <a:rPr lang="en-GB" sz="2400" dirty="0" err="1"/>
              <a:t>Visualisierung</a:t>
            </a:r>
            <a:r>
              <a:rPr lang="en-GB" sz="2400" dirty="0"/>
              <a:t> </a:t>
            </a:r>
            <a:r>
              <a:rPr lang="en-GB" sz="2400" dirty="0" err="1"/>
              <a:t>mit</a:t>
            </a:r>
            <a:r>
              <a:rPr lang="en-GB" sz="2400" dirty="0"/>
              <a:t> D3 </a:t>
            </a:r>
            <a:r>
              <a:rPr lang="en-GB" sz="2400" dirty="0" err="1"/>
              <a:t>erstellt</a:t>
            </a:r>
            <a:endParaRPr dirty="0"/>
          </a:p>
          <a:p>
            <a:pPr>
              <a:defRPr/>
            </a:pPr>
            <a:r>
              <a:rPr lang="en-GB" sz="2400" dirty="0" err="1"/>
              <a:t>Hinzufügen</a:t>
            </a:r>
            <a:r>
              <a:rPr lang="en-GB" sz="2400" dirty="0"/>
              <a:t> von SVG </a:t>
            </a:r>
            <a:r>
              <a:rPr lang="en-GB" sz="2400" dirty="0" err="1"/>
              <a:t>Elementen</a:t>
            </a:r>
            <a:r>
              <a:rPr lang="en-GB" sz="2400" dirty="0"/>
              <a:t> </a:t>
            </a:r>
            <a:r>
              <a:rPr lang="en-GB" sz="2400" dirty="0" err="1"/>
              <a:t>zum</a:t>
            </a:r>
            <a:r>
              <a:rPr lang="en-GB" sz="2400" dirty="0"/>
              <a:t> HTML </a:t>
            </a:r>
            <a:r>
              <a:rPr lang="en-GB" sz="2400" dirty="0" err="1"/>
              <a:t>abhängig</a:t>
            </a:r>
            <a:r>
              <a:rPr lang="en-GB" sz="2400" dirty="0"/>
              <a:t> der </a:t>
            </a:r>
            <a:r>
              <a:rPr lang="en-GB" sz="2400" dirty="0" err="1"/>
              <a:t>Daten</a:t>
            </a:r>
            <a:endParaRPr lang="en-GB" dirty="0"/>
          </a:p>
          <a:p>
            <a:pPr>
              <a:defRPr/>
            </a:pPr>
            <a:r>
              <a:rPr lang="en-GB" sz="2400" dirty="0" err="1"/>
              <a:t>Hinzufügen</a:t>
            </a:r>
            <a:r>
              <a:rPr lang="en-GB" sz="2400" dirty="0"/>
              <a:t> von </a:t>
            </a:r>
            <a:r>
              <a:rPr lang="en-GB" sz="2400" dirty="0" err="1"/>
              <a:t>Grundelementen</a:t>
            </a:r>
            <a:r>
              <a:rPr lang="en-GB" sz="2400" dirty="0"/>
              <a:t> der </a:t>
            </a:r>
            <a:r>
              <a:rPr lang="en-GB" sz="2400" dirty="0" err="1"/>
              <a:t>Visualisierung</a:t>
            </a:r>
            <a:r>
              <a:rPr lang="en-GB" sz="2400" dirty="0"/>
              <a:t> (</a:t>
            </a:r>
            <a:r>
              <a:rPr lang="en-GB" sz="2400" dirty="0" err="1"/>
              <a:t>Achsen</a:t>
            </a:r>
            <a:r>
              <a:rPr lang="en-GB" sz="2400" dirty="0"/>
              <a:t>, ...)</a:t>
            </a:r>
            <a:endParaRPr lang="en-GB" dirty="0"/>
          </a:p>
          <a:p>
            <a:pPr>
              <a:defRPr/>
            </a:pPr>
            <a:r>
              <a:rPr lang="en-GB" sz="2400" dirty="0"/>
              <a:t>Wie man </a:t>
            </a:r>
            <a:r>
              <a:rPr lang="en-GB" sz="2400" dirty="0" err="1"/>
              <a:t>mit</a:t>
            </a:r>
            <a:r>
              <a:rPr lang="en-GB" sz="2400" dirty="0"/>
              <a:t> </a:t>
            </a:r>
            <a:r>
              <a:rPr lang="en-GB" sz="2400" dirty="0" err="1"/>
              <a:t>Datenaktualisierung</a:t>
            </a:r>
            <a:r>
              <a:rPr lang="en-GB" sz="2400" dirty="0"/>
              <a:t> </a:t>
            </a:r>
            <a:r>
              <a:rPr lang="en-GB" sz="2400" dirty="0" err="1"/>
              <a:t>umgeht</a:t>
            </a:r>
            <a:endParaRPr lang="en-GB" dirty="0"/>
          </a:p>
          <a:p>
            <a:pPr>
              <a:defRPr/>
            </a:pPr>
            <a:r>
              <a:rPr lang="en-GB" sz="2400" dirty="0" err="1"/>
              <a:t>Einfache</a:t>
            </a:r>
            <a:r>
              <a:rPr lang="en-GB" sz="2400" dirty="0"/>
              <a:t> </a:t>
            </a:r>
            <a:r>
              <a:rPr lang="en-GB" sz="2400" dirty="0" err="1"/>
              <a:t>Interaktionen</a:t>
            </a:r>
            <a:endParaRPr dirty="0"/>
          </a:p>
        </p:txBody>
      </p:sp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150A9B69-AA45-4C7A-99A4-9B606E41BD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33FA4B0-7731-EC49-88EA-B5E921ABE78A}" type="slidenum">
              <a:rPr lang="de-DE" smtClean="0"/>
              <a:pPr/>
              <a:t>58</a:t>
            </a:fld>
            <a:endParaRPr lang="de-DE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F558EF2-856E-4E72-B8A4-26B581D744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Kleine Hausaufgaben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3F4B858-6FF7-4C5A-A210-08057AB0FF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684325"/>
            <a:ext cx="10704871" cy="5492638"/>
          </a:xfrm>
        </p:spPr>
        <p:txBody>
          <a:bodyPr/>
          <a:lstStyle/>
          <a:p>
            <a:r>
              <a:rPr lang="de-DE" sz="2000" dirty="0"/>
              <a:t>Empfohlen wenn Sie noch nicht mit d3 gearbeitet haben. Hilfreich für die Designübung.</a:t>
            </a:r>
          </a:p>
          <a:p>
            <a:endParaRPr lang="de-DE" dirty="0"/>
          </a:p>
        </p:txBody>
      </p:sp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5A3F1531-6E72-4507-8BA9-BBF334B264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33FA4B0-7731-EC49-88EA-B5E921ABE78A}" type="slidenum">
              <a:rPr lang="de-DE" smtClean="0"/>
              <a:pPr/>
              <a:t>59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35519005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F558EF2-856E-4E72-B8A4-26B581D744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Kleine Hausaufgaben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3F4B858-6FF7-4C5A-A210-08057AB0FF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28942"/>
            <a:ext cx="10515599" cy="5363883"/>
          </a:xfrm>
        </p:spPr>
        <p:txBody>
          <a:bodyPr>
            <a:normAutofit/>
          </a:bodyPr>
          <a:lstStyle/>
          <a:p>
            <a:r>
              <a:rPr lang="de-DE" dirty="0"/>
              <a:t>Fang hier an: </a:t>
            </a:r>
            <a:r>
              <a:rPr lang="de-DE" dirty="0">
                <a:hlinkClick r:id="rId2"/>
              </a:rPr>
              <a:t>https://jsfiddle.net/8q6z1oy4/</a:t>
            </a:r>
            <a:endParaRPr lang="de-DE" sz="1800" dirty="0"/>
          </a:p>
          <a:p>
            <a:r>
              <a:rPr lang="de-DE" dirty="0">
                <a:solidFill>
                  <a:schemeClr val="accent1"/>
                </a:solidFill>
              </a:rPr>
              <a:t>Ändere das Layout, sodass die </a:t>
            </a:r>
            <a:r>
              <a:rPr lang="de-DE" dirty="0" err="1">
                <a:solidFill>
                  <a:schemeClr val="accent1"/>
                </a:solidFill>
              </a:rPr>
              <a:t>Knopfen</a:t>
            </a:r>
            <a:r>
              <a:rPr lang="de-DE" dirty="0">
                <a:solidFill>
                  <a:schemeClr val="accent1"/>
                </a:solidFill>
              </a:rPr>
              <a:t> rechts sind.</a:t>
            </a:r>
          </a:p>
          <a:p>
            <a:pPr lvl="1"/>
            <a:r>
              <a:rPr lang="de-DE" dirty="0"/>
              <a:t>Lösung : </a:t>
            </a:r>
            <a:r>
              <a:rPr lang="de-DE" dirty="0">
                <a:hlinkClick r:id="rId3"/>
              </a:rPr>
              <a:t>https://jsfiddle.net/MaxSondag/g0froL7a/</a:t>
            </a:r>
            <a:endParaRPr lang="de-DE" sz="1600" dirty="0"/>
          </a:p>
          <a:p>
            <a:r>
              <a:rPr lang="de-DE" dirty="0">
                <a:solidFill>
                  <a:schemeClr val="accent1"/>
                </a:solidFill>
              </a:rPr>
              <a:t>Benutze eine logarithmische Skala für die vertikale Achse</a:t>
            </a:r>
          </a:p>
          <a:p>
            <a:pPr lvl="1"/>
            <a:r>
              <a:rPr lang="de-DE" dirty="0"/>
              <a:t>Tipp: Logarithmische Skalen fangen bei 1 an.</a:t>
            </a:r>
          </a:p>
          <a:p>
            <a:pPr lvl="1"/>
            <a:r>
              <a:rPr lang="de-DE" dirty="0"/>
              <a:t>Lösung : </a:t>
            </a:r>
            <a:r>
              <a:rPr lang="de-DE" dirty="0">
                <a:hlinkClick r:id="rId4"/>
              </a:rPr>
              <a:t>https://jsfiddle.net/MaxSondag/93Ltfe6k/</a:t>
            </a:r>
            <a:endParaRPr lang="de-DE" sz="1600" dirty="0"/>
          </a:p>
          <a:p>
            <a:r>
              <a:rPr lang="de-DE" dirty="0">
                <a:solidFill>
                  <a:schemeClr val="accent1"/>
                </a:solidFill>
              </a:rPr>
              <a:t>Füge die genauen Werte an die Balken hinzu</a:t>
            </a:r>
          </a:p>
          <a:p>
            <a:pPr lvl="1"/>
            <a:r>
              <a:rPr lang="de-DE" dirty="0"/>
              <a:t>Tipp: Benutze extra „</a:t>
            </a:r>
            <a:r>
              <a:rPr lang="de-DE" dirty="0" err="1"/>
              <a:t>text</a:t>
            </a:r>
            <a:r>
              <a:rPr lang="de-DE" dirty="0"/>
              <a:t>“ Elemente</a:t>
            </a:r>
          </a:p>
          <a:p>
            <a:pPr lvl="1"/>
            <a:r>
              <a:rPr lang="de-DE" dirty="0"/>
              <a:t>Lösung </a:t>
            </a:r>
            <a:r>
              <a:rPr lang="de-DE" dirty="0">
                <a:solidFill>
                  <a:schemeClr val="accent1"/>
                </a:solidFill>
              </a:rPr>
              <a:t>: </a:t>
            </a:r>
            <a:r>
              <a:rPr lang="de-DE" dirty="0">
                <a:solidFill>
                  <a:schemeClr val="accent1"/>
                </a:solidFill>
                <a:hlinkClick r:id="rId5"/>
              </a:rPr>
              <a:t>https://jsfiddle.net/MaxSondag/hb9tx6ps/</a:t>
            </a:r>
            <a:endParaRPr lang="de-DE" sz="1600" dirty="0">
              <a:solidFill>
                <a:schemeClr val="accent1"/>
              </a:solidFill>
            </a:endParaRPr>
          </a:p>
          <a:p>
            <a:r>
              <a:rPr lang="de-DE" dirty="0">
                <a:solidFill>
                  <a:schemeClr val="accent1"/>
                </a:solidFill>
              </a:rPr>
              <a:t>Zentriere die Werte</a:t>
            </a:r>
          </a:p>
          <a:p>
            <a:pPr lvl="1"/>
            <a:r>
              <a:rPr lang="de-DE" dirty="0"/>
              <a:t>Tipp: Es sind </a:t>
            </a:r>
            <a:r>
              <a:rPr lang="de-DE" dirty="0" err="1"/>
              <a:t>svg</a:t>
            </a:r>
            <a:r>
              <a:rPr lang="de-DE" dirty="0"/>
              <a:t> Elemente</a:t>
            </a:r>
          </a:p>
          <a:p>
            <a:pPr lvl="1"/>
            <a:r>
              <a:rPr lang="de-DE" dirty="0"/>
              <a:t>Lösung </a:t>
            </a:r>
            <a:r>
              <a:rPr lang="de-DE" dirty="0">
                <a:solidFill>
                  <a:schemeClr val="accent1"/>
                </a:solidFill>
                <a:hlinkClick r:id="rId6"/>
              </a:rPr>
              <a:t>https://jsfiddle.net/MaxSondag/a6z4guLd/</a:t>
            </a:r>
            <a:endParaRPr lang="de-DE" dirty="0"/>
          </a:p>
          <a:p>
            <a:pPr marL="0" indent="0">
              <a:buNone/>
            </a:pPr>
            <a:endParaRPr lang="de-DE" dirty="0"/>
          </a:p>
        </p:txBody>
      </p:sp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B927A5B3-D3B2-4315-A7B6-588A196174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33FA4B0-7731-EC49-88EA-B5E921ABE78A}" type="slidenum">
              <a:rPr lang="de-DE" smtClean="0"/>
              <a:pPr/>
              <a:t>60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632999124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F558EF2-856E-4E72-B8A4-26B581D744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Kleine Hausaufgaben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3F4B858-6FF7-4C5A-A210-08057AB0FF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728942"/>
            <a:ext cx="10515600" cy="5363883"/>
          </a:xfrm>
        </p:spPr>
        <p:txBody>
          <a:bodyPr/>
          <a:lstStyle/>
          <a:p>
            <a:r>
              <a:rPr lang="de-DE" dirty="0"/>
              <a:t>Fang hier an: </a:t>
            </a:r>
            <a:r>
              <a:rPr lang="de-DE" dirty="0">
                <a:solidFill>
                  <a:schemeClr val="accent1"/>
                </a:solidFill>
                <a:hlinkClick r:id="rId2"/>
              </a:rPr>
              <a:t>https://jsfiddle.net/MaxSondag/jq8ts9hL/</a:t>
            </a:r>
            <a:endParaRPr lang="de-DE" sz="1800" dirty="0"/>
          </a:p>
          <a:p>
            <a:r>
              <a:rPr lang="de-DE" dirty="0">
                <a:solidFill>
                  <a:schemeClr val="accent1"/>
                </a:solidFill>
              </a:rPr>
              <a:t>Erhöhe den Abstand zwischen den Rechtecken</a:t>
            </a:r>
          </a:p>
          <a:p>
            <a:pPr lvl="1"/>
            <a:r>
              <a:rPr lang="de-DE" dirty="0"/>
              <a:t>Lösung: </a:t>
            </a:r>
            <a:r>
              <a:rPr lang="de-DE" dirty="0">
                <a:hlinkClick r:id="rId3"/>
              </a:rPr>
              <a:t>https://jsfiddle.net/MaxSondag/7s5Lvfkw/</a:t>
            </a:r>
            <a:endParaRPr lang="de-DE" sz="1600" dirty="0"/>
          </a:p>
          <a:p>
            <a:r>
              <a:rPr lang="de-DE" dirty="0">
                <a:solidFill>
                  <a:schemeClr val="accent1"/>
                </a:solidFill>
              </a:rPr>
              <a:t>Ändere die vertikale Achse zu linear, weil das mehr geeignet ist</a:t>
            </a:r>
          </a:p>
          <a:p>
            <a:pPr lvl="1"/>
            <a:r>
              <a:rPr lang="de-DE" dirty="0"/>
              <a:t>Lösung </a:t>
            </a:r>
            <a:r>
              <a:rPr lang="de-DE" dirty="0">
                <a:solidFill>
                  <a:schemeClr val="accent1"/>
                </a:solidFill>
              </a:rPr>
              <a:t>: </a:t>
            </a:r>
            <a:r>
              <a:rPr lang="de-DE" dirty="0">
                <a:solidFill>
                  <a:schemeClr val="accent1"/>
                </a:solidFill>
                <a:hlinkClick r:id="rId4"/>
              </a:rPr>
              <a:t>https://jsfiddle.net/MaxSondag/drwh5mqc/</a:t>
            </a:r>
            <a:endParaRPr lang="de-DE" dirty="0">
              <a:solidFill>
                <a:schemeClr val="accent1"/>
              </a:solidFill>
            </a:endParaRPr>
          </a:p>
          <a:p>
            <a:r>
              <a:rPr lang="de-DE" dirty="0">
                <a:solidFill>
                  <a:schemeClr val="accent1"/>
                </a:solidFill>
              </a:rPr>
              <a:t>Stelle sicher, dass die vertikale Achse die gleiche maximum Höhe hat für die beiden Datensätze</a:t>
            </a:r>
          </a:p>
          <a:p>
            <a:pPr lvl="1"/>
            <a:r>
              <a:rPr lang="de-DE" dirty="0"/>
              <a:t>Lösung : </a:t>
            </a:r>
            <a:r>
              <a:rPr lang="de-DE" dirty="0">
                <a:hlinkClick r:id="rId5"/>
              </a:rPr>
              <a:t>https://jsfiddle.net/MaxSondag/xqr4o91c/</a:t>
            </a:r>
            <a:endParaRPr lang="de-DE" dirty="0">
              <a:solidFill>
                <a:schemeClr val="accent1"/>
              </a:solidFill>
            </a:endParaRPr>
          </a:p>
        </p:txBody>
      </p:sp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194F8A36-2A60-443D-A139-2F1E153F50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33FA4B0-7731-EC49-88EA-B5E921ABE78A}" type="slidenum">
              <a:rPr lang="de-DE" smtClean="0"/>
              <a:pPr/>
              <a:t>61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0374045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Benutzerdefiniert 2">
      <a:dk1>
        <a:srgbClr val="000000"/>
      </a:dk1>
      <a:lt1>
        <a:srgbClr val="FFFFFF"/>
      </a:lt1>
      <a:dk2>
        <a:srgbClr val="005176"/>
      </a:dk2>
      <a:lt2>
        <a:srgbClr val="005176"/>
      </a:lt2>
      <a:accent1>
        <a:srgbClr val="005176"/>
      </a:accent1>
      <a:accent2>
        <a:srgbClr val="00A1C0"/>
      </a:accent2>
      <a:accent3>
        <a:srgbClr val="00A1C0"/>
      </a:accent3>
      <a:accent4>
        <a:srgbClr val="E05A52"/>
      </a:accent4>
      <a:accent5>
        <a:srgbClr val="E05A52"/>
      </a:accent5>
      <a:accent6>
        <a:srgbClr val="E05A52"/>
      </a:accent6>
      <a:hlink>
        <a:srgbClr val="00A1C0"/>
      </a:hlink>
      <a:folHlink>
        <a:srgbClr val="E05A52"/>
      </a:folHlink>
    </a:clrScheme>
    <a:fontScheme name="UzK 2023">
      <a:majorFont>
        <a:latin typeface="Albert Sans"/>
        <a:ea typeface=""/>
        <a:cs typeface=""/>
      </a:majorFont>
      <a:minorFont>
        <a:latin typeface="Albert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marL="285750" indent="-285750" algn="l">
          <a:buClr>
            <a:schemeClr val="accent1"/>
          </a:buClr>
          <a:buSzPct val="140000"/>
          <a:buFont typeface="Arial" panose="020B0604020202020204" pitchFamily="34" charset="0"/>
          <a:buChar char="•"/>
          <a:defRPr sz="175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UzK_PPT-Master_230201" id="{B5418ECA-8C0A-8F41-8796-9ECF9392E09D}" vid="{F9A25019-F941-2746-8D73-6550E2F1187E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_rels/item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.xml"/></Relationships>
</file>

<file path=customXml/item1.xml><?xml version="1.0" encoding="utf-8"?>
<Control xmlns="http://schemas.microsoft.com/VisualStudio/2011/storyboarding/control">
  <Id Name="System.Storyboarding.Common.MousePointer" Revision="1" Stencil="System.Storyboarding.Common" StencilVersion="0.1"/>
</Control>
</file>

<file path=customXml/item2.xml><?xml version="1.0" encoding="utf-8"?>
<Control xmlns="http://schemas.microsoft.com/VisualStudio/2011/storyboarding/control">
  <Id Name="System.Storyboarding.Common.MousePointer" Revision="1" Stencil="System.Storyboarding.Common" StencilVersion="0.1"/>
</Control>
</file>

<file path=customXml/item3.xml><?xml version="1.0" encoding="utf-8"?>
<Control xmlns="http://schemas.microsoft.com/VisualStudio/2011/storyboarding/control">
  <Id Name="System.Storyboarding.Common.MousePointer" Revision="1" Stencil="System.Storyboarding.Common" StencilVersion="0.1"/>
</Control>
</file>

<file path=customXml/item4.xml><?xml version="1.0" encoding="utf-8"?>
<Control xmlns="http://schemas.microsoft.com/VisualStudio/2011/storyboarding/control">
  <Id Name="System.Storyboarding.Common.MousePointer" Revision="1" Stencil="System.Storyboarding.Common" StencilVersion="0.1"/>
</Control>
</file>

<file path=customXml/item5.xml><?xml version="1.0" encoding="utf-8"?>
<Control xmlns="http://schemas.microsoft.com/VisualStudio/2011/storyboarding/control">
  <Id Name="System.Storyboarding.Common.MousePointer" Revision="1" Stencil="System.Storyboarding.Common" StencilVersion="0.1"/>
</Control>
</file>

<file path=customXml/item6.xml><?xml version="1.0" encoding="utf-8"?>
<Control xmlns="http://schemas.microsoft.com/VisualStudio/2011/storyboarding/control">
  <Id Name="System.Storyboarding.Common.MousePointer" Revision="1" Stencil="System.Storyboarding.Common" StencilVersion="0.1"/>
</Control>
</file>

<file path=customXml/itemProps1.xml><?xml version="1.0" encoding="utf-8"?>
<ds:datastoreItem xmlns:ds="http://schemas.openxmlformats.org/officeDocument/2006/customXml" ds:itemID="{86E5983D-06B1-4B50-A839-5B586072D2A9}">
  <ds:schemaRefs>
    <ds:schemaRef ds:uri="http://schemas.microsoft.com/VisualStudio/2011/storyboarding/control"/>
  </ds:schemaRefs>
</ds:datastoreItem>
</file>

<file path=customXml/itemProps2.xml><?xml version="1.0" encoding="utf-8"?>
<ds:datastoreItem xmlns:ds="http://schemas.openxmlformats.org/officeDocument/2006/customXml" ds:itemID="{DE19E0E3-6B70-40C9-A91F-A254C02E7753}">
  <ds:schemaRefs>
    <ds:schemaRef ds:uri="http://schemas.microsoft.com/VisualStudio/2011/storyboarding/control"/>
  </ds:schemaRefs>
</ds:datastoreItem>
</file>

<file path=customXml/itemProps3.xml><?xml version="1.0" encoding="utf-8"?>
<ds:datastoreItem xmlns:ds="http://schemas.openxmlformats.org/officeDocument/2006/customXml" ds:itemID="{9084507F-F51F-40E1-A236-2A65151E3BDF}">
  <ds:schemaRefs>
    <ds:schemaRef ds:uri="http://schemas.microsoft.com/VisualStudio/2011/storyboarding/control"/>
  </ds:schemaRefs>
</ds:datastoreItem>
</file>

<file path=customXml/itemProps4.xml><?xml version="1.0" encoding="utf-8"?>
<ds:datastoreItem xmlns:ds="http://schemas.openxmlformats.org/officeDocument/2006/customXml" ds:itemID="{5FCE0AFF-1B0F-4DDA-81C9-1000BFEE20E1}">
  <ds:schemaRefs>
    <ds:schemaRef ds:uri="http://schemas.microsoft.com/VisualStudio/2011/storyboarding/control"/>
  </ds:schemaRefs>
</ds:datastoreItem>
</file>

<file path=customXml/itemProps5.xml><?xml version="1.0" encoding="utf-8"?>
<ds:datastoreItem xmlns:ds="http://schemas.openxmlformats.org/officeDocument/2006/customXml" ds:itemID="{609AA7CD-78C3-4ACD-93F6-4680DC949D8C}">
  <ds:schemaRefs>
    <ds:schemaRef ds:uri="http://schemas.microsoft.com/VisualStudio/2011/storyboarding/control"/>
  </ds:schemaRefs>
</ds:datastoreItem>
</file>

<file path=customXml/itemProps6.xml><?xml version="1.0" encoding="utf-8"?>
<ds:datastoreItem xmlns:ds="http://schemas.openxmlformats.org/officeDocument/2006/customXml" ds:itemID="{E37232FA-2D36-4035-BD0C-B530430C5F2E}">
  <ds:schemaRefs>
    <ds:schemaRef ds:uri="http://schemas.microsoft.com/VisualStudio/2011/storyboarding/control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3584</Words>
  <Application>Microsoft Office PowerPoint</Application>
  <PresentationFormat>Breitbild</PresentationFormat>
  <Paragraphs>765</Paragraphs>
  <Slides>61</Slides>
  <Notes>2</Notes>
  <HiddenSlides>1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61</vt:i4>
      </vt:variant>
    </vt:vector>
  </HeadingPairs>
  <TitlesOfParts>
    <vt:vector size="66" baseType="lpstr">
      <vt:lpstr>Albert Sans SemiBold</vt:lpstr>
      <vt:lpstr>Albert Sans</vt:lpstr>
      <vt:lpstr>Arial</vt:lpstr>
      <vt:lpstr>Wingdings</vt:lpstr>
      <vt:lpstr>Office</vt:lpstr>
      <vt:lpstr>D3 Tutorial</vt:lpstr>
      <vt:lpstr>Mini-Tutorial: D3 – Was ist D3?</vt:lpstr>
      <vt:lpstr>Mini-Tutorial: D3 – Was ist D3?</vt:lpstr>
      <vt:lpstr>Mini-Tutorial: D3 – Was ist D3?</vt:lpstr>
      <vt:lpstr>Mini-Tutorial: D3 – Was ist D3?</vt:lpstr>
      <vt:lpstr>Mini-Tutorial: D3 – Was ist D3?</vt:lpstr>
      <vt:lpstr>Mini-Tutorial: D3 – Was ist D3?</vt:lpstr>
      <vt:lpstr>Mini-Tutorial: D3 – Warum mit D3 auseinandersetzen?</vt:lpstr>
      <vt:lpstr>Mini-Tutorial: D3 – Visuelle Analyse</vt:lpstr>
      <vt:lpstr>Mini-Tutorial: D3 – Warum mit D3 auseinandersetzen?</vt:lpstr>
      <vt:lpstr>Mini-Tutorial: D3 – Tutorial Ziel</vt:lpstr>
      <vt:lpstr>Mini-Tutorial: D3 – SVG</vt:lpstr>
      <vt:lpstr>Mini-Tutorial: D3 – SVG</vt:lpstr>
      <vt:lpstr>Mini-Tutorial: D3 – SVG</vt:lpstr>
      <vt:lpstr>Mini-Tutorial: D3 – Vorarbeiten</vt:lpstr>
      <vt:lpstr>Mini-Tutorial: D3 – Vorarbeiten</vt:lpstr>
      <vt:lpstr>Mini-Tutorial: D3 – Einfaches Balkendiagramm</vt:lpstr>
      <vt:lpstr>Mini-Tutorial: D3 – Einfaches Balkendiagramm</vt:lpstr>
      <vt:lpstr>Mini-Tutorial: D3 – Einfaches Balkendiagramm</vt:lpstr>
      <vt:lpstr>Mini-Tutorial: D3 – Einfaches Balkendiagramm</vt:lpstr>
      <vt:lpstr>Mini-Tutorial: D3 – Einfaches Balkendiagramm</vt:lpstr>
      <vt:lpstr>Mini-Tutorial: D3 – Einfaches Balkendiagramm</vt:lpstr>
      <vt:lpstr>Mini-Tutorial: D3 – Einfaches Balkendiagramm</vt:lpstr>
      <vt:lpstr>Mini-Tutorial: D3 – Einfaches Balkendiagramm</vt:lpstr>
      <vt:lpstr>Mini-Tutorial: D3 – Einfaches Balkendiagramm</vt:lpstr>
      <vt:lpstr>Mini-Tutorial: D3 – Einfaches Balkendiagramm</vt:lpstr>
      <vt:lpstr>Mini-Tutorial: D3 – Einfaches Balkendiagramm</vt:lpstr>
      <vt:lpstr>Mini-Tutorial: D3 – Einfaches Balkendiagramm</vt:lpstr>
      <vt:lpstr>Mini-tutorial: D3 – Grundelemente</vt:lpstr>
      <vt:lpstr>Mini-tutorial: D3 – Grundelemente</vt:lpstr>
      <vt:lpstr>Mini-tutorial: D3 – Grundelemente</vt:lpstr>
      <vt:lpstr>Mini-tutorial: D3 – Grundelemente</vt:lpstr>
      <vt:lpstr>Mini-tutorial: D3 – Grundelemente</vt:lpstr>
      <vt:lpstr>Mini-tutorial: D3 – Grundelemente</vt:lpstr>
      <vt:lpstr>Mini-tutorial: D3 – Grundelemente</vt:lpstr>
      <vt:lpstr>Mini-tutorial: D3 – Grundelemente</vt:lpstr>
      <vt:lpstr>Mini-tutorial: D3 – Grundelemente</vt:lpstr>
      <vt:lpstr>Mini-tutorial: D3 – Grundelemente</vt:lpstr>
      <vt:lpstr>interaktivität</vt:lpstr>
      <vt:lpstr>Mini-Tutorial: D3 – Interaktivität</vt:lpstr>
      <vt:lpstr>Mini-Tutorial: D3 – Manipulation mit verknüpften Daten</vt:lpstr>
      <vt:lpstr>Mini-Tutorial: D3 – Manipulation mit verknüpften Daten</vt:lpstr>
      <vt:lpstr>Mini-Tutorial: D3 – Manipulation mit verknüpften Daten</vt:lpstr>
      <vt:lpstr>Mini-Tutorial: D3 – Manipulation mit verknüpften Daten</vt:lpstr>
      <vt:lpstr>Mini-Tutorial: D3 – Manipulation mit verknüpften Daten</vt:lpstr>
      <vt:lpstr>Mini-Tutorial: D3 – Manipulation mit verknüpften Daten</vt:lpstr>
      <vt:lpstr>Mini-Tutorial: D3 – Manipulation mit verknüpften Daten</vt:lpstr>
      <vt:lpstr>Mini-Tutorial: D3 – Manipulation mit verknüpften Daten</vt:lpstr>
      <vt:lpstr>Mini-Tutorial: D3 – Manipulation mit verknüpften Daten</vt:lpstr>
      <vt:lpstr>Mini-Tutorial: D3 – Manipulation mit verknüpften Daten</vt:lpstr>
      <vt:lpstr>Mini-Tutorial: D3 – Manipulation mit verknüpften Daten</vt:lpstr>
      <vt:lpstr>Mini-Tutorial: D3 – Interaktivität</vt:lpstr>
      <vt:lpstr>Mini-Tutorial: D3 – Interaktivität</vt:lpstr>
      <vt:lpstr>Mini-Tutorial: D3 – Interaktivität</vt:lpstr>
      <vt:lpstr>Mini-Tutorial: D3 – Interaktivität</vt:lpstr>
      <vt:lpstr>Mini-Tutorial: D3 – Interaktivität</vt:lpstr>
      <vt:lpstr>Mini-Tutorial: D3 – .on functions</vt:lpstr>
      <vt:lpstr>Zusammenfassung</vt:lpstr>
      <vt:lpstr>Kleine Hausaufgaben</vt:lpstr>
      <vt:lpstr>Kleine Hausaufgaben</vt:lpstr>
      <vt:lpstr>Kleine Hausaufgaben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Sophia Bernhöft</dc:creator>
  <cp:lastModifiedBy>Daniel Braun</cp:lastModifiedBy>
  <cp:revision>293</cp:revision>
  <dcterms:created xsi:type="dcterms:W3CDTF">2023-01-31T13:16:58Z</dcterms:created>
  <dcterms:modified xsi:type="dcterms:W3CDTF">2025-10-16T10:16:07Z</dcterms:modified>
</cp:coreProperties>
</file>